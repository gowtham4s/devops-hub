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95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4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235000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Gowtham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492240"/>
            <a:ext cx="23500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Systems Manager Parameter Store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005840"/>
            <a:ext cx="13048488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55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5540" dirty="0"/>
          </a:p>
        </p:txBody>
      </p:sp>
      <p:sp>
        <p:nvSpPr>
          <p:cNvPr id="5" name="Text 1"/>
          <p:cNvSpPr/>
          <p:nvPr/>
        </p:nvSpPr>
        <p:spPr>
          <a:xfrm>
            <a:off x="1005840" y="2322576"/>
            <a:ext cx="2706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Systems Manager Parameter Store?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05840" y="3895344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Key Features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315968" y="2322576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Use Parameter Store?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05840" y="513892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15968" y="389534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Hierarchical Parameter Structure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05840" y="6391656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Advantages of Parameter Store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315968" y="513892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Monitoring and Logging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15968" y="6391656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26096" y="2322576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Types of Parameters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26096" y="3895344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Parameter Tiers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26096" y="5138928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936224" y="2322576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How Parameter Store Works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36224" y="389534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Other AWS Services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936224" y="513892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Real-World Use Cases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34840"/>
            <a:ext cx="8074152" cy="5120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166360"/>
            <a:ext cx="8074152" cy="5120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907024"/>
            <a:ext cx="8074152" cy="5120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4507992"/>
            <a:ext cx="7333488" cy="5120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5248656"/>
            <a:ext cx="7333488" cy="51206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5980176"/>
            <a:ext cx="7333488" cy="5120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416552"/>
            <a:ext cx="548640" cy="5486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157216"/>
            <a:ext cx="548640" cy="5486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888736"/>
            <a:ext cx="548640" cy="54864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95528" y="978408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Systems Manager Parameter Store?</a:t>
            </a:r>
            <a:endParaRPr lang="en-US" sz="4460" dirty="0"/>
          </a:p>
        </p:txBody>
      </p:sp>
      <p:sp>
        <p:nvSpPr>
          <p:cNvPr id="14" name="Text 1"/>
          <p:cNvSpPr/>
          <p:nvPr/>
        </p:nvSpPr>
        <p:spPr>
          <a:xfrm>
            <a:off x="795528" y="2642616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secure, hierarchical storage service for configuration data and secrets.</a:t>
            </a:r>
            <a:endParaRPr lang="en-US" sz="1780" dirty="0"/>
          </a:p>
        </p:txBody>
      </p:sp>
      <p:sp>
        <p:nvSpPr>
          <p:cNvPr id="15" name="Text 2"/>
          <p:cNvSpPr/>
          <p:nvPr/>
        </p:nvSpPr>
        <p:spPr>
          <a:xfrm>
            <a:off x="795528" y="324612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Part of AWS Systems Manager suite.</a:t>
            </a:r>
            <a:endParaRPr lang="en-US" sz="1780" dirty="0"/>
          </a:p>
        </p:txBody>
      </p:sp>
      <p:sp>
        <p:nvSpPr>
          <p:cNvPr id="16" name="Text 3"/>
          <p:cNvSpPr/>
          <p:nvPr/>
        </p:nvSpPr>
        <p:spPr>
          <a:xfrm>
            <a:off x="795528" y="384048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Used to store, retrieve, and manage parameters like:</a:t>
            </a:r>
            <a:endParaRPr lang="en-US" sz="1780" dirty="0"/>
          </a:p>
        </p:txBody>
      </p:sp>
      <p:sp>
        <p:nvSpPr>
          <p:cNvPr id="17" name="Text 4"/>
          <p:cNvSpPr/>
          <p:nvPr/>
        </p:nvSpPr>
        <p:spPr>
          <a:xfrm>
            <a:off x="960120" y="445312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8" name="Text 5"/>
          <p:cNvSpPr/>
          <p:nvPr/>
        </p:nvSpPr>
        <p:spPr>
          <a:xfrm>
            <a:off x="1536192" y="4507992"/>
            <a:ext cx="7333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Application configuration settings</a:t>
            </a:r>
            <a:endParaRPr lang="en-US" sz="1780" dirty="0"/>
          </a:p>
        </p:txBody>
      </p:sp>
      <p:sp>
        <p:nvSpPr>
          <p:cNvPr id="19" name="Text 6"/>
          <p:cNvSpPr/>
          <p:nvPr/>
        </p:nvSpPr>
        <p:spPr>
          <a:xfrm>
            <a:off x="960120" y="5193792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0" name="Text 7"/>
          <p:cNvSpPr/>
          <p:nvPr/>
        </p:nvSpPr>
        <p:spPr>
          <a:xfrm>
            <a:off x="1536192" y="5248656"/>
            <a:ext cx="7333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Database connection strings</a:t>
            </a:r>
            <a:endParaRPr lang="en-US" sz="1780" dirty="0"/>
          </a:p>
        </p:txBody>
      </p:sp>
      <p:sp>
        <p:nvSpPr>
          <p:cNvPr id="21" name="Text 8"/>
          <p:cNvSpPr/>
          <p:nvPr/>
        </p:nvSpPr>
        <p:spPr>
          <a:xfrm>
            <a:off x="960120" y="593445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2" name="Text 9"/>
          <p:cNvSpPr/>
          <p:nvPr/>
        </p:nvSpPr>
        <p:spPr>
          <a:xfrm>
            <a:off x="1536192" y="5980176"/>
            <a:ext cx="7333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Passwords and API keys</a:t>
            </a:r>
            <a:endParaRPr lang="en-US" sz="1780" dirty="0"/>
          </a:p>
        </p:txBody>
      </p:sp>
      <p:sp>
        <p:nvSpPr>
          <p:cNvPr id="23" name="Text 10"/>
          <p:cNvSpPr/>
          <p:nvPr/>
        </p:nvSpPr>
        <p:spPr>
          <a:xfrm>
            <a:off x="795528" y="667512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Provides a centralized and versioned configuration store.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493008"/>
            <a:ext cx="3520440" cy="11978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882896"/>
            <a:ext cx="3520440" cy="15361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3493008"/>
            <a:ext cx="3520440" cy="11978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4882896"/>
            <a:ext cx="3520440" cy="153619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647688" y="1837944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Use Parameter Store?</a:t>
            </a:r>
            <a:endParaRPr lang="en-US" sz="4460" dirty="0"/>
          </a:p>
        </p:txBody>
      </p:sp>
      <p:sp>
        <p:nvSpPr>
          <p:cNvPr id="9" name="Text 1"/>
          <p:cNvSpPr/>
          <p:nvPr/>
        </p:nvSpPr>
        <p:spPr>
          <a:xfrm>
            <a:off x="6894576" y="37490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Avoid hardcoding credentials in applications.</a:t>
            </a:r>
            <a:endParaRPr lang="en-US" sz="1780" dirty="0"/>
          </a:p>
        </p:txBody>
      </p:sp>
      <p:sp>
        <p:nvSpPr>
          <p:cNvPr id="10" name="Text 2"/>
          <p:cNvSpPr/>
          <p:nvPr/>
        </p:nvSpPr>
        <p:spPr>
          <a:xfrm>
            <a:off x="6894576" y="5138928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Improve automation by dynamically retrieving parameters.</a:t>
            </a:r>
            <a:endParaRPr lang="en-US" sz="1780" dirty="0"/>
          </a:p>
        </p:txBody>
      </p:sp>
      <p:sp>
        <p:nvSpPr>
          <p:cNvPr id="11" name="Text 3"/>
          <p:cNvSpPr/>
          <p:nvPr/>
        </p:nvSpPr>
        <p:spPr>
          <a:xfrm>
            <a:off x="10597896" y="37490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Store and manage config data securely.</a:t>
            </a:r>
            <a:endParaRPr lang="en-US" sz="1780" dirty="0"/>
          </a:p>
        </p:txBody>
      </p:sp>
      <p:sp>
        <p:nvSpPr>
          <p:cNvPr id="12" name="Text 4"/>
          <p:cNvSpPr/>
          <p:nvPr/>
        </p:nvSpPr>
        <p:spPr>
          <a:xfrm>
            <a:off x="10597896" y="5138928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Integrates easily with AWS services (EC2, Lambda, ECS, etc.).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709928"/>
            <a:ext cx="7223760" cy="17556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602736"/>
            <a:ext cx="7223760" cy="17556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5495544"/>
            <a:ext cx="7223760" cy="17556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2587752"/>
            <a:ext cx="6821424" cy="67665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4489704"/>
            <a:ext cx="6821424" cy="6766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6382512"/>
            <a:ext cx="6821424" cy="67665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424" y="1892808"/>
            <a:ext cx="548640" cy="5486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424" y="3785616"/>
            <a:ext cx="548640" cy="5486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424" y="5687568"/>
            <a:ext cx="548640" cy="54864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647688" y="1005840"/>
            <a:ext cx="7196328" cy="539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3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Types of Parameters</a:t>
            </a:r>
            <a:endParaRPr lang="en-US" sz="3340" dirty="0"/>
          </a:p>
        </p:txBody>
      </p:sp>
      <p:sp>
        <p:nvSpPr>
          <p:cNvPr id="14" name="Text 1"/>
          <p:cNvSpPr/>
          <p:nvPr/>
        </p:nvSpPr>
        <p:spPr>
          <a:xfrm>
            <a:off x="7022592" y="201168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6839712" y="2587752"/>
            <a:ext cx="68214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String</a:t>
            </a:r>
            <a:endParaRPr lang="en-US" sz="1670" dirty="0"/>
          </a:p>
        </p:txBody>
      </p:sp>
      <p:sp>
        <p:nvSpPr>
          <p:cNvPr id="16" name="Text 3"/>
          <p:cNvSpPr/>
          <p:nvPr/>
        </p:nvSpPr>
        <p:spPr>
          <a:xfrm>
            <a:off x="6839712" y="3008376"/>
            <a:ext cx="6821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Plain text parameter (e.g., app name or port number).</a:t>
            </a:r>
            <a:endParaRPr lang="en-US" sz="1330" dirty="0"/>
          </a:p>
        </p:txBody>
      </p:sp>
      <p:sp>
        <p:nvSpPr>
          <p:cNvPr id="17" name="Text 4"/>
          <p:cNvSpPr/>
          <p:nvPr/>
        </p:nvSpPr>
        <p:spPr>
          <a:xfrm>
            <a:off x="7022592" y="3904488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6839712" y="4489704"/>
            <a:ext cx="68214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StringList</a:t>
            </a:r>
            <a:endParaRPr lang="en-US" sz="1670" dirty="0"/>
          </a:p>
        </p:txBody>
      </p:sp>
      <p:sp>
        <p:nvSpPr>
          <p:cNvPr id="19" name="Text 6"/>
          <p:cNvSpPr/>
          <p:nvPr/>
        </p:nvSpPr>
        <p:spPr>
          <a:xfrm>
            <a:off x="6839712" y="4901184"/>
            <a:ext cx="6821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Comma-separated list of strings (e.g., multiple endpoints).</a:t>
            </a:r>
            <a:endParaRPr lang="en-US" sz="1330" dirty="0"/>
          </a:p>
        </p:txBody>
      </p:sp>
      <p:sp>
        <p:nvSpPr>
          <p:cNvPr id="20" name="Text 7"/>
          <p:cNvSpPr/>
          <p:nvPr/>
        </p:nvSpPr>
        <p:spPr>
          <a:xfrm>
            <a:off x="7022592" y="5797296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8"/>
          <p:cNvSpPr/>
          <p:nvPr/>
        </p:nvSpPr>
        <p:spPr>
          <a:xfrm>
            <a:off x="6839712" y="6382512"/>
            <a:ext cx="68214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SecureString</a:t>
            </a:r>
            <a:endParaRPr lang="en-US" sz="1670" dirty="0"/>
          </a:p>
        </p:txBody>
      </p:sp>
      <p:sp>
        <p:nvSpPr>
          <p:cNvPr id="22" name="Text 9"/>
          <p:cNvSpPr/>
          <p:nvPr/>
        </p:nvSpPr>
        <p:spPr>
          <a:xfrm>
            <a:off x="6839712" y="6803136"/>
            <a:ext cx="6821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Encrypted parameter using AWS KMS (Key Management Service).</a:t>
            </a:r>
            <a:endParaRPr lang="en-US" sz="13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920240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How Parameter Store Works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59359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store parameters (keys/values) in Parameter Store.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18795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SecureString parameters are encrypted using AWS KMS.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791456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Applications retrieve parameters through the AWS SDK, CLI, or API.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5385816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Parameters can be versioned and organized hierarchically.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(Include flow diagram: App → Parameter Store → KMS)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139696"/>
            <a:ext cx="2249424" cy="23591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718304"/>
            <a:ext cx="2249424" cy="23591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139696"/>
            <a:ext cx="2249424" cy="23591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4718304"/>
            <a:ext cx="2249424" cy="23591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4592" y="2139696"/>
            <a:ext cx="2249424" cy="23591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4592" y="4718304"/>
            <a:ext cx="2249424" cy="23591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514600"/>
            <a:ext cx="2276856" cy="19933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093208"/>
            <a:ext cx="2276856" cy="19933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2514600"/>
            <a:ext cx="2276856" cy="199339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5093208"/>
            <a:ext cx="2276856" cy="19933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04" y="2514600"/>
            <a:ext cx="2276856" cy="199339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04" y="5093208"/>
            <a:ext cx="2276856" cy="199339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2404872"/>
            <a:ext cx="2276856" cy="1463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983480"/>
            <a:ext cx="2276856" cy="1463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2404872"/>
            <a:ext cx="2276856" cy="1463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4983480"/>
            <a:ext cx="2276856" cy="14630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6304" y="2404872"/>
            <a:ext cx="2276856" cy="1463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6304" y="4983480"/>
            <a:ext cx="2276856" cy="14630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2139696"/>
            <a:ext cx="685800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4718304"/>
            <a:ext cx="685800" cy="685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2139696"/>
            <a:ext cx="685800" cy="685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4718304"/>
            <a:ext cx="685800" cy="685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0976" y="2139696"/>
            <a:ext cx="685800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0976" y="4718304"/>
            <a:ext cx="685800" cy="685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647688" y="117043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Key Features</a:t>
            </a:r>
            <a:endParaRPr lang="en-US" sz="4460" dirty="0"/>
          </a:p>
        </p:txBody>
      </p:sp>
      <p:sp>
        <p:nvSpPr>
          <p:cNvPr id="29" name="Text 1"/>
          <p:cNvSpPr/>
          <p:nvPr/>
        </p:nvSpPr>
        <p:spPr>
          <a:xfrm>
            <a:off x="6894576" y="2889504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🔐 Encryption using AWS KMS.</a:t>
            </a:r>
            <a:endParaRPr lang="en-US" sz="1780" dirty="0"/>
          </a:p>
        </p:txBody>
      </p:sp>
      <p:sp>
        <p:nvSpPr>
          <p:cNvPr id="30" name="Text 2"/>
          <p:cNvSpPr/>
          <p:nvPr/>
        </p:nvSpPr>
        <p:spPr>
          <a:xfrm>
            <a:off x="769924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31" name="Text 3"/>
          <p:cNvSpPr/>
          <p:nvPr/>
        </p:nvSpPr>
        <p:spPr>
          <a:xfrm>
            <a:off x="6894576" y="5468112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⚙️ Integration with other AWS services.</a:t>
            </a:r>
            <a:endParaRPr lang="en-US" sz="1780" dirty="0"/>
          </a:p>
        </p:txBody>
      </p:sp>
      <p:sp>
        <p:nvSpPr>
          <p:cNvPr id="32" name="Text 4"/>
          <p:cNvSpPr/>
          <p:nvPr/>
        </p:nvSpPr>
        <p:spPr>
          <a:xfrm>
            <a:off x="7699248" y="48737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140" dirty="0"/>
          </a:p>
        </p:txBody>
      </p:sp>
      <p:sp>
        <p:nvSpPr>
          <p:cNvPr id="33" name="Text 5"/>
          <p:cNvSpPr/>
          <p:nvPr/>
        </p:nvSpPr>
        <p:spPr>
          <a:xfrm>
            <a:off x="9363456" y="2889504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🧩 Hierarchical structure for organized storage.</a:t>
            </a:r>
            <a:endParaRPr lang="en-US" sz="1780" dirty="0"/>
          </a:p>
        </p:txBody>
      </p:sp>
      <p:sp>
        <p:nvSpPr>
          <p:cNvPr id="34" name="Text 6"/>
          <p:cNvSpPr/>
          <p:nvPr/>
        </p:nvSpPr>
        <p:spPr>
          <a:xfrm>
            <a:off x="1016812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  <p:sp>
        <p:nvSpPr>
          <p:cNvPr id="35" name="Text 7"/>
          <p:cNvSpPr/>
          <p:nvPr/>
        </p:nvSpPr>
        <p:spPr>
          <a:xfrm>
            <a:off x="9363456" y="5468112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🚀 Free tier available (standard parameters).</a:t>
            </a:r>
            <a:endParaRPr lang="en-US" sz="1780" dirty="0"/>
          </a:p>
        </p:txBody>
      </p:sp>
      <p:sp>
        <p:nvSpPr>
          <p:cNvPr id="36" name="Text 8"/>
          <p:cNvSpPr/>
          <p:nvPr/>
        </p:nvSpPr>
        <p:spPr>
          <a:xfrm>
            <a:off x="10168128" y="48737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140" dirty="0"/>
          </a:p>
        </p:txBody>
      </p:sp>
      <p:sp>
        <p:nvSpPr>
          <p:cNvPr id="37" name="Text 9"/>
          <p:cNvSpPr/>
          <p:nvPr/>
        </p:nvSpPr>
        <p:spPr>
          <a:xfrm>
            <a:off x="11832336" y="2889504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📜 Versioning of parameters.</a:t>
            </a:r>
            <a:endParaRPr lang="en-US" sz="1780" dirty="0"/>
          </a:p>
        </p:txBody>
      </p:sp>
      <p:sp>
        <p:nvSpPr>
          <p:cNvPr id="38" name="Text 10"/>
          <p:cNvSpPr/>
          <p:nvPr/>
        </p:nvSpPr>
        <p:spPr>
          <a:xfrm>
            <a:off x="1263700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140" dirty="0"/>
          </a:p>
        </p:txBody>
      </p:sp>
      <p:sp>
        <p:nvSpPr>
          <p:cNvPr id="39" name="Text 11"/>
          <p:cNvSpPr/>
          <p:nvPr/>
        </p:nvSpPr>
        <p:spPr>
          <a:xfrm>
            <a:off x="11832336" y="5468112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🔁 Notifications via CloudWatch Events.</a:t>
            </a:r>
            <a:endParaRPr lang="en-US" sz="1780" dirty="0"/>
          </a:p>
        </p:txBody>
      </p:sp>
      <p:sp>
        <p:nvSpPr>
          <p:cNvPr id="40" name="Text 12"/>
          <p:cNvSpPr/>
          <p:nvPr/>
        </p:nvSpPr>
        <p:spPr>
          <a:xfrm>
            <a:off x="12637008" y="48737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2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666744"/>
            <a:ext cx="7991856" cy="81381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72584"/>
            <a:ext cx="7991856" cy="81381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669280"/>
            <a:ext cx="7991856" cy="81381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666744"/>
            <a:ext cx="146304" cy="81381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672584"/>
            <a:ext cx="146304" cy="81381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669280"/>
            <a:ext cx="146304" cy="81381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969264"/>
            <a:ext cx="80741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Hierarchical Parameter Structure</a:t>
            </a:r>
            <a:endParaRPr lang="en-US" sz="4240" dirty="0"/>
          </a:p>
        </p:txBody>
      </p:sp>
      <p:sp>
        <p:nvSpPr>
          <p:cNvPr id="11" name="Text 1"/>
          <p:cNvSpPr/>
          <p:nvPr/>
        </p:nvSpPr>
        <p:spPr>
          <a:xfrm>
            <a:off x="795528" y="2551176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Parameters can be grouped using paths (like directories).</a:t>
            </a:r>
            <a:endParaRPr lang="en-US" sz="1690" dirty="0"/>
          </a:p>
        </p:txBody>
      </p:sp>
      <p:sp>
        <p:nvSpPr>
          <p:cNvPr id="12" name="Text 2"/>
          <p:cNvSpPr/>
          <p:nvPr/>
        </p:nvSpPr>
        <p:spPr>
          <a:xfrm>
            <a:off x="795528" y="3118104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</a:t>
            </a:r>
            <a:endParaRPr lang="en-US" sz="1690" dirty="0"/>
          </a:p>
        </p:txBody>
      </p:sp>
      <p:sp>
        <p:nvSpPr>
          <p:cNvPr id="13" name="Text 3"/>
          <p:cNvSpPr/>
          <p:nvPr/>
        </p:nvSpPr>
        <p:spPr>
          <a:xfrm>
            <a:off x="1124712" y="3913632"/>
            <a:ext cx="75163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/dev/db/username</a:t>
            </a:r>
            <a:endParaRPr lang="en-US" sz="1690" dirty="0"/>
          </a:p>
        </p:txBody>
      </p:sp>
      <p:sp>
        <p:nvSpPr>
          <p:cNvPr id="14" name="Text 4"/>
          <p:cNvSpPr/>
          <p:nvPr/>
        </p:nvSpPr>
        <p:spPr>
          <a:xfrm>
            <a:off x="1124712" y="4919472"/>
            <a:ext cx="75163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/dev/db/password</a:t>
            </a:r>
            <a:endParaRPr lang="en-US" sz="1690" dirty="0"/>
          </a:p>
        </p:txBody>
      </p:sp>
      <p:sp>
        <p:nvSpPr>
          <p:cNvPr id="15" name="Text 5"/>
          <p:cNvSpPr/>
          <p:nvPr/>
        </p:nvSpPr>
        <p:spPr>
          <a:xfrm>
            <a:off x="1124712" y="5916168"/>
            <a:ext cx="75163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/prod/api/key</a:t>
            </a:r>
            <a:endParaRPr lang="en-US" sz="1690" dirty="0"/>
          </a:p>
        </p:txBody>
      </p:sp>
      <p:sp>
        <p:nvSpPr>
          <p:cNvPr id="16" name="Text 6"/>
          <p:cNvSpPr/>
          <p:nvPr/>
        </p:nvSpPr>
        <p:spPr>
          <a:xfrm>
            <a:off x="795528" y="6711696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Makes it easy to manage multiple environments (dev, test, prod).</a:t>
            </a:r>
            <a:endParaRPr lang="en-US" sz="16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944368"/>
          <a:ext cx="13048488" cy="3328416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Tier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 Case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Standard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Up to 10,000 parameters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Basic configurations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Advanced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Up to 100,000 parameters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Large-scale systems, higher throughput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Intelligent-Tiering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Automatically switches between tiers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Cost-efficient for dynamic workloads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1975104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Parameter Tiers</a:t>
            </a:r>
            <a:endParaRPr lang="en-US" sz="4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108960"/>
            <a:ext cx="2606040" cy="193852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108960"/>
            <a:ext cx="2606040" cy="193852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5212080"/>
            <a:ext cx="3986784" cy="1600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108960"/>
            <a:ext cx="2606040" cy="193852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5212080"/>
            <a:ext cx="3986784" cy="1600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95528" y="1472184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Other AWS Services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1051560" y="3392424"/>
            <a:ext cx="20299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Lambda – Retrieve secrets at runtime.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3822192" y="3392424"/>
            <a:ext cx="20299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EC2 – Pass configuration data to instances.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1051560" y="5495544"/>
            <a:ext cx="3410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ECS/EKS – Securely inject parameters into containers.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6583680" y="3392424"/>
            <a:ext cx="20299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CloudFormation – Use parameters in templates.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5202936" y="5495544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CodePipeline/CodeBuild – Use during CI/CD builds.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657600"/>
            <a:ext cx="3922776" cy="8412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718304"/>
            <a:ext cx="3922776" cy="841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657600"/>
            <a:ext cx="3922776" cy="8412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4718304"/>
            <a:ext cx="3922776" cy="8412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3730752"/>
            <a:ext cx="3191256" cy="8412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4791456"/>
            <a:ext cx="3191256" cy="8412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424" y="3730752"/>
            <a:ext cx="3191256" cy="84124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424" y="4791456"/>
            <a:ext cx="3191256" cy="84124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639312"/>
            <a:ext cx="548640" cy="5486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700016"/>
            <a:ext cx="548640" cy="5486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639312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4700016"/>
            <a:ext cx="548640" cy="54864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2688336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4460" dirty="0"/>
          </a:p>
        </p:txBody>
      </p:sp>
      <p:sp>
        <p:nvSpPr>
          <p:cNvPr id="17" name="Text 1"/>
          <p:cNvSpPr/>
          <p:nvPr/>
        </p:nvSpPr>
        <p:spPr>
          <a:xfrm>
            <a:off x="960120" y="367588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8" name="Text 2"/>
          <p:cNvSpPr/>
          <p:nvPr/>
        </p:nvSpPr>
        <p:spPr>
          <a:xfrm>
            <a:off x="1536192" y="373075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Control access with IAM policies.</a:t>
            </a:r>
            <a:endParaRPr lang="en-US" sz="1780" dirty="0"/>
          </a:p>
        </p:txBody>
      </p:sp>
      <p:sp>
        <p:nvSpPr>
          <p:cNvPr id="19" name="Text 3"/>
          <p:cNvSpPr/>
          <p:nvPr/>
        </p:nvSpPr>
        <p:spPr>
          <a:xfrm>
            <a:off x="960120" y="4736592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0" name="Text 4"/>
          <p:cNvSpPr/>
          <p:nvPr/>
        </p:nvSpPr>
        <p:spPr>
          <a:xfrm>
            <a:off x="1536192" y="4791456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Integrate with AWS CloudTrail for auditing.</a:t>
            </a:r>
            <a:endParaRPr lang="en-US" sz="1780" dirty="0"/>
          </a:p>
        </p:txBody>
      </p:sp>
      <p:sp>
        <p:nvSpPr>
          <p:cNvPr id="21" name="Text 5"/>
          <p:cNvSpPr/>
          <p:nvPr/>
        </p:nvSpPr>
        <p:spPr>
          <a:xfrm>
            <a:off x="5102352" y="367588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2" name="Text 6"/>
          <p:cNvSpPr/>
          <p:nvPr/>
        </p:nvSpPr>
        <p:spPr>
          <a:xfrm>
            <a:off x="5678424" y="373075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Encrypt sensitive data with AWS KMS.</a:t>
            </a:r>
            <a:endParaRPr lang="en-US" sz="1780" dirty="0"/>
          </a:p>
        </p:txBody>
      </p:sp>
      <p:sp>
        <p:nvSpPr>
          <p:cNvPr id="23" name="Text 7"/>
          <p:cNvSpPr/>
          <p:nvPr/>
        </p:nvSpPr>
        <p:spPr>
          <a:xfrm>
            <a:off x="5102352" y="4736592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670" dirty="0"/>
          </a:p>
        </p:txBody>
      </p:sp>
      <p:sp>
        <p:nvSpPr>
          <p:cNvPr id="24" name="Text 8"/>
          <p:cNvSpPr/>
          <p:nvPr/>
        </p:nvSpPr>
        <p:spPr>
          <a:xfrm>
            <a:off x="5678424" y="4791456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Define fine-grained access (user, role, or service level).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330952"/>
            <a:ext cx="4242816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5330952"/>
            <a:ext cx="4242816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5330952"/>
            <a:ext cx="4242816" cy="1143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95528" y="3300984"/>
            <a:ext cx="13048488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Monitoring and Logging</a:t>
            </a:r>
            <a:endParaRPr lang="en-US" sz="4240" dirty="0"/>
          </a:p>
        </p:txBody>
      </p:sp>
      <p:sp>
        <p:nvSpPr>
          <p:cNvPr id="8" name="Text 1"/>
          <p:cNvSpPr/>
          <p:nvPr/>
        </p:nvSpPr>
        <p:spPr>
          <a:xfrm>
            <a:off x="795528" y="4215384"/>
            <a:ext cx="130484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Integrated with Amazon CloudWatch and AWS CloudTrail.</a:t>
            </a:r>
            <a:endParaRPr lang="en-US" sz="1690" dirty="0"/>
          </a:p>
        </p:txBody>
      </p:sp>
      <p:sp>
        <p:nvSpPr>
          <p:cNvPr id="9" name="Text 2"/>
          <p:cNvSpPr/>
          <p:nvPr/>
        </p:nvSpPr>
        <p:spPr>
          <a:xfrm>
            <a:off x="795528" y="4782312"/>
            <a:ext cx="130484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can monitor:</a:t>
            </a:r>
            <a:endParaRPr lang="en-US" sz="1690" dirty="0"/>
          </a:p>
        </p:txBody>
      </p:sp>
      <p:sp>
        <p:nvSpPr>
          <p:cNvPr id="10" name="Text 3"/>
          <p:cNvSpPr/>
          <p:nvPr/>
        </p:nvSpPr>
        <p:spPr>
          <a:xfrm>
            <a:off x="1024128" y="5577840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calls (GetParameter, PutParameter).</a:t>
            </a:r>
            <a:endParaRPr lang="en-US" sz="1690" dirty="0"/>
          </a:p>
        </p:txBody>
      </p:sp>
      <p:sp>
        <p:nvSpPr>
          <p:cNvPr id="11" name="Text 4"/>
          <p:cNvSpPr/>
          <p:nvPr/>
        </p:nvSpPr>
        <p:spPr>
          <a:xfrm>
            <a:off x="795528" y="6702552"/>
            <a:ext cx="130484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Supports compliance and audit requirements.</a:t>
            </a:r>
            <a:endParaRPr lang="en-US" sz="1690" dirty="0"/>
          </a:p>
        </p:txBody>
      </p:sp>
      <p:sp>
        <p:nvSpPr>
          <p:cNvPr id="12" name="Text 5"/>
          <p:cNvSpPr/>
          <p:nvPr/>
        </p:nvSpPr>
        <p:spPr>
          <a:xfrm>
            <a:off x="5449824" y="5577840"/>
            <a:ext cx="37490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Parameter access history.</a:t>
            </a:r>
            <a:endParaRPr lang="en-US" sz="1690" dirty="0"/>
          </a:p>
        </p:txBody>
      </p:sp>
      <p:sp>
        <p:nvSpPr>
          <p:cNvPr id="13" name="Text 6"/>
          <p:cNvSpPr/>
          <p:nvPr/>
        </p:nvSpPr>
        <p:spPr>
          <a:xfrm>
            <a:off x="9866376" y="5577840"/>
            <a:ext cx="37490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Changes and version updates.</a:t>
            </a:r>
            <a:endParaRPr lang="en-US" sz="16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3667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3667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143000"/>
            <a:ext cx="7223760" cy="13075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542032"/>
            <a:ext cx="7223760" cy="13075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931920"/>
            <a:ext cx="7223760" cy="130759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678424"/>
            <a:ext cx="7223760" cy="9966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6766560"/>
            <a:ext cx="7223760" cy="99669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1792224"/>
            <a:ext cx="6912864" cy="5029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3191256"/>
            <a:ext cx="6912864" cy="50292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4590288"/>
            <a:ext cx="6912864" cy="50292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6327648"/>
            <a:ext cx="6912864" cy="1920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7415784"/>
            <a:ext cx="6912864" cy="19202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1280160"/>
            <a:ext cx="411480" cy="41148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2679192"/>
            <a:ext cx="411480" cy="41148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4078224"/>
            <a:ext cx="411480" cy="41148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5815584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6903720"/>
            <a:ext cx="411480" cy="41148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647688" y="630936"/>
            <a:ext cx="719632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45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2450" dirty="0"/>
          </a:p>
        </p:txBody>
      </p:sp>
      <p:sp>
        <p:nvSpPr>
          <p:cNvPr id="20" name="Text 1"/>
          <p:cNvSpPr/>
          <p:nvPr/>
        </p:nvSpPr>
        <p:spPr>
          <a:xfrm>
            <a:off x="6793992" y="1792224"/>
            <a:ext cx="6912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Standard parameters</a:t>
            </a:r>
            <a:endParaRPr lang="en-US" sz="1220" dirty="0"/>
          </a:p>
        </p:txBody>
      </p:sp>
      <p:sp>
        <p:nvSpPr>
          <p:cNvPr id="21" name="Text 2"/>
          <p:cNvSpPr/>
          <p:nvPr/>
        </p:nvSpPr>
        <p:spPr>
          <a:xfrm>
            <a:off x="6931152" y="1362456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2" name="Text 3"/>
          <p:cNvSpPr/>
          <p:nvPr/>
        </p:nvSpPr>
        <p:spPr>
          <a:xfrm>
            <a:off x="6793992" y="2103120"/>
            <a:ext cx="6912864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Free.</a:t>
            </a:r>
            <a:endParaRPr lang="en-US" sz="980" dirty="0"/>
          </a:p>
        </p:txBody>
      </p:sp>
      <p:sp>
        <p:nvSpPr>
          <p:cNvPr id="23" name="Text 4"/>
          <p:cNvSpPr/>
          <p:nvPr/>
        </p:nvSpPr>
        <p:spPr>
          <a:xfrm>
            <a:off x="6931152" y="2761488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24" name="Text 5"/>
          <p:cNvSpPr/>
          <p:nvPr/>
        </p:nvSpPr>
        <p:spPr>
          <a:xfrm>
            <a:off x="6793992" y="3191256"/>
            <a:ext cx="6912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Advanced parameters</a:t>
            </a:r>
            <a:endParaRPr lang="en-US" sz="1220" dirty="0"/>
          </a:p>
        </p:txBody>
      </p:sp>
      <p:sp>
        <p:nvSpPr>
          <p:cNvPr id="25" name="Text 6"/>
          <p:cNvSpPr/>
          <p:nvPr/>
        </p:nvSpPr>
        <p:spPr>
          <a:xfrm>
            <a:off x="6793992" y="3502152"/>
            <a:ext cx="6912864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Small monthly cost per parameter.</a:t>
            </a:r>
            <a:endParaRPr lang="en-US" sz="980" dirty="0"/>
          </a:p>
        </p:txBody>
      </p:sp>
      <p:sp>
        <p:nvSpPr>
          <p:cNvPr id="26" name="Text 7"/>
          <p:cNvSpPr/>
          <p:nvPr/>
        </p:nvSpPr>
        <p:spPr>
          <a:xfrm>
            <a:off x="6931152" y="4160520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27" name="Text 8"/>
          <p:cNvSpPr/>
          <p:nvPr/>
        </p:nvSpPr>
        <p:spPr>
          <a:xfrm>
            <a:off x="6793992" y="4590288"/>
            <a:ext cx="6912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SecureString (KMS encryption)</a:t>
            </a:r>
            <a:endParaRPr lang="en-US" sz="1220" dirty="0"/>
          </a:p>
        </p:txBody>
      </p:sp>
      <p:sp>
        <p:nvSpPr>
          <p:cNvPr id="28" name="Text 9"/>
          <p:cNvSpPr/>
          <p:nvPr/>
        </p:nvSpPr>
        <p:spPr>
          <a:xfrm>
            <a:off x="6793992" y="4892040"/>
            <a:ext cx="6912864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Additional KMS request charges apply.</a:t>
            </a:r>
            <a:endParaRPr lang="en-US" sz="980" dirty="0"/>
          </a:p>
        </p:txBody>
      </p:sp>
      <p:sp>
        <p:nvSpPr>
          <p:cNvPr id="29" name="Text 10"/>
          <p:cNvSpPr/>
          <p:nvPr/>
        </p:nvSpPr>
        <p:spPr>
          <a:xfrm>
            <a:off x="6647688" y="5367528"/>
            <a:ext cx="719632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</a:t>
            </a:r>
            <a:endParaRPr lang="en-US" sz="980" dirty="0"/>
          </a:p>
        </p:txBody>
      </p:sp>
      <p:sp>
        <p:nvSpPr>
          <p:cNvPr id="30" name="Text 11"/>
          <p:cNvSpPr/>
          <p:nvPr/>
        </p:nvSpPr>
        <p:spPr>
          <a:xfrm>
            <a:off x="6931152" y="5897880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31" name="Text 12"/>
          <p:cNvSpPr/>
          <p:nvPr/>
        </p:nvSpPr>
        <p:spPr>
          <a:xfrm>
            <a:off x="6793992" y="6327648"/>
            <a:ext cx="6912864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First 10,000 standard parameters – free.</a:t>
            </a:r>
            <a:endParaRPr lang="en-US" sz="980" dirty="0"/>
          </a:p>
        </p:txBody>
      </p:sp>
      <p:sp>
        <p:nvSpPr>
          <p:cNvPr id="32" name="Text 13"/>
          <p:cNvSpPr/>
          <p:nvPr/>
        </p:nvSpPr>
        <p:spPr>
          <a:xfrm>
            <a:off x="6931152" y="6986016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3" name="Text 14"/>
          <p:cNvSpPr/>
          <p:nvPr/>
        </p:nvSpPr>
        <p:spPr>
          <a:xfrm>
            <a:off x="6793992" y="7415784"/>
            <a:ext cx="6912864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$0.05 per advanced parameter per month.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798064"/>
            <a:ext cx="2276856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873752"/>
            <a:ext cx="3520440" cy="15361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2798064"/>
            <a:ext cx="2276856" cy="18745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4873752"/>
            <a:ext cx="3520440" cy="15361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6304" y="2798064"/>
            <a:ext cx="2276856" cy="187452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647688" y="185623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Real-World Use Cases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6894576" y="3054096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Store application configuration values centrally.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6894576" y="5129784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Automate CI/CD pipelines with dynamic configurations.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9363456" y="3054096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Manage database credentials and API keys.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10597896" y="5129784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Replace environment variables in serverless and container apps.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11832336" y="3054096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 in multi-environment deployments (Dev/Test/Prod).</a:t>
            </a:r>
            <a:endParaRPr lang="en-US" sz="1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660904"/>
            <a:ext cx="2249424" cy="23591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5239512"/>
            <a:ext cx="2249424" cy="202082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660904"/>
            <a:ext cx="2249424" cy="23591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5239512"/>
            <a:ext cx="2249424" cy="20208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4592" y="2660904"/>
            <a:ext cx="2249424" cy="23591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3044952"/>
            <a:ext cx="2276856" cy="199339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623560"/>
            <a:ext cx="2276856" cy="165506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3044952"/>
            <a:ext cx="2276856" cy="19933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5623560"/>
            <a:ext cx="2276856" cy="165506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6304" y="3044952"/>
            <a:ext cx="2276856" cy="19933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2926080"/>
            <a:ext cx="2276856" cy="1463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5504688"/>
            <a:ext cx="2276856" cy="1463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7424" y="2926080"/>
            <a:ext cx="2276856" cy="1463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7424" y="5504688"/>
            <a:ext cx="2276856" cy="1463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76304" y="2926080"/>
            <a:ext cx="2276856" cy="1463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072" y="2660904"/>
            <a:ext cx="68580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072" y="5239512"/>
            <a:ext cx="68580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2952" y="2660904"/>
            <a:ext cx="68580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2952" y="5239512"/>
            <a:ext cx="685800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0976" y="2660904"/>
            <a:ext cx="685800" cy="685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647688" y="987552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Advantages of Parameter Store</a:t>
            </a:r>
            <a:endParaRPr lang="en-US" sz="4460" dirty="0"/>
          </a:p>
        </p:txBody>
      </p:sp>
      <p:sp>
        <p:nvSpPr>
          <p:cNvPr id="25" name="Text 1"/>
          <p:cNvSpPr/>
          <p:nvPr/>
        </p:nvSpPr>
        <p:spPr>
          <a:xfrm>
            <a:off x="6894576" y="3410712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🧠 Centralized and organized configuration management</a:t>
            </a:r>
            <a:endParaRPr lang="en-US" sz="1780" dirty="0"/>
          </a:p>
        </p:txBody>
      </p:sp>
      <p:sp>
        <p:nvSpPr>
          <p:cNvPr id="26" name="Text 2"/>
          <p:cNvSpPr/>
          <p:nvPr/>
        </p:nvSpPr>
        <p:spPr>
          <a:xfrm>
            <a:off x="7699248" y="28163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27" name="Text 3"/>
          <p:cNvSpPr/>
          <p:nvPr/>
        </p:nvSpPr>
        <p:spPr>
          <a:xfrm>
            <a:off x="6894576" y="598932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💰 Low-cost or free for most use cases</a:t>
            </a:r>
            <a:endParaRPr lang="en-US" sz="1780" dirty="0"/>
          </a:p>
        </p:txBody>
      </p:sp>
      <p:sp>
        <p:nvSpPr>
          <p:cNvPr id="28" name="Text 4"/>
          <p:cNvSpPr/>
          <p:nvPr/>
        </p:nvSpPr>
        <p:spPr>
          <a:xfrm>
            <a:off x="7699248" y="539496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140" dirty="0"/>
          </a:p>
        </p:txBody>
      </p:sp>
      <p:sp>
        <p:nvSpPr>
          <p:cNvPr id="29" name="Text 5"/>
          <p:cNvSpPr/>
          <p:nvPr/>
        </p:nvSpPr>
        <p:spPr>
          <a:xfrm>
            <a:off x="9363456" y="3410712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🔒 Secure encryption with AWS KMS</a:t>
            </a:r>
            <a:endParaRPr lang="en-US" sz="1780" dirty="0"/>
          </a:p>
        </p:txBody>
      </p:sp>
      <p:sp>
        <p:nvSpPr>
          <p:cNvPr id="30" name="Text 6"/>
          <p:cNvSpPr/>
          <p:nvPr/>
        </p:nvSpPr>
        <p:spPr>
          <a:xfrm>
            <a:off x="10168128" y="28163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  <p:sp>
        <p:nvSpPr>
          <p:cNvPr id="31" name="Text 7"/>
          <p:cNvSpPr/>
          <p:nvPr/>
        </p:nvSpPr>
        <p:spPr>
          <a:xfrm>
            <a:off x="9363456" y="598932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🪶 Simplifies DevOps automation</a:t>
            </a:r>
            <a:endParaRPr lang="en-US" sz="1780" dirty="0"/>
          </a:p>
        </p:txBody>
      </p:sp>
      <p:sp>
        <p:nvSpPr>
          <p:cNvPr id="32" name="Text 8"/>
          <p:cNvSpPr/>
          <p:nvPr/>
        </p:nvSpPr>
        <p:spPr>
          <a:xfrm>
            <a:off x="10168128" y="539496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140" dirty="0"/>
          </a:p>
        </p:txBody>
      </p:sp>
      <p:sp>
        <p:nvSpPr>
          <p:cNvPr id="33" name="Text 9"/>
          <p:cNvSpPr/>
          <p:nvPr/>
        </p:nvSpPr>
        <p:spPr>
          <a:xfrm>
            <a:off x="11832336" y="3410712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⚙️ Easy integration with AWS ecosystem</a:t>
            </a:r>
            <a:endParaRPr lang="en-US" sz="1780" dirty="0"/>
          </a:p>
        </p:txBody>
      </p:sp>
      <p:sp>
        <p:nvSpPr>
          <p:cNvPr id="34" name="Text 10"/>
          <p:cNvSpPr/>
          <p:nvPr/>
        </p:nvSpPr>
        <p:spPr>
          <a:xfrm>
            <a:off x="12637008" y="28163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810512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277063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Summary: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3374136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Systems Manager Parameter Store provides secure, centralized storage for application secrets and configurations.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30682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Offers encryption, versioning, and seamless AWS integration.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490118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Enhances security, automation, and scalability.</a:t>
            </a:r>
            <a:endParaRPr lang="en-US" sz="1780" dirty="0"/>
          </a:p>
        </p:txBody>
      </p:sp>
      <p:sp>
        <p:nvSpPr>
          <p:cNvPr id="9" name="Text 5"/>
          <p:cNvSpPr/>
          <p:nvPr/>
        </p:nvSpPr>
        <p:spPr>
          <a:xfrm>
            <a:off x="795528" y="5495544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You!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Questions? 💬</a:t>
            </a:r>
            <a:endParaRPr lang="en-US" sz="1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Custom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</cp:lastModifiedBy>
  <cp:revision>2</cp:revision>
  <dcterms:created xsi:type="dcterms:W3CDTF">2025-11-04T17:23:08Z</dcterms:created>
  <dcterms:modified xsi:type="dcterms:W3CDTF">2025-11-04T17:23:45Z</dcterms:modified>
</cp:coreProperties>
</file>