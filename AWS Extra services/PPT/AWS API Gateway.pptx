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214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330952"/>
            <a:ext cx="13048488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2456" y="5614416"/>
            <a:ext cx="24597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endParaRPr lang="en-US" sz="2230" dirty="0"/>
          </a:p>
        </p:txBody>
      </p:sp>
      <p:sp>
        <p:nvSpPr>
          <p:cNvPr id="7" name="Text 1"/>
          <p:cNvSpPr/>
          <p:nvPr/>
        </p:nvSpPr>
        <p:spPr>
          <a:xfrm>
            <a:off x="1362456" y="6007608"/>
            <a:ext cx="24597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70"/>
              </a:lnSpc>
              <a:buNone/>
            </a:pPr>
            <a:endParaRPr lang="en-US" sz="1330" dirty="0"/>
          </a:p>
        </p:txBody>
      </p:sp>
      <p:sp>
        <p:nvSpPr>
          <p:cNvPr id="8" name="Text 2"/>
          <p:cNvSpPr/>
          <p:nvPr/>
        </p:nvSpPr>
        <p:spPr>
          <a:xfrm>
            <a:off x="795528" y="409651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AWS API Gateway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850392"/>
            <a:ext cx="13048488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30"/>
              </a:lnSpc>
              <a:buNone/>
            </a:pPr>
            <a:r>
              <a:rPr lang="en-US" sz="55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CONTENTS</a:t>
            </a:r>
            <a:endParaRPr lang="en-US" sz="5540" dirty="0"/>
          </a:p>
        </p:txBody>
      </p:sp>
      <p:sp>
        <p:nvSpPr>
          <p:cNvPr id="5" name="Text 1"/>
          <p:cNvSpPr/>
          <p:nvPr/>
        </p:nvSpPr>
        <p:spPr>
          <a:xfrm>
            <a:off x="1005840" y="2167128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Title Slide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005840" y="3410712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Key Features of AWS API Gateway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05840" y="466344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Authentication &amp; Authorization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315968" y="2167128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What is an API?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315968" y="3410712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Types of APIs Supported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005840" y="6236208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Real-World Use Cases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315968" y="4663440"/>
            <a:ext cx="2706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Caching and Performance Optimization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315968" y="6236208"/>
            <a:ext cx="2706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Advantages of Using AWS API Gateway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26096" y="2167128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Why APIs Are Important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626096" y="3410712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How AWS API Gateway Works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626096" y="466344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Monitoring and Logging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626096" y="6236208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15. Summary &amp; Q&amp;A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936224" y="2167128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What is AWS API Gateway?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0936224" y="3410712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Options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0936224" y="4663440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Pricing Overview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" y="10391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2532888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Title Slide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3493008"/>
            <a:ext cx="807415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Presentation Title</a:t>
            </a:r>
            <a:endParaRPr lang="en-US" sz="3570" dirty="0"/>
          </a:p>
        </p:txBody>
      </p:sp>
      <p:sp>
        <p:nvSpPr>
          <p:cNvPr id="6" name="Text 2"/>
          <p:cNvSpPr/>
          <p:nvPr/>
        </p:nvSpPr>
        <p:spPr>
          <a:xfrm>
            <a:off x="795528" y="4315968"/>
            <a:ext cx="8074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Title: AWS API Gateway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Subtitle: Building, Securing, and Managing APIs at Scale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Your Name: Gowtham Krithesh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Date: 31 October 2025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2404872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What is an API?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3374136"/>
            <a:ext cx="7196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API stands for Application Programming Interface.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acts as a bridge between two software systems.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6647688" y="4187952"/>
            <a:ext cx="7196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Example: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 mobile app calls an API to fetch weather data from a server.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6647688" y="5010912"/>
            <a:ext cx="7196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APIs enable communication using HTTP methods: GET, POST, PUT, DELETE.</a:t>
            </a:r>
            <a:endParaRPr lang="en-US" sz="1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950208"/>
            <a:ext cx="6483096" cy="149961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559552"/>
            <a:ext cx="6483096" cy="16824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3950208"/>
            <a:ext cx="6483096" cy="149961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5559552"/>
            <a:ext cx="6483096" cy="168249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718304"/>
            <a:ext cx="6126480" cy="54864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6327648"/>
            <a:ext cx="6126480" cy="73152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4718304"/>
            <a:ext cx="6126480" cy="5486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2944" y="6327648"/>
            <a:ext cx="6126480" cy="73152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4114800"/>
            <a:ext cx="475488" cy="47548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5724144"/>
            <a:ext cx="475488" cy="47548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4114800"/>
            <a:ext cx="475488" cy="47548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5724144"/>
            <a:ext cx="475488" cy="475488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95528" y="3346704"/>
            <a:ext cx="1304848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620"/>
              </a:lnSpc>
              <a:buNone/>
            </a:pPr>
            <a:r>
              <a:rPr lang="en-US" sz="290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Why APIs Are Important</a:t>
            </a:r>
            <a:endParaRPr lang="en-US" sz="2900" dirty="0"/>
          </a:p>
        </p:txBody>
      </p:sp>
      <p:sp>
        <p:nvSpPr>
          <p:cNvPr id="17" name="Text 1"/>
          <p:cNvSpPr/>
          <p:nvPr/>
        </p:nvSpPr>
        <p:spPr>
          <a:xfrm>
            <a:off x="1124712" y="4215384"/>
            <a:ext cx="1280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80"/>
              </a:lnSpc>
              <a:buNone/>
            </a:pPr>
            <a:r>
              <a:rPr lang="en-US" sz="156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560" dirty="0"/>
          </a:p>
        </p:txBody>
      </p:sp>
      <p:sp>
        <p:nvSpPr>
          <p:cNvPr id="18" name="Text 2"/>
          <p:cNvSpPr/>
          <p:nvPr/>
        </p:nvSpPr>
        <p:spPr>
          <a:xfrm>
            <a:off x="960120" y="4718304"/>
            <a:ext cx="61264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Allow integration between applications and services</a:t>
            </a:r>
            <a:endParaRPr lang="en-US" sz="1450" dirty="0"/>
          </a:p>
        </p:txBody>
      </p:sp>
      <p:sp>
        <p:nvSpPr>
          <p:cNvPr id="19" name="Text 3"/>
          <p:cNvSpPr/>
          <p:nvPr/>
        </p:nvSpPr>
        <p:spPr>
          <a:xfrm>
            <a:off x="960120" y="5084064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APIs facilitate seamless interaction between different software applications.</a:t>
            </a:r>
            <a:endParaRPr lang="en-US" sz="1160" dirty="0"/>
          </a:p>
        </p:txBody>
      </p:sp>
      <p:sp>
        <p:nvSpPr>
          <p:cNvPr id="20" name="Text 4"/>
          <p:cNvSpPr/>
          <p:nvPr/>
        </p:nvSpPr>
        <p:spPr>
          <a:xfrm>
            <a:off x="1124712" y="5824728"/>
            <a:ext cx="1280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80"/>
              </a:lnSpc>
              <a:buNone/>
            </a:pPr>
            <a:r>
              <a:rPr lang="en-US" sz="156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560" dirty="0"/>
          </a:p>
        </p:txBody>
      </p:sp>
      <p:sp>
        <p:nvSpPr>
          <p:cNvPr id="21" name="Text 5"/>
          <p:cNvSpPr/>
          <p:nvPr/>
        </p:nvSpPr>
        <p:spPr>
          <a:xfrm>
            <a:off x="960120" y="6327648"/>
            <a:ext cx="61264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Enable automation and scalability</a:t>
            </a:r>
            <a:endParaRPr lang="en-US" sz="1450" dirty="0"/>
          </a:p>
        </p:txBody>
      </p:sp>
      <p:sp>
        <p:nvSpPr>
          <p:cNvPr id="22" name="Text 6"/>
          <p:cNvSpPr/>
          <p:nvPr/>
        </p:nvSpPr>
        <p:spPr>
          <a:xfrm>
            <a:off x="960120" y="6693408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APIs allow systems to automate processes and scale operations effectively.</a:t>
            </a:r>
            <a:endParaRPr lang="en-US" sz="1160" dirty="0"/>
          </a:p>
        </p:txBody>
      </p:sp>
      <p:sp>
        <p:nvSpPr>
          <p:cNvPr id="23" name="Text 7"/>
          <p:cNvSpPr/>
          <p:nvPr/>
        </p:nvSpPr>
        <p:spPr>
          <a:xfrm>
            <a:off x="7717536" y="4215384"/>
            <a:ext cx="1280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80"/>
              </a:lnSpc>
              <a:buNone/>
            </a:pPr>
            <a:r>
              <a:rPr lang="en-US" sz="156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560" dirty="0"/>
          </a:p>
        </p:txBody>
      </p:sp>
      <p:sp>
        <p:nvSpPr>
          <p:cNvPr id="24" name="Text 8"/>
          <p:cNvSpPr/>
          <p:nvPr/>
        </p:nvSpPr>
        <p:spPr>
          <a:xfrm>
            <a:off x="7552944" y="4718304"/>
            <a:ext cx="61264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Promote reusability and modularity</a:t>
            </a:r>
            <a:endParaRPr lang="en-US" sz="1450" dirty="0"/>
          </a:p>
        </p:txBody>
      </p:sp>
      <p:sp>
        <p:nvSpPr>
          <p:cNvPr id="25" name="Text 9"/>
          <p:cNvSpPr/>
          <p:nvPr/>
        </p:nvSpPr>
        <p:spPr>
          <a:xfrm>
            <a:off x="7552944" y="5084064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APIs enable software components to be reused across different applications.</a:t>
            </a:r>
            <a:endParaRPr lang="en-US" sz="1160" dirty="0"/>
          </a:p>
        </p:txBody>
      </p:sp>
      <p:sp>
        <p:nvSpPr>
          <p:cNvPr id="26" name="Text 10"/>
          <p:cNvSpPr/>
          <p:nvPr/>
        </p:nvSpPr>
        <p:spPr>
          <a:xfrm>
            <a:off x="7717536" y="5824728"/>
            <a:ext cx="1280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80"/>
              </a:lnSpc>
              <a:buNone/>
            </a:pPr>
            <a:r>
              <a:rPr lang="en-US" sz="156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560" dirty="0"/>
          </a:p>
        </p:txBody>
      </p:sp>
      <p:sp>
        <p:nvSpPr>
          <p:cNvPr id="27" name="Text 11"/>
          <p:cNvSpPr/>
          <p:nvPr/>
        </p:nvSpPr>
        <p:spPr>
          <a:xfrm>
            <a:off x="7552944" y="6327648"/>
            <a:ext cx="61264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Essential for cloud-based and microservice architectures</a:t>
            </a:r>
            <a:endParaRPr lang="en-US" sz="1450" dirty="0"/>
          </a:p>
        </p:txBody>
      </p:sp>
      <p:sp>
        <p:nvSpPr>
          <p:cNvPr id="28" name="Text 12"/>
          <p:cNvSpPr/>
          <p:nvPr/>
        </p:nvSpPr>
        <p:spPr>
          <a:xfrm>
            <a:off x="7552944" y="6693408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APIs are crucial for the development and operation of cloud technologies and microservices.</a:t>
            </a:r>
            <a:endParaRPr lang="en-US" sz="11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2304288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What is AWS API Gateway?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3977640"/>
            <a:ext cx="719632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 fully managed service by AWS.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Helps developers create, publish, maintain, monitor, and secure APIs.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Acts as an entry point for backend services like Lambda, EC2, or DynamoDB.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Supports RESTful APIs, HTTP APIs, and WebSocket APIs.</a:t>
            </a:r>
            <a:endParaRPr lang="en-US" sz="1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1892808"/>
            <a:ext cx="6409944" cy="15636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685032"/>
            <a:ext cx="6409944" cy="18470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751576"/>
            <a:ext cx="6409944" cy="156362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1892808"/>
            <a:ext cx="6409944" cy="156362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3685032"/>
            <a:ext cx="6409944" cy="184708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2276856"/>
            <a:ext cx="6446520" cy="119786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059936"/>
            <a:ext cx="6446520" cy="148132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6135624"/>
            <a:ext cx="6446520" cy="119786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5784" y="2276856"/>
            <a:ext cx="6446520" cy="119786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5784" y="4059936"/>
            <a:ext cx="6446520" cy="148132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2157984"/>
            <a:ext cx="6446520" cy="14630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3950208"/>
            <a:ext cx="6446520" cy="14630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6016752"/>
            <a:ext cx="6446520" cy="14630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5784" y="2157984"/>
            <a:ext cx="6446520" cy="14630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5784" y="3950208"/>
            <a:ext cx="6446520" cy="14630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1892808"/>
            <a:ext cx="685800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3685032"/>
            <a:ext cx="685800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5751576"/>
            <a:ext cx="685800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96144" y="1892808"/>
            <a:ext cx="685800" cy="685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96144" y="3685032"/>
            <a:ext cx="685800" cy="685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795528" y="932688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Key Features of AWS API Gateway</a:t>
            </a:r>
            <a:endParaRPr lang="en-US" sz="4460" dirty="0"/>
          </a:p>
        </p:txBody>
      </p:sp>
      <p:sp>
        <p:nvSpPr>
          <p:cNvPr id="25" name="Text 1"/>
          <p:cNvSpPr/>
          <p:nvPr/>
        </p:nvSpPr>
        <p:spPr>
          <a:xfrm>
            <a:off x="1042416" y="2642616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Automatic scaling: The service can automatically scale to accommodate varying workloads.</a:t>
            </a:r>
            <a:endParaRPr lang="en-US" sz="1780" dirty="0"/>
          </a:p>
        </p:txBody>
      </p:sp>
      <p:sp>
        <p:nvSpPr>
          <p:cNvPr id="26" name="Text 2"/>
          <p:cNvSpPr/>
          <p:nvPr/>
        </p:nvSpPr>
        <p:spPr>
          <a:xfrm>
            <a:off x="3922776" y="2048256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140" dirty="0"/>
          </a:p>
        </p:txBody>
      </p:sp>
      <p:sp>
        <p:nvSpPr>
          <p:cNvPr id="27" name="Text 3"/>
          <p:cNvSpPr/>
          <p:nvPr/>
        </p:nvSpPr>
        <p:spPr>
          <a:xfrm>
            <a:off x="1042416" y="4434840"/>
            <a:ext cx="5925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Authentication &amp; Authorization (via IAM, Cognito, Lambda authorizers): Ensures that the right users have access to the resources.</a:t>
            </a:r>
            <a:endParaRPr lang="en-US" sz="1780" dirty="0"/>
          </a:p>
        </p:txBody>
      </p:sp>
      <p:sp>
        <p:nvSpPr>
          <p:cNvPr id="28" name="Text 4"/>
          <p:cNvSpPr/>
          <p:nvPr/>
        </p:nvSpPr>
        <p:spPr>
          <a:xfrm>
            <a:off x="3922776" y="3831336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140" dirty="0"/>
          </a:p>
        </p:txBody>
      </p:sp>
      <p:sp>
        <p:nvSpPr>
          <p:cNvPr id="29" name="Text 5"/>
          <p:cNvSpPr/>
          <p:nvPr/>
        </p:nvSpPr>
        <p:spPr>
          <a:xfrm>
            <a:off x="1042416" y="6501384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Monitoring &amp; Logging via CloudWatch: Provides insights into API performance and usage.</a:t>
            </a:r>
            <a:endParaRPr lang="en-US" sz="1780" dirty="0"/>
          </a:p>
        </p:txBody>
      </p:sp>
      <p:sp>
        <p:nvSpPr>
          <p:cNvPr id="30" name="Text 6"/>
          <p:cNvSpPr/>
          <p:nvPr/>
        </p:nvSpPr>
        <p:spPr>
          <a:xfrm>
            <a:off x="3922776" y="5907024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140" dirty="0"/>
          </a:p>
        </p:txBody>
      </p:sp>
      <p:sp>
        <p:nvSpPr>
          <p:cNvPr id="31" name="Text 7"/>
          <p:cNvSpPr/>
          <p:nvPr/>
        </p:nvSpPr>
        <p:spPr>
          <a:xfrm>
            <a:off x="7671816" y="2642616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Throttling and rate limiting: Controls the amount of incoming traffic to services.</a:t>
            </a:r>
            <a:endParaRPr lang="en-US" sz="1780" dirty="0"/>
          </a:p>
        </p:txBody>
      </p:sp>
      <p:sp>
        <p:nvSpPr>
          <p:cNvPr id="32" name="Text 8"/>
          <p:cNvSpPr/>
          <p:nvPr/>
        </p:nvSpPr>
        <p:spPr>
          <a:xfrm>
            <a:off x="7671816" y="443484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Caching responses for better performance: Improves response times by caching common responses.</a:t>
            </a:r>
            <a:endParaRPr lang="en-US" sz="1780" dirty="0"/>
          </a:p>
        </p:txBody>
      </p:sp>
      <p:sp>
        <p:nvSpPr>
          <p:cNvPr id="33" name="Text 9"/>
          <p:cNvSpPr/>
          <p:nvPr/>
        </p:nvSpPr>
        <p:spPr>
          <a:xfrm>
            <a:off x="10552176" y="2048256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140" dirty="0"/>
          </a:p>
        </p:txBody>
      </p:sp>
      <p:sp>
        <p:nvSpPr>
          <p:cNvPr id="34" name="Text 10"/>
          <p:cNvSpPr/>
          <p:nvPr/>
        </p:nvSpPr>
        <p:spPr>
          <a:xfrm>
            <a:off x="10552176" y="3831336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2478024"/>
            <a:ext cx="7991856" cy="12893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959352"/>
            <a:ext cx="7991856" cy="128930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440680"/>
            <a:ext cx="7991856" cy="12893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2478024"/>
            <a:ext cx="146304" cy="12893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959352"/>
            <a:ext cx="146304" cy="128930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440680"/>
            <a:ext cx="146304" cy="1289304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1527048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Types of APIs Supported</a:t>
            </a:r>
            <a:endParaRPr lang="en-US" sz="4460" dirty="0"/>
          </a:p>
        </p:txBody>
      </p:sp>
      <p:sp>
        <p:nvSpPr>
          <p:cNvPr id="11" name="Text 1"/>
          <p:cNvSpPr/>
          <p:nvPr/>
        </p:nvSpPr>
        <p:spPr>
          <a:xfrm>
            <a:off x="1133856" y="2734056"/>
            <a:ext cx="748893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REST APIs</a:t>
            </a:r>
            <a:endParaRPr lang="en-US" sz="2230" dirty="0"/>
          </a:p>
        </p:txBody>
      </p:sp>
      <p:sp>
        <p:nvSpPr>
          <p:cNvPr id="12" name="Text 2"/>
          <p:cNvSpPr/>
          <p:nvPr/>
        </p:nvSpPr>
        <p:spPr>
          <a:xfrm>
            <a:off x="1133856" y="3218688"/>
            <a:ext cx="748893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Traditional web APIs using HTTP requests.</a:t>
            </a:r>
            <a:endParaRPr lang="en-US" sz="1780" dirty="0"/>
          </a:p>
        </p:txBody>
      </p:sp>
      <p:sp>
        <p:nvSpPr>
          <p:cNvPr id="13" name="Text 3"/>
          <p:cNvSpPr/>
          <p:nvPr/>
        </p:nvSpPr>
        <p:spPr>
          <a:xfrm>
            <a:off x="1133856" y="4215384"/>
            <a:ext cx="748893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HTTP APIs</a:t>
            </a:r>
            <a:endParaRPr lang="en-US" sz="2230" dirty="0"/>
          </a:p>
        </p:txBody>
      </p:sp>
      <p:sp>
        <p:nvSpPr>
          <p:cNvPr id="14" name="Text 4"/>
          <p:cNvSpPr/>
          <p:nvPr/>
        </p:nvSpPr>
        <p:spPr>
          <a:xfrm>
            <a:off x="1133856" y="4709160"/>
            <a:ext cx="748893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Lightweight and cost-effective, designed for low latency.</a:t>
            </a:r>
            <a:endParaRPr lang="en-US" sz="1780" dirty="0"/>
          </a:p>
        </p:txBody>
      </p:sp>
      <p:sp>
        <p:nvSpPr>
          <p:cNvPr id="15" name="Text 5"/>
          <p:cNvSpPr/>
          <p:nvPr/>
        </p:nvSpPr>
        <p:spPr>
          <a:xfrm>
            <a:off x="1133856" y="5696712"/>
            <a:ext cx="748893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WebSocket APIs</a:t>
            </a:r>
            <a:endParaRPr lang="en-US" sz="2230" dirty="0"/>
          </a:p>
        </p:txBody>
      </p:sp>
      <p:sp>
        <p:nvSpPr>
          <p:cNvPr id="16" name="Text 6"/>
          <p:cNvSpPr/>
          <p:nvPr/>
        </p:nvSpPr>
        <p:spPr>
          <a:xfrm>
            <a:off x="1133856" y="6190488"/>
            <a:ext cx="748893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For real-time, two-way communication (e.g., chat apps).</a:t>
            </a:r>
            <a:endParaRPr lang="en-US" sz="1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173" y="-20782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2450592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How AWS API Gateway Works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4123944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Client sends a request → API Gateway.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API Gateway authenticates and processes it.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Forwards request to backend service (Lambda, EC2, etc.).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Collects response → sends back to client.</a:t>
            </a:r>
            <a:endParaRPr lang="en-US" sz="1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172968"/>
            <a:ext cx="3986784" cy="135331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681728"/>
            <a:ext cx="3986784" cy="135331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172968"/>
            <a:ext cx="3986784" cy="135331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4681728"/>
            <a:ext cx="3986784" cy="135331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95528" y="2240280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Options</a:t>
            </a:r>
            <a:endParaRPr lang="en-US" sz="4460" dirty="0"/>
          </a:p>
        </p:txBody>
      </p:sp>
      <p:sp>
        <p:nvSpPr>
          <p:cNvPr id="9" name="Text 1"/>
          <p:cNvSpPr/>
          <p:nvPr/>
        </p:nvSpPr>
        <p:spPr>
          <a:xfrm>
            <a:off x="1051560" y="3456432"/>
            <a:ext cx="3410712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AWS Lambda</a:t>
            </a:r>
            <a:endParaRPr lang="en-US" sz="2230" dirty="0"/>
          </a:p>
        </p:txBody>
      </p:sp>
      <p:sp>
        <p:nvSpPr>
          <p:cNvPr id="10" name="Text 2"/>
          <p:cNvSpPr/>
          <p:nvPr/>
        </p:nvSpPr>
        <p:spPr>
          <a:xfrm>
            <a:off x="1051560" y="3950208"/>
            <a:ext cx="3410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Serverless compute.</a:t>
            </a:r>
            <a:endParaRPr lang="en-US" sz="1780" dirty="0"/>
          </a:p>
        </p:txBody>
      </p:sp>
      <p:sp>
        <p:nvSpPr>
          <p:cNvPr id="11" name="Text 3"/>
          <p:cNvSpPr/>
          <p:nvPr/>
        </p:nvSpPr>
        <p:spPr>
          <a:xfrm>
            <a:off x="1051560" y="4974336"/>
            <a:ext cx="3410712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Amazon DynamoDB</a:t>
            </a:r>
            <a:endParaRPr lang="en-US" sz="2230" dirty="0"/>
          </a:p>
        </p:txBody>
      </p:sp>
      <p:sp>
        <p:nvSpPr>
          <p:cNvPr id="12" name="Text 4"/>
          <p:cNvSpPr/>
          <p:nvPr/>
        </p:nvSpPr>
        <p:spPr>
          <a:xfrm>
            <a:off x="1051560" y="5458968"/>
            <a:ext cx="3410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Database access.</a:t>
            </a:r>
            <a:endParaRPr lang="en-US" sz="1780" dirty="0"/>
          </a:p>
        </p:txBody>
      </p:sp>
      <p:sp>
        <p:nvSpPr>
          <p:cNvPr id="13" name="Text 5"/>
          <p:cNvSpPr/>
          <p:nvPr/>
        </p:nvSpPr>
        <p:spPr>
          <a:xfrm>
            <a:off x="5202936" y="3456432"/>
            <a:ext cx="3410712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Amazon EC2</a:t>
            </a:r>
            <a:endParaRPr lang="en-US" sz="2230" dirty="0"/>
          </a:p>
        </p:txBody>
      </p:sp>
      <p:sp>
        <p:nvSpPr>
          <p:cNvPr id="14" name="Text 6"/>
          <p:cNvSpPr/>
          <p:nvPr/>
        </p:nvSpPr>
        <p:spPr>
          <a:xfrm>
            <a:off x="5202936" y="3950208"/>
            <a:ext cx="3410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Custom backend servers.</a:t>
            </a:r>
            <a:endParaRPr lang="en-US" sz="1780" dirty="0"/>
          </a:p>
        </p:txBody>
      </p:sp>
      <p:sp>
        <p:nvSpPr>
          <p:cNvPr id="15" name="Text 7"/>
          <p:cNvSpPr/>
          <p:nvPr/>
        </p:nvSpPr>
        <p:spPr>
          <a:xfrm>
            <a:off x="5202936" y="4974336"/>
            <a:ext cx="3410712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Any HTTP endpoint</a:t>
            </a:r>
            <a:endParaRPr lang="en-US" sz="2230" dirty="0"/>
          </a:p>
        </p:txBody>
      </p:sp>
      <p:sp>
        <p:nvSpPr>
          <p:cNvPr id="16" name="Text 8"/>
          <p:cNvSpPr/>
          <p:nvPr/>
        </p:nvSpPr>
        <p:spPr>
          <a:xfrm>
            <a:off x="5202936" y="5458968"/>
            <a:ext cx="3410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External APIs.</a:t>
            </a:r>
            <a:endParaRPr lang="en-US" sz="1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297680"/>
            <a:ext cx="6409944" cy="135331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79592"/>
            <a:ext cx="6409944" cy="135331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4297680"/>
            <a:ext cx="6409944" cy="135331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5879592"/>
            <a:ext cx="6409944" cy="135331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4379976"/>
            <a:ext cx="5678424" cy="135331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5952744"/>
            <a:ext cx="5678424" cy="135331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4379976"/>
            <a:ext cx="5678424" cy="135331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5952744"/>
            <a:ext cx="5678424" cy="135331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288536"/>
            <a:ext cx="548640" cy="5486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861304"/>
            <a:ext cx="548640" cy="54864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4288536"/>
            <a:ext cx="548640" cy="5486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5861304"/>
            <a:ext cx="548640" cy="54864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95528" y="3337560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Authentication &amp; Authorization</a:t>
            </a:r>
            <a:endParaRPr lang="en-US" sz="4460" dirty="0"/>
          </a:p>
        </p:txBody>
      </p:sp>
      <p:sp>
        <p:nvSpPr>
          <p:cNvPr id="17" name="Text 1"/>
          <p:cNvSpPr/>
          <p:nvPr/>
        </p:nvSpPr>
        <p:spPr>
          <a:xfrm>
            <a:off x="950976" y="4325112"/>
            <a:ext cx="210312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18" name="Text 2"/>
          <p:cNvSpPr/>
          <p:nvPr/>
        </p:nvSpPr>
        <p:spPr>
          <a:xfrm>
            <a:off x="1536192" y="4379976"/>
            <a:ext cx="5678424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AWS IAM for user-based access control</a:t>
            </a:r>
            <a:endParaRPr lang="en-US" sz="2230" dirty="0"/>
          </a:p>
        </p:txBody>
      </p:sp>
      <p:sp>
        <p:nvSpPr>
          <p:cNvPr id="19" name="Text 3"/>
          <p:cNvSpPr/>
          <p:nvPr/>
        </p:nvSpPr>
        <p:spPr>
          <a:xfrm>
            <a:off x="1536192" y="4937760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Manages user permissions.</a:t>
            </a:r>
            <a:endParaRPr lang="en-US" sz="1780" dirty="0"/>
          </a:p>
        </p:txBody>
      </p:sp>
      <p:sp>
        <p:nvSpPr>
          <p:cNvPr id="20" name="Text 4"/>
          <p:cNvSpPr/>
          <p:nvPr/>
        </p:nvSpPr>
        <p:spPr>
          <a:xfrm>
            <a:off x="950976" y="5897880"/>
            <a:ext cx="210312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670" dirty="0"/>
          </a:p>
        </p:txBody>
      </p:sp>
      <p:sp>
        <p:nvSpPr>
          <p:cNvPr id="21" name="Text 5"/>
          <p:cNvSpPr/>
          <p:nvPr/>
        </p:nvSpPr>
        <p:spPr>
          <a:xfrm>
            <a:off x="1536192" y="5952744"/>
            <a:ext cx="5678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Lambda Authorizers (Custom) for custom token validation</a:t>
            </a:r>
            <a:endParaRPr lang="en-US" sz="2230" dirty="0"/>
          </a:p>
        </p:txBody>
      </p:sp>
      <p:sp>
        <p:nvSpPr>
          <p:cNvPr id="22" name="Text 6"/>
          <p:cNvSpPr/>
          <p:nvPr/>
        </p:nvSpPr>
        <p:spPr>
          <a:xfrm>
            <a:off x="1536192" y="6867144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Validates custom authentication tokens.</a:t>
            </a:r>
            <a:endParaRPr lang="en-US" sz="1780" dirty="0"/>
          </a:p>
        </p:txBody>
      </p:sp>
      <p:sp>
        <p:nvSpPr>
          <p:cNvPr id="23" name="Text 7"/>
          <p:cNvSpPr/>
          <p:nvPr/>
        </p:nvSpPr>
        <p:spPr>
          <a:xfrm>
            <a:off x="7589520" y="4325112"/>
            <a:ext cx="210312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  <p:sp>
        <p:nvSpPr>
          <p:cNvPr id="24" name="Text 8"/>
          <p:cNvSpPr/>
          <p:nvPr/>
        </p:nvSpPr>
        <p:spPr>
          <a:xfrm>
            <a:off x="8165592" y="4379976"/>
            <a:ext cx="5678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Amazon Cognito for user sign-in/signup</a:t>
            </a:r>
            <a:endParaRPr lang="en-US" sz="2230" dirty="0"/>
          </a:p>
        </p:txBody>
      </p:sp>
      <p:sp>
        <p:nvSpPr>
          <p:cNvPr id="25" name="Text 9"/>
          <p:cNvSpPr/>
          <p:nvPr/>
        </p:nvSpPr>
        <p:spPr>
          <a:xfrm>
            <a:off x="7589520" y="5897880"/>
            <a:ext cx="210312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670" dirty="0"/>
          </a:p>
        </p:txBody>
      </p:sp>
      <p:sp>
        <p:nvSpPr>
          <p:cNvPr id="26" name="Text 10"/>
          <p:cNvSpPr/>
          <p:nvPr/>
        </p:nvSpPr>
        <p:spPr>
          <a:xfrm>
            <a:off x="8165592" y="5294376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Provides user authentication and management.</a:t>
            </a:r>
            <a:endParaRPr lang="en-US" sz="1780" dirty="0"/>
          </a:p>
        </p:txBody>
      </p:sp>
      <p:sp>
        <p:nvSpPr>
          <p:cNvPr id="27" name="Text 11"/>
          <p:cNvSpPr/>
          <p:nvPr/>
        </p:nvSpPr>
        <p:spPr>
          <a:xfrm>
            <a:off x="8165592" y="5952744"/>
            <a:ext cx="5678424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API Keys for third-party developers</a:t>
            </a:r>
            <a:endParaRPr lang="en-US" sz="2230" dirty="0"/>
          </a:p>
        </p:txBody>
      </p:sp>
      <p:sp>
        <p:nvSpPr>
          <p:cNvPr id="28" name="Text 12"/>
          <p:cNvSpPr/>
          <p:nvPr/>
        </p:nvSpPr>
        <p:spPr>
          <a:xfrm>
            <a:off x="8165592" y="6510528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Allows controlled access to APIs.</a:t>
            </a:r>
            <a:endParaRPr lang="en-US" sz="1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423160"/>
            <a:ext cx="7223760" cy="18379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434840"/>
            <a:ext cx="7223760" cy="12344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5852160"/>
            <a:ext cx="7223760" cy="156362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647688" y="841248"/>
            <a:ext cx="71963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Caching and Performance Optimization</a:t>
            </a:r>
            <a:endParaRPr lang="en-US" sz="4240" dirty="0"/>
          </a:p>
        </p:txBody>
      </p:sp>
      <p:sp>
        <p:nvSpPr>
          <p:cNvPr id="8" name="Text 1"/>
          <p:cNvSpPr/>
          <p:nvPr/>
        </p:nvSpPr>
        <p:spPr>
          <a:xfrm>
            <a:off x="6876288" y="2660904"/>
            <a:ext cx="6739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Enable API Gateway caching to reduce backend load</a:t>
            </a:r>
            <a:endParaRPr lang="en-US" sz="2120" dirty="0"/>
          </a:p>
        </p:txBody>
      </p:sp>
      <p:sp>
        <p:nvSpPr>
          <p:cNvPr id="9" name="Text 2"/>
          <p:cNvSpPr/>
          <p:nvPr/>
        </p:nvSpPr>
        <p:spPr>
          <a:xfrm>
            <a:off x="6876288" y="3465576"/>
            <a:ext cx="6739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Improves performance by reducing repeated requests to the backend.</a:t>
            </a:r>
            <a:endParaRPr lang="en-US" sz="1690" dirty="0"/>
          </a:p>
        </p:txBody>
      </p:sp>
      <p:sp>
        <p:nvSpPr>
          <p:cNvPr id="10" name="Text 3"/>
          <p:cNvSpPr/>
          <p:nvPr/>
        </p:nvSpPr>
        <p:spPr>
          <a:xfrm>
            <a:off x="6876288" y="4681728"/>
            <a:ext cx="673912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Configure TTL (Time-To-Live) for cache</a:t>
            </a:r>
            <a:endParaRPr lang="en-US" sz="2120" dirty="0"/>
          </a:p>
        </p:txBody>
      </p:sp>
      <p:sp>
        <p:nvSpPr>
          <p:cNvPr id="11" name="Text 4"/>
          <p:cNvSpPr/>
          <p:nvPr/>
        </p:nvSpPr>
        <p:spPr>
          <a:xfrm>
            <a:off x="6876288" y="5148072"/>
            <a:ext cx="673912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Sets the duration for which cached data remains valid.</a:t>
            </a:r>
            <a:endParaRPr lang="en-US" sz="1690" dirty="0"/>
          </a:p>
        </p:txBody>
      </p:sp>
      <p:sp>
        <p:nvSpPr>
          <p:cNvPr id="12" name="Text 5"/>
          <p:cNvSpPr/>
          <p:nvPr/>
        </p:nvSpPr>
        <p:spPr>
          <a:xfrm>
            <a:off x="6876288" y="6089904"/>
            <a:ext cx="6739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Compression and response optimization improve speed</a:t>
            </a:r>
            <a:endParaRPr lang="en-US" sz="2120" dirty="0"/>
          </a:p>
        </p:txBody>
      </p:sp>
      <p:sp>
        <p:nvSpPr>
          <p:cNvPr id="13" name="Text 6"/>
          <p:cNvSpPr/>
          <p:nvPr/>
        </p:nvSpPr>
        <p:spPr>
          <a:xfrm>
            <a:off x="6876288" y="6894576"/>
            <a:ext cx="673912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Reduces data size and improves response times.</a:t>
            </a:r>
            <a:endParaRPr lang="en-US" sz="16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950208"/>
            <a:ext cx="6473952" cy="16093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687568"/>
            <a:ext cx="6473952" cy="160934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3950208"/>
            <a:ext cx="6473952" cy="160934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5687568"/>
            <a:ext cx="6473952" cy="160934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4782312"/>
            <a:ext cx="6099048" cy="59436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6510528"/>
            <a:ext cx="6099048" cy="59436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4782312"/>
            <a:ext cx="6099048" cy="59436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6510528"/>
            <a:ext cx="6099048" cy="59436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123944"/>
            <a:ext cx="512064" cy="51206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861304"/>
            <a:ext cx="512064" cy="51206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4123944"/>
            <a:ext cx="512064" cy="51206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5861304"/>
            <a:ext cx="512064" cy="512064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95528" y="3291840"/>
            <a:ext cx="1304848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2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Monitoring and Logging</a:t>
            </a:r>
            <a:endParaRPr lang="en-US" sz="3120" dirty="0"/>
          </a:p>
        </p:txBody>
      </p:sp>
      <p:sp>
        <p:nvSpPr>
          <p:cNvPr id="17" name="Text 1"/>
          <p:cNvSpPr/>
          <p:nvPr/>
        </p:nvSpPr>
        <p:spPr>
          <a:xfrm>
            <a:off x="1143000" y="4233672"/>
            <a:ext cx="1371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20"/>
              </a:lnSpc>
              <a:buNone/>
            </a:pPr>
            <a:r>
              <a:rPr lang="en-US" sz="168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680" dirty="0"/>
          </a:p>
        </p:txBody>
      </p:sp>
      <p:sp>
        <p:nvSpPr>
          <p:cNvPr id="18" name="Text 2"/>
          <p:cNvSpPr/>
          <p:nvPr/>
        </p:nvSpPr>
        <p:spPr>
          <a:xfrm>
            <a:off x="969264" y="4782312"/>
            <a:ext cx="60990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Integrated with Amazon CloudWatch</a:t>
            </a:r>
            <a:endParaRPr lang="en-US" sz="1560" dirty="0"/>
          </a:p>
        </p:txBody>
      </p:sp>
      <p:sp>
        <p:nvSpPr>
          <p:cNvPr id="19" name="Text 3"/>
          <p:cNvSpPr/>
          <p:nvPr/>
        </p:nvSpPr>
        <p:spPr>
          <a:xfrm>
            <a:off x="969264" y="5166360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Collects and tracks metrics for performance monitoring.</a:t>
            </a:r>
            <a:endParaRPr lang="en-US" sz="1250" dirty="0"/>
          </a:p>
        </p:txBody>
      </p:sp>
      <p:sp>
        <p:nvSpPr>
          <p:cNvPr id="20" name="Text 4"/>
          <p:cNvSpPr/>
          <p:nvPr/>
        </p:nvSpPr>
        <p:spPr>
          <a:xfrm>
            <a:off x="1143000" y="5961888"/>
            <a:ext cx="1371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20"/>
              </a:lnSpc>
              <a:buNone/>
            </a:pPr>
            <a:r>
              <a:rPr lang="en-US" sz="168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680" dirty="0"/>
          </a:p>
        </p:txBody>
      </p:sp>
      <p:sp>
        <p:nvSpPr>
          <p:cNvPr id="21" name="Text 5"/>
          <p:cNvSpPr/>
          <p:nvPr/>
        </p:nvSpPr>
        <p:spPr>
          <a:xfrm>
            <a:off x="969264" y="6510528"/>
            <a:ext cx="60990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Enable access logs for debugging</a:t>
            </a:r>
            <a:endParaRPr lang="en-US" sz="1560" dirty="0"/>
          </a:p>
        </p:txBody>
      </p:sp>
      <p:sp>
        <p:nvSpPr>
          <p:cNvPr id="22" name="Text 6"/>
          <p:cNvSpPr/>
          <p:nvPr/>
        </p:nvSpPr>
        <p:spPr>
          <a:xfrm>
            <a:off x="969264" y="6903720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Helps in troubleshooting issues in API calls.</a:t>
            </a:r>
            <a:endParaRPr lang="en-US" sz="1250" dirty="0"/>
          </a:p>
        </p:txBody>
      </p:sp>
      <p:sp>
        <p:nvSpPr>
          <p:cNvPr id="23" name="Text 7"/>
          <p:cNvSpPr/>
          <p:nvPr/>
        </p:nvSpPr>
        <p:spPr>
          <a:xfrm>
            <a:off x="7744968" y="4233672"/>
            <a:ext cx="1371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20"/>
              </a:lnSpc>
              <a:buNone/>
            </a:pPr>
            <a:r>
              <a:rPr lang="en-US" sz="168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680" dirty="0"/>
          </a:p>
        </p:txBody>
      </p:sp>
      <p:sp>
        <p:nvSpPr>
          <p:cNvPr id="24" name="Text 8"/>
          <p:cNvSpPr/>
          <p:nvPr/>
        </p:nvSpPr>
        <p:spPr>
          <a:xfrm>
            <a:off x="7571232" y="4782312"/>
            <a:ext cx="60990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Collect metrics like latency, 4XX/5XX errors, request count</a:t>
            </a:r>
            <a:endParaRPr lang="en-US" sz="1560" dirty="0"/>
          </a:p>
        </p:txBody>
      </p:sp>
      <p:sp>
        <p:nvSpPr>
          <p:cNvPr id="25" name="Text 9"/>
          <p:cNvSpPr/>
          <p:nvPr/>
        </p:nvSpPr>
        <p:spPr>
          <a:xfrm>
            <a:off x="7571232" y="5166360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Provides insights into API performance.</a:t>
            </a:r>
            <a:endParaRPr lang="en-US" sz="1250" dirty="0"/>
          </a:p>
        </p:txBody>
      </p:sp>
      <p:sp>
        <p:nvSpPr>
          <p:cNvPr id="26" name="Text 10"/>
          <p:cNvSpPr/>
          <p:nvPr/>
        </p:nvSpPr>
        <p:spPr>
          <a:xfrm>
            <a:off x="7744968" y="5961888"/>
            <a:ext cx="1371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20"/>
              </a:lnSpc>
              <a:buNone/>
            </a:pPr>
            <a:r>
              <a:rPr lang="en-US" sz="168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680" dirty="0"/>
          </a:p>
        </p:txBody>
      </p:sp>
      <p:sp>
        <p:nvSpPr>
          <p:cNvPr id="27" name="Text 11"/>
          <p:cNvSpPr/>
          <p:nvPr/>
        </p:nvSpPr>
        <p:spPr>
          <a:xfrm>
            <a:off x="7571232" y="6510528"/>
            <a:ext cx="60990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Use X-Ray for tracing requests</a:t>
            </a:r>
            <a:endParaRPr lang="en-US" sz="1560" dirty="0"/>
          </a:p>
        </p:txBody>
      </p:sp>
      <p:sp>
        <p:nvSpPr>
          <p:cNvPr id="28" name="Text 12"/>
          <p:cNvSpPr/>
          <p:nvPr/>
        </p:nvSpPr>
        <p:spPr>
          <a:xfrm>
            <a:off x="7571232" y="6903720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Offers detailed insights into request paths and performance bottlenecks.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350008"/>
            <a:ext cx="8101584" cy="12893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831336"/>
            <a:ext cx="8101584" cy="128930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312664"/>
            <a:ext cx="8101584" cy="128930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95528" y="859536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Pricing Overview</a:t>
            </a:r>
            <a:endParaRPr lang="en-US" sz="4460" dirty="0"/>
          </a:p>
        </p:txBody>
      </p:sp>
      <p:sp>
        <p:nvSpPr>
          <p:cNvPr id="8" name="Text 1"/>
          <p:cNvSpPr/>
          <p:nvPr/>
        </p:nvSpPr>
        <p:spPr>
          <a:xfrm>
            <a:off x="795528" y="1819656"/>
            <a:ext cx="807415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Pay only for:</a:t>
            </a:r>
            <a:endParaRPr lang="en-US" sz="1780" dirty="0"/>
          </a:p>
        </p:txBody>
      </p:sp>
      <p:sp>
        <p:nvSpPr>
          <p:cNvPr id="9" name="Text 2"/>
          <p:cNvSpPr/>
          <p:nvPr/>
        </p:nvSpPr>
        <p:spPr>
          <a:xfrm>
            <a:off x="1042416" y="2606040"/>
            <a:ext cx="758952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Number of API calls</a:t>
            </a:r>
            <a:endParaRPr lang="en-US" sz="2230" dirty="0"/>
          </a:p>
        </p:txBody>
      </p:sp>
      <p:sp>
        <p:nvSpPr>
          <p:cNvPr id="10" name="Text 3"/>
          <p:cNvSpPr/>
          <p:nvPr/>
        </p:nvSpPr>
        <p:spPr>
          <a:xfrm>
            <a:off x="1042416" y="3090672"/>
            <a:ext cx="758952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Charges based on the volume of requests.</a:t>
            </a:r>
            <a:endParaRPr lang="en-US" sz="1780" dirty="0"/>
          </a:p>
        </p:txBody>
      </p:sp>
      <p:sp>
        <p:nvSpPr>
          <p:cNvPr id="11" name="Text 4"/>
          <p:cNvSpPr/>
          <p:nvPr/>
        </p:nvSpPr>
        <p:spPr>
          <a:xfrm>
            <a:off x="1042416" y="4087368"/>
            <a:ext cx="758952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Data transferred out</a:t>
            </a:r>
            <a:endParaRPr lang="en-US" sz="2230" dirty="0"/>
          </a:p>
        </p:txBody>
      </p:sp>
      <p:sp>
        <p:nvSpPr>
          <p:cNvPr id="12" name="Text 5"/>
          <p:cNvSpPr/>
          <p:nvPr/>
        </p:nvSpPr>
        <p:spPr>
          <a:xfrm>
            <a:off x="1042416" y="4581144"/>
            <a:ext cx="758952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Costs associated with outbound data transfer.</a:t>
            </a:r>
            <a:endParaRPr lang="en-US" sz="1780" dirty="0"/>
          </a:p>
        </p:txBody>
      </p:sp>
      <p:sp>
        <p:nvSpPr>
          <p:cNvPr id="13" name="Text 6"/>
          <p:cNvSpPr/>
          <p:nvPr/>
        </p:nvSpPr>
        <p:spPr>
          <a:xfrm>
            <a:off x="1042416" y="5568696"/>
            <a:ext cx="758952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Caching capacity (if enabled)</a:t>
            </a:r>
            <a:endParaRPr lang="en-US" sz="2230" dirty="0"/>
          </a:p>
        </p:txBody>
      </p:sp>
      <p:sp>
        <p:nvSpPr>
          <p:cNvPr id="14" name="Text 7"/>
          <p:cNvSpPr/>
          <p:nvPr/>
        </p:nvSpPr>
        <p:spPr>
          <a:xfrm>
            <a:off x="1042416" y="6062472"/>
            <a:ext cx="758952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Charges for caching features.</a:t>
            </a:r>
            <a:endParaRPr lang="en-US" sz="1780" dirty="0"/>
          </a:p>
        </p:txBody>
      </p:sp>
      <p:sp>
        <p:nvSpPr>
          <p:cNvPr id="15" name="Text 8"/>
          <p:cNvSpPr/>
          <p:nvPr/>
        </p:nvSpPr>
        <p:spPr>
          <a:xfrm>
            <a:off x="795528" y="6839712"/>
            <a:ext cx="807415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Example: HTTP API is cheaper than REST API.</a:t>
            </a:r>
            <a:endParaRPr lang="en-US" sz="1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1947672"/>
            <a:ext cx="3931920" cy="26883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855464"/>
            <a:ext cx="3931920" cy="235915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947672"/>
            <a:ext cx="3931920" cy="268833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855464"/>
            <a:ext cx="3931920" cy="235915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2313432"/>
            <a:ext cx="3959352" cy="235000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5212080"/>
            <a:ext cx="3959352" cy="201168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8616" y="2313432"/>
            <a:ext cx="3959352" cy="235000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8616" y="5212080"/>
            <a:ext cx="3959352" cy="201168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2203704"/>
            <a:ext cx="3959352" cy="1463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5111496"/>
            <a:ext cx="3959352" cy="14630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8616" y="2203704"/>
            <a:ext cx="3959352" cy="14630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8616" y="5111496"/>
            <a:ext cx="3959352" cy="14630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1448" y="1947672"/>
            <a:ext cx="649224" cy="64922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1448" y="4855464"/>
            <a:ext cx="649224" cy="64922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0" y="1947672"/>
            <a:ext cx="649224" cy="64922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0" y="4855464"/>
            <a:ext cx="649224" cy="649224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795528" y="1033272"/>
            <a:ext cx="8074152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Real-World Use Cases</a:t>
            </a:r>
            <a:endParaRPr lang="en-US" sz="4240" dirty="0"/>
          </a:p>
        </p:txBody>
      </p:sp>
      <p:sp>
        <p:nvSpPr>
          <p:cNvPr id="21" name="Text 1"/>
          <p:cNvSpPr/>
          <p:nvPr/>
        </p:nvSpPr>
        <p:spPr>
          <a:xfrm>
            <a:off x="1024128" y="2670048"/>
            <a:ext cx="34747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Mobile and Web Apps connecting to AWS backend</a:t>
            </a:r>
            <a:endParaRPr lang="en-US" sz="2120" dirty="0"/>
          </a:p>
        </p:txBody>
      </p:sp>
      <p:sp>
        <p:nvSpPr>
          <p:cNvPr id="22" name="Text 2"/>
          <p:cNvSpPr/>
          <p:nvPr/>
        </p:nvSpPr>
        <p:spPr>
          <a:xfrm>
            <a:off x="2679192" y="2093976"/>
            <a:ext cx="16459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40"/>
              </a:lnSpc>
              <a:buNone/>
            </a:pPr>
            <a:r>
              <a:rPr lang="en-US" sz="203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030" dirty="0"/>
          </a:p>
        </p:txBody>
      </p:sp>
      <p:sp>
        <p:nvSpPr>
          <p:cNvPr id="23" name="Text 3"/>
          <p:cNvSpPr/>
          <p:nvPr/>
        </p:nvSpPr>
        <p:spPr>
          <a:xfrm>
            <a:off x="1024128" y="3867912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Simplifies the backend management for applications.</a:t>
            </a:r>
            <a:endParaRPr lang="en-US" sz="1690" dirty="0"/>
          </a:p>
        </p:txBody>
      </p:sp>
      <p:sp>
        <p:nvSpPr>
          <p:cNvPr id="24" name="Text 4"/>
          <p:cNvSpPr/>
          <p:nvPr/>
        </p:nvSpPr>
        <p:spPr>
          <a:xfrm>
            <a:off x="1024128" y="556869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Microservices exposing REST endpoints</a:t>
            </a:r>
            <a:endParaRPr lang="en-US" sz="2120" dirty="0"/>
          </a:p>
        </p:txBody>
      </p:sp>
      <p:sp>
        <p:nvSpPr>
          <p:cNvPr id="25" name="Text 5"/>
          <p:cNvSpPr/>
          <p:nvPr/>
        </p:nvSpPr>
        <p:spPr>
          <a:xfrm>
            <a:off x="2679192" y="5001768"/>
            <a:ext cx="16459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40"/>
              </a:lnSpc>
              <a:buNone/>
            </a:pPr>
            <a:r>
              <a:rPr lang="en-US" sz="203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030" dirty="0"/>
          </a:p>
        </p:txBody>
      </p:sp>
      <p:sp>
        <p:nvSpPr>
          <p:cNvPr id="26" name="Text 6"/>
          <p:cNvSpPr/>
          <p:nvPr/>
        </p:nvSpPr>
        <p:spPr>
          <a:xfrm>
            <a:off x="5166360" y="267004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IoT applications communicating via APIs</a:t>
            </a:r>
            <a:endParaRPr lang="en-US" sz="2120" dirty="0"/>
          </a:p>
        </p:txBody>
      </p:sp>
      <p:sp>
        <p:nvSpPr>
          <p:cNvPr id="27" name="Text 7"/>
          <p:cNvSpPr/>
          <p:nvPr/>
        </p:nvSpPr>
        <p:spPr>
          <a:xfrm>
            <a:off x="5166360" y="3529584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Facilitates communication in IoT setups.</a:t>
            </a:r>
            <a:endParaRPr lang="en-US" sz="1690" dirty="0"/>
          </a:p>
        </p:txBody>
      </p:sp>
      <p:sp>
        <p:nvSpPr>
          <p:cNvPr id="28" name="Text 8"/>
          <p:cNvSpPr/>
          <p:nvPr/>
        </p:nvSpPr>
        <p:spPr>
          <a:xfrm>
            <a:off x="1024128" y="6437376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Helps in building microservices architecture.</a:t>
            </a:r>
            <a:endParaRPr lang="en-US" sz="1690" dirty="0"/>
          </a:p>
        </p:txBody>
      </p:sp>
      <p:sp>
        <p:nvSpPr>
          <p:cNvPr id="29" name="Text 9"/>
          <p:cNvSpPr/>
          <p:nvPr/>
        </p:nvSpPr>
        <p:spPr>
          <a:xfrm>
            <a:off x="6821424" y="2093976"/>
            <a:ext cx="16459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40"/>
              </a:lnSpc>
              <a:buNone/>
            </a:pPr>
            <a:r>
              <a:rPr lang="en-US" sz="203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030" dirty="0"/>
          </a:p>
        </p:txBody>
      </p:sp>
      <p:sp>
        <p:nvSpPr>
          <p:cNvPr id="30" name="Text 10"/>
          <p:cNvSpPr/>
          <p:nvPr/>
        </p:nvSpPr>
        <p:spPr>
          <a:xfrm>
            <a:off x="5166360" y="556869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Third-party API integrations</a:t>
            </a:r>
            <a:endParaRPr lang="en-US" sz="2120" dirty="0"/>
          </a:p>
        </p:txBody>
      </p:sp>
      <p:sp>
        <p:nvSpPr>
          <p:cNvPr id="31" name="Text 11"/>
          <p:cNvSpPr/>
          <p:nvPr/>
        </p:nvSpPr>
        <p:spPr>
          <a:xfrm>
            <a:off x="5166360" y="6437376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Allows integration with external APIs for enhanced functionality.</a:t>
            </a:r>
            <a:endParaRPr lang="en-US" sz="1690" dirty="0"/>
          </a:p>
        </p:txBody>
      </p:sp>
      <p:sp>
        <p:nvSpPr>
          <p:cNvPr id="32" name="Text 12"/>
          <p:cNvSpPr/>
          <p:nvPr/>
        </p:nvSpPr>
        <p:spPr>
          <a:xfrm>
            <a:off x="6821424" y="5001768"/>
            <a:ext cx="16459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40"/>
              </a:lnSpc>
              <a:buNone/>
            </a:pPr>
            <a:r>
              <a:rPr lang="en-US" sz="203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0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425696"/>
            <a:ext cx="6336792" cy="12344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833872"/>
            <a:ext cx="6336792" cy="12344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4425696"/>
            <a:ext cx="6336792" cy="12344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5833872"/>
            <a:ext cx="6336792" cy="123444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425696"/>
            <a:ext cx="146304" cy="123444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833872"/>
            <a:ext cx="146304" cy="12344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4425696"/>
            <a:ext cx="146304" cy="12344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5833872"/>
            <a:ext cx="146304" cy="123444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95528" y="3520440"/>
            <a:ext cx="13048488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Advantages of Using AWS API Gateway</a:t>
            </a:r>
            <a:endParaRPr lang="en-US" sz="4240" dirty="0"/>
          </a:p>
        </p:txBody>
      </p:sp>
      <p:sp>
        <p:nvSpPr>
          <p:cNvPr id="13" name="Text 1"/>
          <p:cNvSpPr/>
          <p:nvPr/>
        </p:nvSpPr>
        <p:spPr>
          <a:xfrm>
            <a:off x="1124712" y="4663440"/>
            <a:ext cx="5861304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Serverless, no infrastructure management</a:t>
            </a:r>
            <a:endParaRPr lang="en-US" sz="2120" dirty="0"/>
          </a:p>
        </p:txBody>
      </p:sp>
      <p:sp>
        <p:nvSpPr>
          <p:cNvPr id="14" name="Text 2"/>
          <p:cNvSpPr/>
          <p:nvPr/>
        </p:nvSpPr>
        <p:spPr>
          <a:xfrm>
            <a:off x="1124712" y="5129784"/>
            <a:ext cx="58613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Reduces operational overhead.</a:t>
            </a:r>
            <a:endParaRPr lang="en-US" sz="1690" dirty="0"/>
          </a:p>
        </p:txBody>
      </p:sp>
      <p:sp>
        <p:nvSpPr>
          <p:cNvPr id="15" name="Text 3"/>
          <p:cNvSpPr/>
          <p:nvPr/>
        </p:nvSpPr>
        <p:spPr>
          <a:xfrm>
            <a:off x="1124712" y="6080760"/>
            <a:ext cx="5861304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Deep integration with other AWS services</a:t>
            </a:r>
            <a:endParaRPr lang="en-US" sz="2120" dirty="0"/>
          </a:p>
        </p:txBody>
      </p:sp>
      <p:sp>
        <p:nvSpPr>
          <p:cNvPr id="16" name="Text 4"/>
          <p:cNvSpPr/>
          <p:nvPr/>
        </p:nvSpPr>
        <p:spPr>
          <a:xfrm>
            <a:off x="1124712" y="6547104"/>
            <a:ext cx="58613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Seamless compatibility with other AWS offerings.</a:t>
            </a:r>
            <a:endParaRPr lang="en-US" sz="1690" dirty="0"/>
          </a:p>
        </p:txBody>
      </p:sp>
      <p:sp>
        <p:nvSpPr>
          <p:cNvPr id="17" name="Text 5"/>
          <p:cNvSpPr/>
          <p:nvPr/>
        </p:nvSpPr>
        <p:spPr>
          <a:xfrm>
            <a:off x="7754112" y="4663440"/>
            <a:ext cx="5861304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Secure, scalable, and cost-effective</a:t>
            </a:r>
            <a:endParaRPr lang="en-US" sz="2120" dirty="0"/>
          </a:p>
        </p:txBody>
      </p:sp>
      <p:sp>
        <p:nvSpPr>
          <p:cNvPr id="18" name="Text 6"/>
          <p:cNvSpPr/>
          <p:nvPr/>
        </p:nvSpPr>
        <p:spPr>
          <a:xfrm>
            <a:off x="7754112" y="5129784"/>
            <a:ext cx="58613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Provides a robust and economical solution.</a:t>
            </a:r>
            <a:endParaRPr lang="en-US" sz="1690" dirty="0"/>
          </a:p>
        </p:txBody>
      </p:sp>
      <p:sp>
        <p:nvSpPr>
          <p:cNvPr id="19" name="Text 7"/>
          <p:cNvSpPr/>
          <p:nvPr/>
        </p:nvSpPr>
        <p:spPr>
          <a:xfrm>
            <a:off x="7754112" y="6080760"/>
            <a:ext cx="5861304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High availability across multiple regions</a:t>
            </a:r>
            <a:endParaRPr lang="en-US" sz="2120" dirty="0"/>
          </a:p>
        </p:txBody>
      </p:sp>
      <p:sp>
        <p:nvSpPr>
          <p:cNvPr id="20" name="Text 8"/>
          <p:cNvSpPr/>
          <p:nvPr/>
        </p:nvSpPr>
        <p:spPr>
          <a:xfrm>
            <a:off x="7754112" y="6547104"/>
            <a:ext cx="58613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69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Ensures service reliability and accessibility.</a:t>
            </a:r>
            <a:endParaRPr lang="en-US" sz="16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2532888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15. Summary &amp; Q&amp;A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3493008"/>
            <a:ext cx="8074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Summary: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APIs connect applications and services.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API Gateway simplifies API management.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Provides features like authentication, caching, monitoring, and scaling.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4882896"/>
            <a:ext cx="8074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Thank You!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Questions? 💬</a:t>
            </a:r>
            <a:endParaRPr lang="en-US" sz="1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946</Words>
  <Application>Microsoft Office PowerPoint</Application>
  <PresentationFormat>Custom</PresentationFormat>
  <Paragraphs>169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AlibabaPuHuiTi-Alibaba-PuHuiTi</vt:lpstr>
      <vt:lpstr>Arial</vt:lpstr>
      <vt:lpstr>思源黑体-思源黑体-Medium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Mukesh S</cp:lastModifiedBy>
  <cp:revision>3</cp:revision>
  <dcterms:created xsi:type="dcterms:W3CDTF">2025-10-30T16:45:12Z</dcterms:created>
  <dcterms:modified xsi:type="dcterms:W3CDTF">2025-10-31T06:30:38Z</dcterms:modified>
</cp:coreProperties>
</file>