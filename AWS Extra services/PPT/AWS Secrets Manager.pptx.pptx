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79" d="100"/>
          <a:sy n="79" d="100"/>
        </p:scale>
        <p:origin x="77" y="-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270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30952"/>
            <a:ext cx="13048488" cy="365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5614416"/>
            <a:ext cx="457200" cy="64008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362456" y="5614416"/>
            <a:ext cx="2350008" cy="4023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2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Author: Gowtham</a:t>
            </a:r>
            <a:endParaRPr lang="en-US" sz="2230" dirty="0"/>
          </a:p>
        </p:txBody>
      </p:sp>
      <p:sp>
        <p:nvSpPr>
          <p:cNvPr id="7" name="Text 1"/>
          <p:cNvSpPr/>
          <p:nvPr/>
        </p:nvSpPr>
        <p:spPr>
          <a:xfrm>
            <a:off x="1362456" y="6007608"/>
            <a:ext cx="235000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70"/>
              </a:lnSpc>
              <a:buNone/>
            </a:pPr>
            <a:endParaRPr lang="en-US" sz="1330" dirty="0"/>
          </a:p>
        </p:txBody>
      </p:sp>
      <p:sp>
        <p:nvSpPr>
          <p:cNvPr id="8" name="Text 2"/>
          <p:cNvSpPr/>
          <p:nvPr/>
        </p:nvSpPr>
        <p:spPr>
          <a:xfrm>
            <a:off x="795528" y="409651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AWS Secrets Manager</a:t>
            </a:r>
            <a:endParaRPr lang="en-US" sz="61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170432"/>
            <a:ext cx="13048488" cy="8869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6930"/>
              </a:lnSpc>
              <a:buNone/>
            </a:pPr>
            <a:r>
              <a:rPr lang="en-US" sz="55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CONTENTS</a:t>
            </a:r>
            <a:endParaRPr lang="en-US" sz="5540" dirty="0"/>
          </a:p>
        </p:txBody>
      </p:sp>
      <p:sp>
        <p:nvSpPr>
          <p:cNvPr id="5" name="Text 1"/>
          <p:cNvSpPr/>
          <p:nvPr/>
        </p:nvSpPr>
        <p:spPr>
          <a:xfrm>
            <a:off x="1005840" y="247802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Secrets Manager?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1005840" y="373075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Types of Secrets You Can Store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4315968" y="247802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Do We Need Secrets Management?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005840" y="498348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4315968" y="373075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Architecture Overview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005840" y="6236208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4315968" y="498348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Monitoring and Auditing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315968" y="6236208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626096" y="247802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How AWS Secrets Manager Works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7626096" y="3730752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Secret Rotation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7626096" y="4983480"/>
            <a:ext cx="2706624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10936224" y="2478024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Key Features of AWS Secrets Manager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10936224" y="3730752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AWS Services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10936224" y="4983480"/>
            <a:ext cx="2706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510"/>
              </a:lnSpc>
              <a:buNone/>
            </a:pPr>
            <a:r>
              <a:rPr lang="en-US" sz="2000" dirty="0">
                <a:solidFill>
                  <a:srgbClr val="DBDBDB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Advantages of AWS Secrets Manager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672584"/>
            <a:ext cx="3483864" cy="5120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5413248"/>
            <a:ext cx="3483864" cy="5120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4672584"/>
            <a:ext cx="3483864" cy="5120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0152" y="5413248"/>
            <a:ext cx="3483864" cy="5120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4754880"/>
            <a:ext cx="2752344" cy="51206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8352" y="5486400"/>
            <a:ext cx="2752344" cy="5120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4754880"/>
            <a:ext cx="2752344" cy="51206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1672" y="5486400"/>
            <a:ext cx="2752344" cy="51206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4654296"/>
            <a:ext cx="548640" cy="54864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5394960"/>
            <a:ext cx="548640" cy="54864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4654296"/>
            <a:ext cx="548640" cy="54864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1864" y="5394960"/>
            <a:ext cx="548640" cy="54864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647688" y="1472184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1. What is AWS Secrets Manager?</a:t>
            </a:r>
            <a:endParaRPr lang="en-US" sz="4460" dirty="0"/>
          </a:p>
        </p:txBody>
      </p:sp>
      <p:sp>
        <p:nvSpPr>
          <p:cNvPr id="17" name="Text 1"/>
          <p:cNvSpPr/>
          <p:nvPr/>
        </p:nvSpPr>
        <p:spPr>
          <a:xfrm>
            <a:off x="6647688" y="3145536"/>
            <a:ext cx="7196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is a fully managed service to store, manage, and retrieve secrets securely.</a:t>
            </a:r>
            <a:endParaRPr lang="en-US" sz="1780" dirty="0"/>
          </a:p>
        </p:txBody>
      </p:sp>
      <p:sp>
        <p:nvSpPr>
          <p:cNvPr id="18" name="Text 2"/>
          <p:cNvSpPr/>
          <p:nvPr/>
        </p:nvSpPr>
        <p:spPr>
          <a:xfrm>
            <a:off x="6647688" y="407822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Secrets include:</a:t>
            </a:r>
            <a:endParaRPr lang="en-US" sz="1780" dirty="0"/>
          </a:p>
        </p:txBody>
      </p:sp>
      <p:sp>
        <p:nvSpPr>
          <p:cNvPr id="19" name="Text 3"/>
          <p:cNvSpPr/>
          <p:nvPr/>
        </p:nvSpPr>
        <p:spPr>
          <a:xfrm>
            <a:off x="6803136" y="470001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20" name="Text 4"/>
          <p:cNvSpPr/>
          <p:nvPr/>
        </p:nvSpPr>
        <p:spPr>
          <a:xfrm>
            <a:off x="6803136" y="543153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670" dirty="0"/>
          </a:p>
        </p:txBody>
      </p:sp>
      <p:sp>
        <p:nvSpPr>
          <p:cNvPr id="21" name="Text 5"/>
          <p:cNvSpPr/>
          <p:nvPr/>
        </p:nvSpPr>
        <p:spPr>
          <a:xfrm>
            <a:off x="7388352" y="4754880"/>
            <a:ext cx="275234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Database credentials</a:t>
            </a:r>
            <a:endParaRPr lang="en-US" sz="1780" dirty="0"/>
          </a:p>
        </p:txBody>
      </p:sp>
      <p:sp>
        <p:nvSpPr>
          <p:cNvPr id="22" name="Text 6"/>
          <p:cNvSpPr/>
          <p:nvPr/>
        </p:nvSpPr>
        <p:spPr>
          <a:xfrm>
            <a:off x="6647688" y="6172200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eliminates the need to hard-code credentials in your applications.</a:t>
            </a:r>
            <a:endParaRPr lang="en-US" sz="1780" dirty="0"/>
          </a:p>
        </p:txBody>
      </p:sp>
      <p:sp>
        <p:nvSpPr>
          <p:cNvPr id="23" name="Text 7"/>
          <p:cNvSpPr/>
          <p:nvPr/>
        </p:nvSpPr>
        <p:spPr>
          <a:xfrm>
            <a:off x="7388352" y="5486400"/>
            <a:ext cx="275234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Passwords</a:t>
            </a:r>
            <a:endParaRPr lang="en-US" sz="1780" dirty="0"/>
          </a:p>
        </p:txBody>
      </p:sp>
      <p:sp>
        <p:nvSpPr>
          <p:cNvPr id="24" name="Text 8"/>
          <p:cNvSpPr/>
          <p:nvPr/>
        </p:nvSpPr>
        <p:spPr>
          <a:xfrm>
            <a:off x="10515600" y="470001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  <p:sp>
        <p:nvSpPr>
          <p:cNvPr id="25" name="Text 9"/>
          <p:cNvSpPr/>
          <p:nvPr/>
        </p:nvSpPr>
        <p:spPr>
          <a:xfrm>
            <a:off x="10515600" y="543153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670" dirty="0"/>
          </a:p>
        </p:txBody>
      </p:sp>
      <p:sp>
        <p:nvSpPr>
          <p:cNvPr id="26" name="Text 10"/>
          <p:cNvSpPr/>
          <p:nvPr/>
        </p:nvSpPr>
        <p:spPr>
          <a:xfrm>
            <a:off x="11091672" y="4754880"/>
            <a:ext cx="275234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keys</a:t>
            </a:r>
            <a:endParaRPr lang="en-US" sz="1780" dirty="0"/>
          </a:p>
        </p:txBody>
      </p:sp>
      <p:sp>
        <p:nvSpPr>
          <p:cNvPr id="27" name="Text 11"/>
          <p:cNvSpPr/>
          <p:nvPr/>
        </p:nvSpPr>
        <p:spPr>
          <a:xfrm>
            <a:off x="11091672" y="5486400"/>
            <a:ext cx="275234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Tokens</a:t>
            </a:r>
            <a:endParaRPr lang="en-US" sz="1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504688"/>
            <a:ext cx="6446520" cy="8595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5504688"/>
            <a:ext cx="6446520" cy="85953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5528" y="3364992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2. Why Do We Need Secrets Management?</a:t>
            </a:r>
            <a:endParaRPr lang="en-US" sz="4460" dirty="0"/>
          </a:p>
        </p:txBody>
      </p:sp>
      <p:sp>
        <p:nvSpPr>
          <p:cNvPr id="7" name="Text 1"/>
          <p:cNvSpPr/>
          <p:nvPr/>
        </p:nvSpPr>
        <p:spPr>
          <a:xfrm>
            <a:off x="795528" y="433425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Hard-coding credentials in code or config files is insecure.</a:t>
            </a:r>
            <a:endParaRPr lang="en-US" sz="1780" dirty="0"/>
          </a:p>
        </p:txBody>
      </p:sp>
      <p:sp>
        <p:nvSpPr>
          <p:cNvPr id="8" name="Text 2"/>
          <p:cNvSpPr/>
          <p:nvPr/>
        </p:nvSpPr>
        <p:spPr>
          <a:xfrm>
            <a:off x="795528" y="492861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Secrets can accidentally leak via:</a:t>
            </a: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1042416" y="576072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GitHub commits</a:t>
            </a: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795528" y="660196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ensures secrets are encrypted, rotated, and accessed securely.</a:t>
            </a:r>
            <a:endParaRPr lang="en-US" sz="1780" dirty="0"/>
          </a:p>
        </p:txBody>
      </p:sp>
      <p:sp>
        <p:nvSpPr>
          <p:cNvPr id="11" name="Text 5"/>
          <p:cNvSpPr/>
          <p:nvPr/>
        </p:nvSpPr>
        <p:spPr>
          <a:xfrm>
            <a:off x="7671816" y="576072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Logs or screenshots</a:t>
            </a:r>
            <a:endParaRPr lang="en-US" sz="1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438144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3. How AWS Secrets Manager Works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440740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store a secret (like a DB password) in Secrets Manager.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500176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encrypts the secret using AWS KMS (Key Management Service).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5596128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Applications retrieve the secret using AWS SDK or CLI when needed.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6190488"/>
            <a:ext cx="130484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You can configure automatic secret rotation for added security.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endParaRPr lang="en-US" sz="1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3493008"/>
            <a:ext cx="2276856" cy="153619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544" y="5221224"/>
            <a:ext cx="3520440" cy="119786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7424" y="3493008"/>
            <a:ext cx="2276856" cy="153619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41864" y="5221224"/>
            <a:ext cx="3520440" cy="119786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76304" y="3493008"/>
            <a:ext cx="2276856" cy="1536192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647688" y="1837944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4. Key Features of AWS Secrets Manager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6894576" y="374904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Secure storage of credentials and API keys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6894576" y="54864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Fine-grained access control via IAM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9363456" y="374904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Automatic rotation of secrets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10597896" y="5486400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Centralized management of secrets across AWS services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11832336" y="3749040"/>
            <a:ext cx="176479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Integration with AWS KMS for encryption</a:t>
            </a:r>
            <a:endParaRPr lang="en-US" sz="1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315968"/>
            <a:ext cx="6409944" cy="133502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879592"/>
            <a:ext cx="6409944" cy="133502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4315968"/>
            <a:ext cx="6409944" cy="133502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072" y="5879592"/>
            <a:ext cx="6409944" cy="133502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700016"/>
            <a:ext cx="6446520" cy="96926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263640"/>
            <a:ext cx="6446520" cy="96926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4700016"/>
            <a:ext cx="6446520" cy="96926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5784" y="6263640"/>
            <a:ext cx="6446520" cy="96926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590288"/>
            <a:ext cx="6446520" cy="14630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6144768"/>
            <a:ext cx="6446520" cy="14630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784" y="4590288"/>
            <a:ext cx="6446520" cy="146304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784" y="6144768"/>
            <a:ext cx="6446520" cy="14630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4315968"/>
            <a:ext cx="685800" cy="6858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0" y="5879592"/>
            <a:ext cx="685800" cy="685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144" y="4315968"/>
            <a:ext cx="685800" cy="685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144" y="5879592"/>
            <a:ext cx="685800" cy="6858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795528" y="335584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5. Types of Secrets You Can Store</a:t>
            </a:r>
            <a:endParaRPr lang="en-US" sz="4460" dirty="0"/>
          </a:p>
        </p:txBody>
      </p:sp>
      <p:sp>
        <p:nvSpPr>
          <p:cNvPr id="21" name="Text 1"/>
          <p:cNvSpPr/>
          <p:nvPr/>
        </p:nvSpPr>
        <p:spPr>
          <a:xfrm>
            <a:off x="1042416" y="5065776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Database credentials (MySQL, PostgreSQL, RDS, Aurora)</a:t>
            </a:r>
            <a:endParaRPr lang="en-US" sz="1780" dirty="0"/>
          </a:p>
        </p:txBody>
      </p:sp>
      <p:sp>
        <p:nvSpPr>
          <p:cNvPr id="22" name="Text 2"/>
          <p:cNvSpPr/>
          <p:nvPr/>
        </p:nvSpPr>
        <p:spPr>
          <a:xfrm>
            <a:off x="3922776" y="447141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140" dirty="0"/>
          </a:p>
        </p:txBody>
      </p:sp>
      <p:sp>
        <p:nvSpPr>
          <p:cNvPr id="23" name="Text 3"/>
          <p:cNvSpPr/>
          <p:nvPr/>
        </p:nvSpPr>
        <p:spPr>
          <a:xfrm>
            <a:off x="1042416" y="662940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Third-party service credentials</a:t>
            </a:r>
            <a:endParaRPr lang="en-US" sz="1780" dirty="0"/>
          </a:p>
        </p:txBody>
      </p:sp>
      <p:sp>
        <p:nvSpPr>
          <p:cNvPr id="24" name="Text 4"/>
          <p:cNvSpPr/>
          <p:nvPr/>
        </p:nvSpPr>
        <p:spPr>
          <a:xfrm>
            <a:off x="3922776" y="603504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2140" dirty="0"/>
          </a:p>
        </p:txBody>
      </p:sp>
      <p:sp>
        <p:nvSpPr>
          <p:cNvPr id="25" name="Text 5"/>
          <p:cNvSpPr/>
          <p:nvPr/>
        </p:nvSpPr>
        <p:spPr>
          <a:xfrm>
            <a:off x="7671816" y="5065776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API keys or OAuth tokens</a:t>
            </a:r>
            <a:endParaRPr lang="en-US" sz="1780" dirty="0"/>
          </a:p>
        </p:txBody>
      </p:sp>
      <p:sp>
        <p:nvSpPr>
          <p:cNvPr id="26" name="Text 6"/>
          <p:cNvSpPr/>
          <p:nvPr/>
        </p:nvSpPr>
        <p:spPr>
          <a:xfrm>
            <a:off x="7671816" y="6629400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SSH keys or custom application passwords</a:t>
            </a:r>
            <a:endParaRPr lang="en-US" sz="1780" dirty="0"/>
          </a:p>
        </p:txBody>
      </p:sp>
      <p:sp>
        <p:nvSpPr>
          <p:cNvPr id="27" name="Text 7"/>
          <p:cNvSpPr/>
          <p:nvPr/>
        </p:nvSpPr>
        <p:spPr>
          <a:xfrm>
            <a:off x="10561320" y="4471416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140" dirty="0"/>
          </a:p>
        </p:txBody>
      </p:sp>
      <p:sp>
        <p:nvSpPr>
          <p:cNvPr id="28" name="Text 8"/>
          <p:cNvSpPr/>
          <p:nvPr/>
        </p:nvSpPr>
        <p:spPr>
          <a:xfrm>
            <a:off x="10561320" y="6035040"/>
            <a:ext cx="164592" cy="3749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70"/>
              </a:lnSpc>
              <a:buNone/>
            </a:pPr>
            <a:r>
              <a:rPr lang="en-US" sz="214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2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5111496"/>
            <a:ext cx="6327648" cy="85953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6163056"/>
            <a:ext cx="6327648" cy="85953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5111496"/>
            <a:ext cx="6327648" cy="85953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4656" y="6163056"/>
            <a:ext cx="6327648" cy="85953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111496"/>
            <a:ext cx="146304" cy="85953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163056"/>
            <a:ext cx="146304" cy="85953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5111496"/>
            <a:ext cx="146304" cy="8595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5784" y="6163056"/>
            <a:ext cx="146304" cy="859536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795528" y="3566160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6. Architecture Overview</a:t>
            </a:r>
            <a:endParaRPr lang="en-US" sz="4460" dirty="0"/>
          </a:p>
        </p:txBody>
      </p:sp>
      <p:sp>
        <p:nvSpPr>
          <p:cNvPr id="13" name="Text 1"/>
          <p:cNvSpPr/>
          <p:nvPr/>
        </p:nvSpPr>
        <p:spPr>
          <a:xfrm>
            <a:off x="795528" y="4526280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integrates with:</a:t>
            </a:r>
            <a:endParaRPr lang="en-US" sz="1780" dirty="0"/>
          </a:p>
        </p:txBody>
      </p:sp>
      <p:sp>
        <p:nvSpPr>
          <p:cNvPr id="14" name="Text 2"/>
          <p:cNvSpPr/>
          <p:nvPr/>
        </p:nvSpPr>
        <p:spPr>
          <a:xfrm>
            <a:off x="1133856" y="5367528"/>
            <a:ext cx="58338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KMS for encryption</a:t>
            </a:r>
            <a:endParaRPr lang="en-US" sz="1780" dirty="0"/>
          </a:p>
        </p:txBody>
      </p:sp>
      <p:sp>
        <p:nvSpPr>
          <p:cNvPr id="15" name="Text 3"/>
          <p:cNvSpPr/>
          <p:nvPr/>
        </p:nvSpPr>
        <p:spPr>
          <a:xfrm>
            <a:off x="1133856" y="6419088"/>
            <a:ext cx="58338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IAM for access control</a:t>
            </a:r>
            <a:endParaRPr lang="en-US" sz="1780" dirty="0"/>
          </a:p>
        </p:txBody>
      </p:sp>
      <p:sp>
        <p:nvSpPr>
          <p:cNvPr id="16" name="Text 4"/>
          <p:cNvSpPr/>
          <p:nvPr/>
        </p:nvSpPr>
        <p:spPr>
          <a:xfrm>
            <a:off x="7772400" y="5367528"/>
            <a:ext cx="58338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Lambda for secret rotation</a:t>
            </a:r>
            <a:endParaRPr lang="en-US" sz="1780" dirty="0"/>
          </a:p>
        </p:txBody>
      </p:sp>
      <p:sp>
        <p:nvSpPr>
          <p:cNvPr id="17" name="Text 5"/>
          <p:cNvSpPr/>
          <p:nvPr/>
        </p:nvSpPr>
        <p:spPr>
          <a:xfrm>
            <a:off x="7772400" y="6419088"/>
            <a:ext cx="583387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CloudTrail for audit logging\</a:t>
            </a:r>
            <a:endParaRPr lang="en-US" sz="1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172968"/>
            <a:ext cx="8101584" cy="15087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873752"/>
            <a:ext cx="8101584" cy="150876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3849624"/>
            <a:ext cx="8046720" cy="79552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" y="5550408"/>
            <a:ext cx="8046720" cy="795528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3154680"/>
            <a:ext cx="8101584" cy="71323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855464"/>
            <a:ext cx="8101584" cy="713232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1033272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7. Secret Rotation</a:t>
            </a:r>
            <a:endParaRPr lang="en-US" sz="4460" dirty="0"/>
          </a:p>
        </p:txBody>
      </p:sp>
      <p:sp>
        <p:nvSpPr>
          <p:cNvPr id="11" name="Text 1"/>
          <p:cNvSpPr/>
          <p:nvPr/>
        </p:nvSpPr>
        <p:spPr>
          <a:xfrm>
            <a:off x="795528" y="199339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Automatically changes credentials on a schedule.</a:t>
            </a:r>
            <a:endParaRPr lang="en-US" sz="1780" dirty="0"/>
          </a:p>
        </p:txBody>
      </p:sp>
      <p:sp>
        <p:nvSpPr>
          <p:cNvPr id="12" name="Text 2"/>
          <p:cNvSpPr/>
          <p:nvPr/>
        </p:nvSpPr>
        <p:spPr>
          <a:xfrm>
            <a:off x="795528" y="2587752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Rotation uses a Lambda function to update the secret in both:</a:t>
            </a:r>
            <a:endParaRPr lang="en-US" sz="1780" dirty="0"/>
          </a:p>
        </p:txBody>
      </p:sp>
      <p:sp>
        <p:nvSpPr>
          <p:cNvPr id="13" name="Text 3"/>
          <p:cNvSpPr/>
          <p:nvPr/>
        </p:nvSpPr>
        <p:spPr>
          <a:xfrm>
            <a:off x="1042416" y="4078224"/>
            <a:ext cx="7589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Secrets Manager</a:t>
            </a:r>
            <a:endParaRPr lang="en-US" sz="1780" dirty="0"/>
          </a:p>
        </p:txBody>
      </p:sp>
      <p:sp>
        <p:nvSpPr>
          <p:cNvPr id="14" name="Text 4"/>
          <p:cNvSpPr/>
          <p:nvPr/>
        </p:nvSpPr>
        <p:spPr>
          <a:xfrm>
            <a:off x="4736592" y="3282696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2670" dirty="0"/>
          </a:p>
        </p:txBody>
      </p:sp>
      <p:sp>
        <p:nvSpPr>
          <p:cNvPr id="15" name="Text 5"/>
          <p:cNvSpPr/>
          <p:nvPr/>
        </p:nvSpPr>
        <p:spPr>
          <a:xfrm>
            <a:off x="1042416" y="5779008"/>
            <a:ext cx="7589520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The target service (like RDS database)</a:t>
            </a:r>
            <a:endParaRPr lang="en-US" sz="1780" dirty="0"/>
          </a:p>
        </p:txBody>
      </p:sp>
      <p:sp>
        <p:nvSpPr>
          <p:cNvPr id="16" name="Text 6"/>
          <p:cNvSpPr/>
          <p:nvPr/>
        </p:nvSpPr>
        <p:spPr>
          <a:xfrm>
            <a:off x="795528" y="6620256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Reduces risk from long-lived credentials.</a:t>
            </a:r>
            <a:endParaRPr lang="en-US" sz="1780" dirty="0"/>
          </a:p>
        </p:txBody>
      </p:sp>
      <p:sp>
        <p:nvSpPr>
          <p:cNvPr id="17" name="Text 7"/>
          <p:cNvSpPr/>
          <p:nvPr/>
        </p:nvSpPr>
        <p:spPr>
          <a:xfrm>
            <a:off x="4736592" y="4983480"/>
            <a:ext cx="201168" cy="4663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67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26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" y="5266944"/>
            <a:ext cx="3154680" cy="1600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7368" y="5266944"/>
            <a:ext cx="3154680" cy="16002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5266944"/>
            <a:ext cx="3154680" cy="16002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16768" y="5266944"/>
            <a:ext cx="3154680" cy="16002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795528" y="3739896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8. Integration with AWS Services</a:t>
            </a:r>
            <a:endParaRPr lang="en-US" sz="4460" dirty="0"/>
          </a:p>
        </p:txBody>
      </p:sp>
      <p:sp>
        <p:nvSpPr>
          <p:cNvPr id="9" name="Text 1"/>
          <p:cNvSpPr/>
          <p:nvPr/>
        </p:nvSpPr>
        <p:spPr>
          <a:xfrm>
            <a:off x="795528" y="4700016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integrates seamlessly with:</a:t>
            </a:r>
            <a:endParaRPr lang="en-US" sz="1780" dirty="0"/>
          </a:p>
        </p:txBody>
      </p:sp>
      <p:sp>
        <p:nvSpPr>
          <p:cNvPr id="10" name="Text 2"/>
          <p:cNvSpPr/>
          <p:nvPr/>
        </p:nvSpPr>
        <p:spPr>
          <a:xfrm>
            <a:off x="1051560" y="555040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RDS / Aurora – Store and rotate DB credentials</a:t>
            </a:r>
            <a:endParaRPr lang="en-US" sz="1780" dirty="0"/>
          </a:p>
        </p:txBody>
      </p:sp>
      <p:sp>
        <p:nvSpPr>
          <p:cNvPr id="11" name="Text 3"/>
          <p:cNvSpPr/>
          <p:nvPr/>
        </p:nvSpPr>
        <p:spPr>
          <a:xfrm>
            <a:off x="4370832" y="555040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Lambda – Retrieve secrets for function authentication</a:t>
            </a:r>
            <a:endParaRPr lang="en-US" sz="1780" dirty="0"/>
          </a:p>
        </p:txBody>
      </p:sp>
      <p:sp>
        <p:nvSpPr>
          <p:cNvPr id="12" name="Text 4"/>
          <p:cNvSpPr/>
          <p:nvPr/>
        </p:nvSpPr>
        <p:spPr>
          <a:xfrm>
            <a:off x="7690104" y="555040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ECS / EKS – Use secrets in containers securely</a:t>
            </a:r>
            <a:endParaRPr lang="en-US" sz="1780" dirty="0"/>
          </a:p>
        </p:txBody>
      </p:sp>
      <p:sp>
        <p:nvSpPr>
          <p:cNvPr id="13" name="Text 5"/>
          <p:cNvSpPr/>
          <p:nvPr/>
        </p:nvSpPr>
        <p:spPr>
          <a:xfrm>
            <a:off x="11009376" y="5550408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EC2 / Application servers – Fetch secrets at runtime</a:t>
            </a:r>
            <a:endParaRPr lang="en-US" sz="1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85216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47688" y="1920240"/>
            <a:ext cx="71963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9. Access Control and Security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6647688" y="3593592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Access to secrets is controlled via AWS IAM policies.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6647688" y="4187952"/>
            <a:ext cx="7196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Supports resource-based policies (grant access to specific users/services).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6647688" y="512978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All requests are logged in AWS CloudTrail.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6647688" y="5724144"/>
            <a:ext cx="719632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Secrets are encrypted with KMS customer-managed keys (CMKs).</a:t>
            </a:r>
            <a:endParaRPr lang="en-US" sz="1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038344"/>
            <a:ext cx="6446520" cy="119786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5784" y="5038344"/>
            <a:ext cx="6446520" cy="119786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795528" y="3493008"/>
            <a:ext cx="13048488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10. Monitoring and Auditing</a:t>
            </a:r>
            <a:endParaRPr lang="en-US" sz="4460" dirty="0"/>
          </a:p>
        </p:txBody>
      </p:sp>
      <p:sp>
        <p:nvSpPr>
          <p:cNvPr id="7" name="Text 1"/>
          <p:cNvSpPr/>
          <p:nvPr/>
        </p:nvSpPr>
        <p:spPr>
          <a:xfrm>
            <a:off x="795528" y="446227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Integration with:</a:t>
            </a:r>
            <a:endParaRPr lang="en-US" sz="1780" dirty="0"/>
          </a:p>
        </p:txBody>
      </p:sp>
      <p:sp>
        <p:nvSpPr>
          <p:cNvPr id="8" name="Text 2"/>
          <p:cNvSpPr/>
          <p:nvPr/>
        </p:nvSpPr>
        <p:spPr>
          <a:xfrm>
            <a:off x="1042416" y="5294376"/>
            <a:ext cx="59253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CloudTrail – Logs all secret access and management actions</a:t>
            </a:r>
            <a:endParaRPr lang="en-US" sz="1780" dirty="0"/>
          </a:p>
        </p:txBody>
      </p:sp>
      <p:sp>
        <p:nvSpPr>
          <p:cNvPr id="9" name="Text 3"/>
          <p:cNvSpPr/>
          <p:nvPr/>
        </p:nvSpPr>
        <p:spPr>
          <a:xfrm>
            <a:off x="795528" y="6473952"/>
            <a:ext cx="13048488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Helps meet compliance and audit requirements.</a:t>
            </a:r>
            <a:endParaRPr lang="en-US" sz="1780" dirty="0"/>
          </a:p>
        </p:txBody>
      </p:sp>
      <p:sp>
        <p:nvSpPr>
          <p:cNvPr id="10" name="Text 4"/>
          <p:cNvSpPr/>
          <p:nvPr/>
        </p:nvSpPr>
        <p:spPr>
          <a:xfrm>
            <a:off x="7671816" y="5294376"/>
            <a:ext cx="592531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Amazon CloudWatch – Monitors API usage and errors</a:t>
            </a:r>
            <a:endParaRPr lang="en-US" sz="1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5870448"/>
            <a:ext cx="6473952" cy="13441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8352" y="5870448"/>
            <a:ext cx="6473952" cy="134416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52" y="6748272"/>
            <a:ext cx="6071616" cy="256032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6748272"/>
            <a:ext cx="6071616" cy="25603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" y="6053328"/>
            <a:ext cx="548640" cy="54864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2" y="6053328"/>
            <a:ext cx="548640" cy="54864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795528" y="3374136"/>
            <a:ext cx="13048488" cy="539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34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11. Pricing Overview</a:t>
            </a:r>
            <a:endParaRPr lang="en-US" sz="3340" dirty="0"/>
          </a:p>
        </p:txBody>
      </p:sp>
      <p:sp>
        <p:nvSpPr>
          <p:cNvPr id="11" name="Text 1"/>
          <p:cNvSpPr/>
          <p:nvPr/>
        </p:nvSpPr>
        <p:spPr>
          <a:xfrm>
            <a:off x="795528" y="4096512"/>
            <a:ext cx="130484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Charges per secret stored per month.</a:t>
            </a:r>
            <a:endParaRPr lang="en-US" sz="1330" dirty="0"/>
          </a:p>
        </p:txBody>
      </p:sp>
      <p:sp>
        <p:nvSpPr>
          <p:cNvPr id="12" name="Text 2"/>
          <p:cNvSpPr/>
          <p:nvPr/>
        </p:nvSpPr>
        <p:spPr>
          <a:xfrm>
            <a:off x="795528" y="4544568"/>
            <a:ext cx="130484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Additional cost per 10,000 API calls.</a:t>
            </a:r>
            <a:endParaRPr lang="en-US" sz="1330" dirty="0"/>
          </a:p>
        </p:txBody>
      </p:sp>
      <p:sp>
        <p:nvSpPr>
          <p:cNvPr id="13" name="Text 3"/>
          <p:cNvSpPr/>
          <p:nvPr/>
        </p:nvSpPr>
        <p:spPr>
          <a:xfrm>
            <a:off x="795528" y="4992624"/>
            <a:ext cx="130484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Automatic rotation and retrieval are included.</a:t>
            </a:r>
            <a:endParaRPr lang="en-US" sz="1330" dirty="0"/>
          </a:p>
        </p:txBody>
      </p:sp>
      <p:sp>
        <p:nvSpPr>
          <p:cNvPr id="14" name="Text 4"/>
          <p:cNvSpPr/>
          <p:nvPr/>
        </p:nvSpPr>
        <p:spPr>
          <a:xfrm>
            <a:off x="795528" y="5440680"/>
            <a:ext cx="1304848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Example:</a:t>
            </a:r>
            <a:endParaRPr lang="en-US" sz="1330" dirty="0"/>
          </a:p>
        </p:txBody>
      </p:sp>
      <p:sp>
        <p:nvSpPr>
          <p:cNvPr id="15" name="Text 5"/>
          <p:cNvSpPr/>
          <p:nvPr/>
        </p:nvSpPr>
        <p:spPr>
          <a:xfrm>
            <a:off x="1170432" y="617220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987552" y="6748272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$0.40 per secret/month</a:t>
            </a:r>
            <a:endParaRPr lang="en-US" sz="1330" dirty="0"/>
          </a:p>
        </p:txBody>
      </p:sp>
      <p:sp>
        <p:nvSpPr>
          <p:cNvPr id="17" name="Text 7"/>
          <p:cNvSpPr/>
          <p:nvPr/>
        </p:nvSpPr>
        <p:spPr>
          <a:xfrm>
            <a:off x="7781544" y="6172200"/>
            <a:ext cx="13716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8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8"/>
          <p:cNvSpPr/>
          <p:nvPr/>
        </p:nvSpPr>
        <p:spPr>
          <a:xfrm>
            <a:off x="7589520" y="6748272"/>
            <a:ext cx="607161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330" dirty="0">
                <a:solidFill>
                  <a:srgbClr val="2E2E2E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$0.05 per 10,000 API calls</a:t>
            </a:r>
            <a:endParaRPr lang="en-US" sz="13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328416"/>
            <a:ext cx="2569464" cy="187452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7872" y="3328416"/>
            <a:ext cx="2569464" cy="187452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394960"/>
            <a:ext cx="3959352" cy="119786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328416"/>
            <a:ext cx="2569464" cy="187452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8616" y="5394960"/>
            <a:ext cx="3959352" cy="1197864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795528" y="1664208"/>
            <a:ext cx="807415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12. Advantages of AWS Secrets Manager</a:t>
            </a:r>
            <a:endParaRPr lang="en-US" sz="4460" dirty="0"/>
          </a:p>
        </p:txBody>
      </p:sp>
      <p:sp>
        <p:nvSpPr>
          <p:cNvPr id="10" name="Text 1"/>
          <p:cNvSpPr/>
          <p:nvPr/>
        </p:nvSpPr>
        <p:spPr>
          <a:xfrm>
            <a:off x="1042416" y="3584448"/>
            <a:ext cx="20574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🔐 Strong encryption and centralized secret storage</a:t>
            </a:r>
            <a:endParaRPr lang="en-US" sz="1780" dirty="0"/>
          </a:p>
        </p:txBody>
      </p:sp>
      <p:sp>
        <p:nvSpPr>
          <p:cNvPr id="11" name="Text 2"/>
          <p:cNvSpPr/>
          <p:nvPr/>
        </p:nvSpPr>
        <p:spPr>
          <a:xfrm>
            <a:off x="3803904" y="3584448"/>
            <a:ext cx="2057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⚙️ Automatic rotation reduces human error</a:t>
            </a:r>
            <a:endParaRPr lang="en-US" sz="1780" dirty="0"/>
          </a:p>
        </p:txBody>
      </p:sp>
      <p:sp>
        <p:nvSpPr>
          <p:cNvPr id="12" name="Text 3"/>
          <p:cNvSpPr/>
          <p:nvPr/>
        </p:nvSpPr>
        <p:spPr>
          <a:xfrm>
            <a:off x="1042416" y="5650992"/>
            <a:ext cx="3438144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🧩 Scalable and fully managed</a:t>
            </a:r>
            <a:endParaRPr lang="en-US" sz="1780" dirty="0"/>
          </a:p>
        </p:txBody>
      </p:sp>
      <p:sp>
        <p:nvSpPr>
          <p:cNvPr id="13" name="Text 4"/>
          <p:cNvSpPr/>
          <p:nvPr/>
        </p:nvSpPr>
        <p:spPr>
          <a:xfrm>
            <a:off x="6574536" y="3584448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🔄 Easy integration with AWS services</a:t>
            </a:r>
            <a:endParaRPr lang="en-US" sz="1780" dirty="0"/>
          </a:p>
        </p:txBody>
      </p:sp>
      <p:sp>
        <p:nvSpPr>
          <p:cNvPr id="14" name="Text 5"/>
          <p:cNvSpPr/>
          <p:nvPr/>
        </p:nvSpPr>
        <p:spPr>
          <a:xfrm>
            <a:off x="5184648" y="5650992"/>
            <a:ext cx="3438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📋 Compliant with major security standards</a:t>
            </a:r>
            <a:endParaRPr lang="en-US" sz="1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62432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050792"/>
            <a:ext cx="6446520" cy="9509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148072"/>
            <a:ext cx="6446520" cy="95097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6254496"/>
            <a:ext cx="6446520" cy="95097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4050792"/>
            <a:ext cx="6446520" cy="95097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7496" y="5148072"/>
            <a:ext cx="6446520" cy="9509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306824"/>
            <a:ext cx="6473952" cy="69494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413248"/>
            <a:ext cx="6473952" cy="69494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6510528"/>
            <a:ext cx="6473952" cy="694944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4306824"/>
            <a:ext cx="6473952" cy="694944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88352" y="5413248"/>
            <a:ext cx="6473952" cy="694944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4233672"/>
            <a:ext cx="6473952" cy="109728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5330952"/>
            <a:ext cx="6473952" cy="109728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" y="6437376"/>
            <a:ext cx="6473952" cy="109728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4233672"/>
            <a:ext cx="6473952" cy="109728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88352" y="5330952"/>
            <a:ext cx="6473952" cy="10972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6472" y="4050792"/>
            <a:ext cx="484632" cy="48463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6472" y="5148072"/>
            <a:ext cx="484632" cy="48463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76472" y="6254496"/>
            <a:ext cx="484632" cy="484632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440" y="4050792"/>
            <a:ext cx="484632" cy="484632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78440" y="5148072"/>
            <a:ext cx="484632" cy="484632"/>
          </a:xfrm>
          <a:prstGeom prst="rect">
            <a:avLst/>
          </a:prstGeom>
        </p:spPr>
      </p:pic>
      <p:sp>
        <p:nvSpPr>
          <p:cNvPr id="24" name="Text 0"/>
          <p:cNvSpPr/>
          <p:nvPr/>
        </p:nvSpPr>
        <p:spPr>
          <a:xfrm>
            <a:off x="795528" y="3374136"/>
            <a:ext cx="13048488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2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13. Real-World Use Cases</a:t>
            </a:r>
            <a:endParaRPr lang="en-US" sz="3120" dirty="0"/>
          </a:p>
        </p:txBody>
      </p:sp>
      <p:sp>
        <p:nvSpPr>
          <p:cNvPr id="25" name="Text 1"/>
          <p:cNvSpPr/>
          <p:nvPr/>
        </p:nvSpPr>
        <p:spPr>
          <a:xfrm>
            <a:off x="969264" y="4581144"/>
            <a:ext cx="6099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Securely store database credentials for web apps</a:t>
            </a:r>
            <a:endParaRPr lang="en-US" sz="1250" dirty="0"/>
          </a:p>
        </p:txBody>
      </p:sp>
      <p:sp>
        <p:nvSpPr>
          <p:cNvPr id="26" name="Text 2"/>
          <p:cNvSpPr/>
          <p:nvPr/>
        </p:nvSpPr>
        <p:spPr>
          <a:xfrm>
            <a:off x="3968496" y="4160520"/>
            <a:ext cx="1097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Text 3"/>
          <p:cNvSpPr/>
          <p:nvPr/>
        </p:nvSpPr>
        <p:spPr>
          <a:xfrm>
            <a:off x="969264" y="5678424"/>
            <a:ext cx="6099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Enable automatic rotation for RDS and Aurora passwords</a:t>
            </a:r>
            <a:endParaRPr lang="en-US" sz="1250" dirty="0"/>
          </a:p>
        </p:txBody>
      </p:sp>
      <p:sp>
        <p:nvSpPr>
          <p:cNvPr id="28" name="Text 4"/>
          <p:cNvSpPr/>
          <p:nvPr/>
        </p:nvSpPr>
        <p:spPr>
          <a:xfrm>
            <a:off x="3968496" y="5257800"/>
            <a:ext cx="1097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5"/>
          <p:cNvSpPr/>
          <p:nvPr/>
        </p:nvSpPr>
        <p:spPr>
          <a:xfrm>
            <a:off x="969264" y="6784848"/>
            <a:ext cx="6099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Replace environment variables or hard-coded secrets</a:t>
            </a:r>
            <a:endParaRPr lang="en-US" sz="1250" dirty="0"/>
          </a:p>
        </p:txBody>
      </p:sp>
      <p:sp>
        <p:nvSpPr>
          <p:cNvPr id="30" name="Text 6"/>
          <p:cNvSpPr/>
          <p:nvPr/>
        </p:nvSpPr>
        <p:spPr>
          <a:xfrm>
            <a:off x="3968496" y="6364224"/>
            <a:ext cx="1097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7"/>
          <p:cNvSpPr/>
          <p:nvPr/>
        </p:nvSpPr>
        <p:spPr>
          <a:xfrm>
            <a:off x="7571232" y="4581144"/>
            <a:ext cx="6099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Manage API keys for third-party services</a:t>
            </a:r>
            <a:endParaRPr lang="en-US" sz="1250" dirty="0"/>
          </a:p>
        </p:txBody>
      </p:sp>
      <p:sp>
        <p:nvSpPr>
          <p:cNvPr id="32" name="Text 8"/>
          <p:cNvSpPr/>
          <p:nvPr/>
        </p:nvSpPr>
        <p:spPr>
          <a:xfrm>
            <a:off x="7571232" y="5678424"/>
            <a:ext cx="6099048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5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Use in CI/CD pipelines to protect credentials</a:t>
            </a:r>
            <a:endParaRPr lang="en-US" sz="1250" dirty="0"/>
          </a:p>
        </p:txBody>
      </p:sp>
      <p:sp>
        <p:nvSpPr>
          <p:cNvPr id="33" name="Text 9"/>
          <p:cNvSpPr/>
          <p:nvPr/>
        </p:nvSpPr>
        <p:spPr>
          <a:xfrm>
            <a:off x="10561320" y="4160520"/>
            <a:ext cx="1097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2</a:t>
            </a:r>
            <a:endParaRPr lang="en-US" sz="1500" dirty="0"/>
          </a:p>
        </p:txBody>
      </p:sp>
      <p:sp>
        <p:nvSpPr>
          <p:cNvPr id="34" name="Text 10"/>
          <p:cNvSpPr/>
          <p:nvPr/>
        </p:nvSpPr>
        <p:spPr>
          <a:xfrm>
            <a:off x="10561320" y="5257800"/>
            <a:ext cx="109728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dirty="0">
                <a:solidFill>
                  <a:srgbClr val="050505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4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9176" y="0"/>
            <a:ext cx="5230368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1636776"/>
            <a:ext cx="8074152" cy="7132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580"/>
              </a:lnSpc>
              <a:buNone/>
            </a:pPr>
            <a:r>
              <a:rPr lang="en-US" sz="44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14. Summary &amp; Q&amp;A</a:t>
            </a:r>
            <a:endParaRPr lang="en-US" sz="4460" dirty="0"/>
          </a:p>
        </p:txBody>
      </p:sp>
      <p:sp>
        <p:nvSpPr>
          <p:cNvPr id="5" name="Text 1"/>
          <p:cNvSpPr/>
          <p:nvPr/>
        </p:nvSpPr>
        <p:spPr>
          <a:xfrm>
            <a:off x="795528" y="2606040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Summary:</a:t>
            </a:r>
            <a:endParaRPr lang="en-US" sz="1780" dirty="0"/>
          </a:p>
        </p:txBody>
      </p:sp>
      <p:sp>
        <p:nvSpPr>
          <p:cNvPr id="6" name="Text 2"/>
          <p:cNvSpPr/>
          <p:nvPr/>
        </p:nvSpPr>
        <p:spPr>
          <a:xfrm>
            <a:off x="795528" y="3200400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AWS Secrets Manager securely stores, manages, and rotates sensitive information.</a:t>
            </a:r>
            <a:endParaRPr lang="en-US" sz="1780" dirty="0"/>
          </a:p>
        </p:txBody>
      </p:sp>
      <p:sp>
        <p:nvSpPr>
          <p:cNvPr id="7" name="Text 3"/>
          <p:cNvSpPr/>
          <p:nvPr/>
        </p:nvSpPr>
        <p:spPr>
          <a:xfrm>
            <a:off x="795528" y="4133088"/>
            <a:ext cx="8074152" cy="3474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integrates tightly with AWS KMS, IAM, and Lambda.</a:t>
            </a:r>
            <a:endParaRPr lang="en-US" sz="1780" dirty="0"/>
          </a:p>
        </p:txBody>
      </p:sp>
      <p:sp>
        <p:nvSpPr>
          <p:cNvPr id="8" name="Text 4"/>
          <p:cNvSpPr/>
          <p:nvPr/>
        </p:nvSpPr>
        <p:spPr>
          <a:xfrm>
            <a:off x="795528" y="4727448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It simplifies compliance, improves security, and reduces operational overhead.</a:t>
            </a:r>
            <a:endParaRPr lang="en-US" sz="1780" dirty="0"/>
          </a:p>
        </p:txBody>
      </p:sp>
      <p:sp>
        <p:nvSpPr>
          <p:cNvPr id="9" name="Text 5"/>
          <p:cNvSpPr/>
          <p:nvPr/>
        </p:nvSpPr>
        <p:spPr>
          <a:xfrm>
            <a:off x="795528" y="5669280"/>
            <a:ext cx="8074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Thank You!</a:t>
            </a:r>
            <a:endParaRPr lang="en-US" sz="1780" dirty="0"/>
          </a:p>
          <a:p>
            <a:pPr marL="0" indent="0" algn="l">
              <a:lnSpc>
                <a:spcPts val="2230"/>
              </a:lnSpc>
              <a:buNone/>
            </a:pPr>
            <a:r>
              <a:rPr lang="en-US" sz="1780" dirty="0">
                <a:solidFill>
                  <a:srgbClr val="DBDBDB"/>
                </a:solidFill>
                <a:latin typeface="思源黑体-思源黑体-Medium" pitchFamily="34" charset="0"/>
                <a:ea typeface="思源黑体-思源黑体-Medium" pitchFamily="34" charset="-122"/>
                <a:cs typeface="思源黑体-思源黑体-Medium" pitchFamily="34" charset="-120"/>
              </a:rPr>
              <a:t>Questions? 💬</a:t>
            </a:r>
            <a:endParaRPr lang="en-US" sz="1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5528" y="3502152"/>
            <a:ext cx="13048488" cy="9784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6160" dirty="0">
                <a:solidFill>
                  <a:srgbClr val="77D8F2"/>
                </a:solidFill>
                <a:latin typeface="AlibabaPuHuiTi-Alibaba-PuHuiTi" pitchFamily="34" charset="0"/>
                <a:ea typeface="AlibabaPuHuiTi-Alibaba-PuHuiTi" pitchFamily="34" charset="-122"/>
                <a:cs typeface="AlibabaPuHuiTi-Alibaba-PuHuiTi" pitchFamily="34" charset="-120"/>
              </a:rPr>
              <a:t>Thank You</a:t>
            </a:r>
            <a:endParaRPr lang="en-US" sz="61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713</Words>
  <Application>Microsoft Office PowerPoint</Application>
  <PresentationFormat>Custom</PresentationFormat>
  <Paragraphs>136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AlibabaPuHuiTi-Alibaba-PuHuiTi</vt:lpstr>
      <vt:lpstr>Arial</vt:lpstr>
      <vt:lpstr>思源黑体-思源黑体-Medium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Mukesh S</cp:lastModifiedBy>
  <cp:revision>2</cp:revision>
  <dcterms:created xsi:type="dcterms:W3CDTF">2025-11-04T17:12:26Z</dcterms:created>
  <dcterms:modified xsi:type="dcterms:W3CDTF">2025-11-04T17:14:22Z</dcterms:modified>
</cp:coreProperties>
</file>