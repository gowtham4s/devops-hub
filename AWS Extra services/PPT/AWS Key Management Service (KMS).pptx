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160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099048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6099048"/>
            <a:ext cx="235000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Author: Gowtham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492240"/>
            <a:ext cx="23500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Key Management Service (KMS)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658368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CONTENTS</a:t>
            </a:r>
            <a:endParaRPr lang="en-US" sz="6160" dirty="0"/>
          </a:p>
        </p:txBody>
      </p:sp>
      <p:sp>
        <p:nvSpPr>
          <p:cNvPr id="5" name="Text 1"/>
          <p:cNvSpPr/>
          <p:nvPr/>
        </p:nvSpPr>
        <p:spPr>
          <a:xfrm>
            <a:off x="1024128" y="212140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KMS?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1024128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How AWS KMS Works</a:t>
            </a:r>
            <a:endParaRPr lang="en-US" sz="2230" dirty="0"/>
          </a:p>
        </p:txBody>
      </p:sp>
      <p:sp>
        <p:nvSpPr>
          <p:cNvPr id="7" name="Text 3"/>
          <p:cNvSpPr/>
          <p:nvPr/>
        </p:nvSpPr>
        <p:spPr>
          <a:xfrm>
            <a:off x="4343400" y="2121408"/>
            <a:ext cx="26426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is Key Management Important?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24128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Access Control and Security</a:t>
            </a:r>
            <a:endParaRPr lang="en-US" sz="2230" dirty="0"/>
          </a:p>
        </p:txBody>
      </p:sp>
      <p:sp>
        <p:nvSpPr>
          <p:cNvPr id="9" name="Text 5"/>
          <p:cNvSpPr/>
          <p:nvPr/>
        </p:nvSpPr>
        <p:spPr>
          <a:xfrm>
            <a:off x="4343400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AWS KMS Architecture</a:t>
            </a:r>
            <a:endParaRPr lang="en-US" sz="2230" dirty="0"/>
          </a:p>
        </p:txBody>
      </p:sp>
      <p:sp>
        <p:nvSpPr>
          <p:cNvPr id="10" name="Text 6"/>
          <p:cNvSpPr/>
          <p:nvPr/>
        </p:nvSpPr>
        <p:spPr>
          <a:xfrm>
            <a:off x="1024128" y="664768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Benefits of Using AWS KMS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343400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Key Rotation and Lifecycle</a:t>
            </a:r>
            <a:endParaRPr lang="en-US" sz="2230" dirty="0"/>
          </a:p>
        </p:txBody>
      </p:sp>
      <p:sp>
        <p:nvSpPr>
          <p:cNvPr id="12" name="Text 8"/>
          <p:cNvSpPr/>
          <p:nvPr/>
        </p:nvSpPr>
        <p:spPr>
          <a:xfrm>
            <a:off x="4343400" y="664768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2230" dirty="0"/>
          </a:p>
        </p:txBody>
      </p:sp>
      <p:sp>
        <p:nvSpPr>
          <p:cNvPr id="13" name="Text 9"/>
          <p:cNvSpPr/>
          <p:nvPr/>
        </p:nvSpPr>
        <p:spPr>
          <a:xfrm>
            <a:off x="7662672" y="212140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What Does AWS KMS Do?</a:t>
            </a:r>
            <a:endParaRPr lang="en-US" sz="2230" dirty="0"/>
          </a:p>
        </p:txBody>
      </p:sp>
      <p:sp>
        <p:nvSpPr>
          <p:cNvPr id="14" name="Text 10"/>
          <p:cNvSpPr/>
          <p:nvPr/>
        </p:nvSpPr>
        <p:spPr>
          <a:xfrm>
            <a:off x="7662672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Types of Keys in AWS KMS</a:t>
            </a:r>
            <a:endParaRPr lang="en-US" sz="2230" dirty="0"/>
          </a:p>
        </p:txBody>
      </p:sp>
      <p:sp>
        <p:nvSpPr>
          <p:cNvPr id="15" name="Text 11"/>
          <p:cNvSpPr/>
          <p:nvPr/>
        </p:nvSpPr>
        <p:spPr>
          <a:xfrm>
            <a:off x="7662672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Monitoring and Auditing</a:t>
            </a:r>
            <a:endParaRPr lang="en-US" sz="2230" dirty="0"/>
          </a:p>
        </p:txBody>
      </p:sp>
      <p:sp>
        <p:nvSpPr>
          <p:cNvPr id="16" name="Text 12"/>
          <p:cNvSpPr/>
          <p:nvPr/>
        </p:nvSpPr>
        <p:spPr>
          <a:xfrm>
            <a:off x="10972800" y="212140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Key Concepts in AWS KMS</a:t>
            </a:r>
            <a:endParaRPr lang="en-US" sz="2230" dirty="0"/>
          </a:p>
        </p:txBody>
      </p:sp>
      <p:sp>
        <p:nvSpPr>
          <p:cNvPr id="17" name="Text 13"/>
          <p:cNvSpPr/>
          <p:nvPr/>
        </p:nvSpPr>
        <p:spPr>
          <a:xfrm>
            <a:off x="10972800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Other AWS Services</a:t>
            </a:r>
            <a:endParaRPr lang="en-US" sz="2230" dirty="0"/>
          </a:p>
        </p:txBody>
      </p:sp>
      <p:sp>
        <p:nvSpPr>
          <p:cNvPr id="18" name="Text 14"/>
          <p:cNvSpPr/>
          <p:nvPr/>
        </p:nvSpPr>
        <p:spPr>
          <a:xfrm>
            <a:off x="10972800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Pricing Overview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611880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KMS?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4572000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KMS stands for Key Management Service.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5166360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It’s a fully managed encryption service provided by AWS.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5760720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Helps you create, manage, and control cryptographic keys used to protect your data.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6364224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Integrated with many AWS services like S3, EBS, and RDS.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1920240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is Key Management Important?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59359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Protects sensitive data using encryption keys.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6647688" y="418795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Prevents unauthorized access or data leaks.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6647688" y="4791456"/>
            <a:ext cx="7196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Helps meet security and compliance standards (like GDPR, HIPAA, PCI DSS).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6647688" y="572414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Ensures data privacy and integrity in cloud environments.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1920240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What Does AWS KMS Do?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593592"/>
            <a:ext cx="7196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Creates and manages encryption keys (Customer Master Keys - CMKs).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6647688" y="453542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Encrypts and decrypts data on demand.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6647688" y="512978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Manages key rotation and policies.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6647688" y="572414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Integrates with other AWS services for secure data handling.</a:t>
            </a:r>
            <a:endParaRPr lang="en-US" sz="1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825496"/>
            <a:ext cx="3520440" cy="203911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065776"/>
            <a:ext cx="3520440" cy="202996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825496"/>
            <a:ext cx="3520440" cy="203911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5065776"/>
            <a:ext cx="3520440" cy="202996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647688" y="1170432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Key Concepts in AWS KMS</a:t>
            </a:r>
            <a:endParaRPr lang="en-US" sz="4460" dirty="0"/>
          </a:p>
        </p:txBody>
      </p:sp>
      <p:sp>
        <p:nvSpPr>
          <p:cNvPr id="9" name="Text 1"/>
          <p:cNvSpPr/>
          <p:nvPr/>
        </p:nvSpPr>
        <p:spPr>
          <a:xfrm>
            <a:off x="6894576" y="3081528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CMK (Customer Master Key)</a:t>
            </a:r>
            <a:endParaRPr lang="en-US" sz="2230" dirty="0"/>
          </a:p>
        </p:txBody>
      </p:sp>
      <p:sp>
        <p:nvSpPr>
          <p:cNvPr id="10" name="Text 2"/>
          <p:cNvSpPr/>
          <p:nvPr/>
        </p:nvSpPr>
        <p:spPr>
          <a:xfrm>
            <a:off x="6894576" y="39319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Main key used to encrypt/decrypt data keys.</a:t>
            </a:r>
            <a:endParaRPr lang="en-US" sz="1780" dirty="0"/>
          </a:p>
        </p:txBody>
      </p:sp>
      <p:sp>
        <p:nvSpPr>
          <p:cNvPr id="11" name="Text 3"/>
          <p:cNvSpPr/>
          <p:nvPr/>
        </p:nvSpPr>
        <p:spPr>
          <a:xfrm>
            <a:off x="6894576" y="5321808"/>
            <a:ext cx="299923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Key Policy</a:t>
            </a:r>
            <a:endParaRPr lang="en-US" sz="2230" dirty="0"/>
          </a:p>
        </p:txBody>
      </p:sp>
      <p:sp>
        <p:nvSpPr>
          <p:cNvPr id="12" name="Text 4"/>
          <p:cNvSpPr/>
          <p:nvPr/>
        </p:nvSpPr>
        <p:spPr>
          <a:xfrm>
            <a:off x="6894576" y="58064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Defines who can use or manage a key.</a:t>
            </a:r>
            <a:endParaRPr lang="en-US" sz="1780" dirty="0"/>
          </a:p>
        </p:txBody>
      </p:sp>
      <p:sp>
        <p:nvSpPr>
          <p:cNvPr id="13" name="Text 5"/>
          <p:cNvSpPr/>
          <p:nvPr/>
        </p:nvSpPr>
        <p:spPr>
          <a:xfrm>
            <a:off x="10597896" y="3081528"/>
            <a:ext cx="299923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Data Key</a:t>
            </a:r>
            <a:endParaRPr lang="en-US" sz="2230" dirty="0"/>
          </a:p>
        </p:txBody>
      </p:sp>
      <p:sp>
        <p:nvSpPr>
          <p:cNvPr id="14" name="Text 6"/>
          <p:cNvSpPr/>
          <p:nvPr/>
        </p:nvSpPr>
        <p:spPr>
          <a:xfrm>
            <a:off x="10597896" y="3575304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Temporary key used to encrypt actual data.</a:t>
            </a:r>
            <a:endParaRPr lang="en-US" sz="1780" dirty="0"/>
          </a:p>
        </p:txBody>
      </p:sp>
      <p:sp>
        <p:nvSpPr>
          <p:cNvPr id="15" name="Text 7"/>
          <p:cNvSpPr/>
          <p:nvPr/>
        </p:nvSpPr>
        <p:spPr>
          <a:xfrm>
            <a:off x="10597896" y="5321808"/>
            <a:ext cx="299923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Envelope Encryption</a:t>
            </a:r>
            <a:endParaRPr lang="en-US" sz="2230" dirty="0"/>
          </a:p>
        </p:txBody>
      </p:sp>
      <p:sp>
        <p:nvSpPr>
          <p:cNvPr id="16" name="Text 8"/>
          <p:cNvSpPr/>
          <p:nvPr/>
        </p:nvSpPr>
        <p:spPr>
          <a:xfrm>
            <a:off x="10597896" y="5806440"/>
            <a:ext cx="29992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Data is encrypted with a data key, which is encrypted by a CMK.</a:t>
            </a:r>
            <a:endParaRPr lang="en-US" sz="1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185623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How AWS KMS Works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281635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create a CMK in KMS.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6647688" y="341071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When data needs to be encrypted: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6647688" y="400507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KMS generates a data key.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6647688" y="459943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data key encrypts your data.</a:t>
            </a:r>
            <a:endParaRPr lang="en-US" sz="1780" dirty="0"/>
          </a:p>
        </p:txBody>
      </p:sp>
      <p:sp>
        <p:nvSpPr>
          <p:cNvPr id="9" name="Text 5"/>
          <p:cNvSpPr/>
          <p:nvPr/>
        </p:nvSpPr>
        <p:spPr>
          <a:xfrm>
            <a:off x="6647688" y="519379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CMK encrypts the data key (envelope encryption).</a:t>
            </a:r>
            <a:endParaRPr lang="en-US" sz="1780" dirty="0"/>
          </a:p>
        </p:txBody>
      </p:sp>
      <p:sp>
        <p:nvSpPr>
          <p:cNvPr id="10" name="Text 6"/>
          <p:cNvSpPr/>
          <p:nvPr/>
        </p:nvSpPr>
        <p:spPr>
          <a:xfrm>
            <a:off x="6647688" y="5797296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When decrypting, KMS reverses this process.</a:t>
            </a:r>
            <a:endParaRPr lang="en-US" sz="1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90448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AWS KMS Architecture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487375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Application requests encryption via AWS SDK/API.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546811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KMS handles key usage and access control.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606247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Encrypted data stored in AWS services like S3, EBS, or RDS.</a:t>
            </a:r>
            <a:endParaRPr lang="en-US" sz="1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389120"/>
            <a:ext cx="4233672" cy="2761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936" y="4389120"/>
            <a:ext cx="4233672" cy="2761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4389120"/>
            <a:ext cx="4233672" cy="2761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065776"/>
            <a:ext cx="4169664" cy="204825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9512" y="5065776"/>
            <a:ext cx="4169664" cy="20482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5065776"/>
            <a:ext cx="4169664" cy="204825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370832"/>
            <a:ext cx="4233672" cy="71323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2936" y="4370832"/>
            <a:ext cx="4233672" cy="71323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8632" y="4370832"/>
            <a:ext cx="4233672" cy="713232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95528" y="3438144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Types of Keys in AWS KMS</a:t>
            </a:r>
            <a:endParaRPr lang="en-US" sz="4460" dirty="0"/>
          </a:p>
        </p:txBody>
      </p:sp>
      <p:sp>
        <p:nvSpPr>
          <p:cNvPr id="14" name="Text 1"/>
          <p:cNvSpPr/>
          <p:nvPr/>
        </p:nvSpPr>
        <p:spPr>
          <a:xfrm>
            <a:off x="2798064" y="4498848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5" name="Text 2"/>
          <p:cNvSpPr/>
          <p:nvPr/>
        </p:nvSpPr>
        <p:spPr>
          <a:xfrm>
            <a:off x="1042416" y="5294376"/>
            <a:ext cx="37216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Managed Keys</a:t>
            </a:r>
            <a:endParaRPr lang="en-US" sz="2230" dirty="0"/>
          </a:p>
        </p:txBody>
      </p:sp>
      <p:sp>
        <p:nvSpPr>
          <p:cNvPr id="16" name="Text 3"/>
          <p:cNvSpPr/>
          <p:nvPr/>
        </p:nvSpPr>
        <p:spPr>
          <a:xfrm>
            <a:off x="1042416" y="5852160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Created and managed automatically by AWS.</a:t>
            </a:r>
            <a:endParaRPr lang="en-US" sz="1780" dirty="0"/>
          </a:p>
        </p:txBody>
      </p:sp>
      <p:sp>
        <p:nvSpPr>
          <p:cNvPr id="17" name="Text 4"/>
          <p:cNvSpPr/>
          <p:nvPr/>
        </p:nvSpPr>
        <p:spPr>
          <a:xfrm>
            <a:off x="5458968" y="529437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Customer Managed Keys (CMK)</a:t>
            </a:r>
            <a:endParaRPr lang="en-US" sz="2230" dirty="0"/>
          </a:p>
        </p:txBody>
      </p:sp>
      <p:sp>
        <p:nvSpPr>
          <p:cNvPr id="18" name="Text 5"/>
          <p:cNvSpPr/>
          <p:nvPr/>
        </p:nvSpPr>
        <p:spPr>
          <a:xfrm>
            <a:off x="5458968" y="6208776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Created and managed by the user — full control.</a:t>
            </a:r>
            <a:endParaRPr lang="en-US" sz="1780" dirty="0"/>
          </a:p>
        </p:txBody>
      </p:sp>
      <p:sp>
        <p:nvSpPr>
          <p:cNvPr id="19" name="Text 6"/>
          <p:cNvSpPr/>
          <p:nvPr/>
        </p:nvSpPr>
        <p:spPr>
          <a:xfrm>
            <a:off x="7223760" y="4498848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0" name="Text 7"/>
          <p:cNvSpPr/>
          <p:nvPr/>
        </p:nvSpPr>
        <p:spPr>
          <a:xfrm>
            <a:off x="9884664" y="5294376"/>
            <a:ext cx="37216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Owned Keys</a:t>
            </a:r>
            <a:endParaRPr lang="en-US" sz="2230" dirty="0"/>
          </a:p>
        </p:txBody>
      </p:sp>
      <p:sp>
        <p:nvSpPr>
          <p:cNvPr id="21" name="Text 8"/>
          <p:cNvSpPr/>
          <p:nvPr/>
        </p:nvSpPr>
        <p:spPr>
          <a:xfrm>
            <a:off x="9884664" y="5852160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Managed entirely by AWS for internal service use.</a:t>
            </a:r>
            <a:endParaRPr lang="en-US" sz="1780" dirty="0"/>
          </a:p>
        </p:txBody>
      </p:sp>
      <p:sp>
        <p:nvSpPr>
          <p:cNvPr id="22" name="Text 9"/>
          <p:cNvSpPr/>
          <p:nvPr/>
        </p:nvSpPr>
        <p:spPr>
          <a:xfrm>
            <a:off x="11649456" y="4498848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749040"/>
            <a:ext cx="2313432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5504688"/>
            <a:ext cx="3547872" cy="12618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3749040"/>
            <a:ext cx="2313432" cy="1600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0" y="5504688"/>
            <a:ext cx="3547872" cy="126187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0" y="3749040"/>
            <a:ext cx="2313432" cy="1600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647688" y="1508760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Other AWS Services</a:t>
            </a:r>
            <a:endParaRPr lang="en-US" sz="4460" dirty="0"/>
          </a:p>
        </p:txBody>
      </p:sp>
      <p:sp>
        <p:nvSpPr>
          <p:cNvPr id="10" name="Text 1"/>
          <p:cNvSpPr/>
          <p:nvPr/>
        </p:nvSpPr>
        <p:spPr>
          <a:xfrm>
            <a:off x="6647688" y="318211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KMS integrates with:</a:t>
            </a:r>
            <a:endParaRPr lang="en-US" sz="1780" dirty="0"/>
          </a:p>
        </p:txBody>
      </p:sp>
      <p:sp>
        <p:nvSpPr>
          <p:cNvPr id="11" name="Text 2"/>
          <p:cNvSpPr/>
          <p:nvPr/>
        </p:nvSpPr>
        <p:spPr>
          <a:xfrm>
            <a:off x="6903720" y="4032504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S3 – Encrypt data at rest</a:t>
            </a:r>
            <a:endParaRPr lang="en-US" sz="1780" dirty="0"/>
          </a:p>
        </p:txBody>
      </p:sp>
      <p:sp>
        <p:nvSpPr>
          <p:cNvPr id="12" name="Text 3"/>
          <p:cNvSpPr/>
          <p:nvPr/>
        </p:nvSpPr>
        <p:spPr>
          <a:xfrm>
            <a:off x="6903720" y="579729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Lambda – Secure environment variables</a:t>
            </a:r>
            <a:endParaRPr lang="en-US" sz="1780" dirty="0"/>
          </a:p>
        </p:txBody>
      </p:sp>
      <p:sp>
        <p:nvSpPr>
          <p:cNvPr id="13" name="Text 4"/>
          <p:cNvSpPr/>
          <p:nvPr/>
        </p:nvSpPr>
        <p:spPr>
          <a:xfrm>
            <a:off x="9381744" y="4032504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EBS – Encrypt storage volumes</a:t>
            </a:r>
            <a:endParaRPr lang="en-US" sz="1780" dirty="0"/>
          </a:p>
        </p:txBody>
      </p:sp>
      <p:sp>
        <p:nvSpPr>
          <p:cNvPr id="14" name="Text 5"/>
          <p:cNvSpPr/>
          <p:nvPr/>
        </p:nvSpPr>
        <p:spPr>
          <a:xfrm>
            <a:off x="10616184" y="579729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Secrets Manager – Encrypt secrets</a:t>
            </a:r>
            <a:endParaRPr lang="en-US" sz="1780" dirty="0"/>
          </a:p>
        </p:txBody>
      </p:sp>
      <p:sp>
        <p:nvSpPr>
          <p:cNvPr id="15" name="Text 6"/>
          <p:cNvSpPr/>
          <p:nvPr/>
        </p:nvSpPr>
        <p:spPr>
          <a:xfrm>
            <a:off x="11850624" y="4032504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RDS – Encrypt databases</a:t>
            </a:r>
            <a:endParaRPr lang="en-US" sz="1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450592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Access Control and Security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41071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Controlled using IAM policies and Key Policies.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00507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can define who can use or manage a key.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59943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Supports multi-region keys for global workloads.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519379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Logs all operations via AWS CloudTrail.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889504"/>
            <a:ext cx="7223760" cy="11978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279392"/>
            <a:ext cx="7223760" cy="8595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321808"/>
            <a:ext cx="7223760" cy="85953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647688" y="1225296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Key Rotation and Lifecycle</a:t>
            </a:r>
            <a:endParaRPr lang="en-US" sz="4460" dirty="0"/>
          </a:p>
        </p:txBody>
      </p:sp>
      <p:sp>
        <p:nvSpPr>
          <p:cNvPr id="8" name="Text 1"/>
          <p:cNvSpPr/>
          <p:nvPr/>
        </p:nvSpPr>
        <p:spPr>
          <a:xfrm>
            <a:off x="6894576" y="3145536"/>
            <a:ext cx="6711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Automatic rotation: KMS can rotate keys every year automatically.</a:t>
            </a:r>
            <a:endParaRPr lang="en-US" sz="1780" dirty="0"/>
          </a:p>
        </p:txBody>
      </p:sp>
      <p:sp>
        <p:nvSpPr>
          <p:cNvPr id="9" name="Text 2"/>
          <p:cNvSpPr/>
          <p:nvPr/>
        </p:nvSpPr>
        <p:spPr>
          <a:xfrm>
            <a:off x="6894576" y="4535424"/>
            <a:ext cx="67116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Manual rotation: You can create new versions anytime.</a:t>
            </a:r>
            <a:endParaRPr lang="en-US" sz="1780" dirty="0"/>
          </a:p>
        </p:txBody>
      </p:sp>
      <p:sp>
        <p:nvSpPr>
          <p:cNvPr id="10" name="Text 3"/>
          <p:cNvSpPr/>
          <p:nvPr/>
        </p:nvSpPr>
        <p:spPr>
          <a:xfrm>
            <a:off x="6894576" y="5577840"/>
            <a:ext cx="67116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Old keys are kept for decrypting older data.</a:t>
            </a:r>
            <a:endParaRPr lang="en-US" sz="1780" dirty="0"/>
          </a:p>
        </p:txBody>
      </p:sp>
      <p:sp>
        <p:nvSpPr>
          <p:cNvPr id="11" name="Text 4"/>
          <p:cNvSpPr/>
          <p:nvPr/>
        </p:nvSpPr>
        <p:spPr>
          <a:xfrm>
            <a:off x="6647688" y="6419088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Helps maintain strong encryption hygiene.</a:t>
            </a:r>
            <a:endParaRPr lang="en-US" sz="1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971800"/>
            <a:ext cx="8101584" cy="16824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837176"/>
            <a:ext cx="8101584" cy="16824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078224"/>
            <a:ext cx="7616952" cy="3291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943600"/>
            <a:ext cx="7616952" cy="3291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3200400"/>
            <a:ext cx="676656" cy="6766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065776"/>
            <a:ext cx="676656" cy="676656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941832"/>
            <a:ext cx="8074152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Monitoring and Auditing</a:t>
            </a:r>
            <a:endParaRPr lang="en-US" sz="4240" dirty="0"/>
          </a:p>
        </p:txBody>
      </p:sp>
      <p:sp>
        <p:nvSpPr>
          <p:cNvPr id="11" name="Text 1"/>
          <p:cNvSpPr/>
          <p:nvPr/>
        </p:nvSpPr>
        <p:spPr>
          <a:xfrm>
            <a:off x="795528" y="1856232"/>
            <a:ext cx="80741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CloudTrail records all KMS API calls.</a:t>
            </a:r>
            <a:endParaRPr lang="en-US" sz="1690" dirty="0"/>
          </a:p>
        </p:txBody>
      </p:sp>
      <p:sp>
        <p:nvSpPr>
          <p:cNvPr id="12" name="Text 2"/>
          <p:cNvSpPr/>
          <p:nvPr/>
        </p:nvSpPr>
        <p:spPr>
          <a:xfrm>
            <a:off x="795528" y="2423160"/>
            <a:ext cx="80741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can track:</a:t>
            </a:r>
            <a:endParaRPr lang="en-US" sz="1690" dirty="0"/>
          </a:p>
        </p:txBody>
      </p:sp>
      <p:sp>
        <p:nvSpPr>
          <p:cNvPr id="13" name="Text 3"/>
          <p:cNvSpPr/>
          <p:nvPr/>
        </p:nvSpPr>
        <p:spPr>
          <a:xfrm>
            <a:off x="1271016" y="3346704"/>
            <a:ext cx="17373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40"/>
              </a:lnSpc>
              <a:buNone/>
            </a:pPr>
            <a:r>
              <a:rPr lang="en-US" sz="22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290" dirty="0"/>
          </a:p>
        </p:txBody>
      </p:sp>
      <p:sp>
        <p:nvSpPr>
          <p:cNvPr id="14" name="Text 4"/>
          <p:cNvSpPr/>
          <p:nvPr/>
        </p:nvSpPr>
        <p:spPr>
          <a:xfrm>
            <a:off x="1024128" y="4078224"/>
            <a:ext cx="76169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Who accessed a key</a:t>
            </a:r>
            <a:endParaRPr lang="en-US" sz="1690" dirty="0"/>
          </a:p>
        </p:txBody>
      </p:sp>
      <p:sp>
        <p:nvSpPr>
          <p:cNvPr id="15" name="Text 5"/>
          <p:cNvSpPr/>
          <p:nvPr/>
        </p:nvSpPr>
        <p:spPr>
          <a:xfrm>
            <a:off x="1271016" y="5202936"/>
            <a:ext cx="17373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40"/>
              </a:lnSpc>
              <a:buNone/>
            </a:pPr>
            <a:r>
              <a:rPr lang="en-US" sz="22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290" dirty="0"/>
          </a:p>
        </p:txBody>
      </p:sp>
      <p:sp>
        <p:nvSpPr>
          <p:cNvPr id="16" name="Text 6"/>
          <p:cNvSpPr/>
          <p:nvPr/>
        </p:nvSpPr>
        <p:spPr>
          <a:xfrm>
            <a:off x="1024128" y="5943600"/>
            <a:ext cx="76169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When and how it was used</a:t>
            </a:r>
            <a:endParaRPr lang="en-US" sz="1690" dirty="0"/>
          </a:p>
        </p:txBody>
      </p:sp>
      <p:sp>
        <p:nvSpPr>
          <p:cNvPr id="17" name="Text 7"/>
          <p:cNvSpPr/>
          <p:nvPr/>
        </p:nvSpPr>
        <p:spPr>
          <a:xfrm>
            <a:off x="795528" y="6739128"/>
            <a:ext cx="80741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Enables audit readiness and compliance reporting.</a:t>
            </a:r>
            <a:endParaRPr lang="en-US" sz="16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910328"/>
            <a:ext cx="6446520" cy="8595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4910328"/>
            <a:ext cx="6446520" cy="85953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95528" y="336499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Pricing Overview</a:t>
            </a:r>
            <a:endParaRPr lang="en-US" sz="4460" dirty="0"/>
          </a:p>
        </p:txBody>
      </p:sp>
      <p:sp>
        <p:nvSpPr>
          <p:cNvPr id="7" name="Text 1"/>
          <p:cNvSpPr/>
          <p:nvPr/>
        </p:nvSpPr>
        <p:spPr>
          <a:xfrm>
            <a:off x="795528" y="433425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Pay for:</a:t>
            </a:r>
            <a:endParaRPr lang="en-US" sz="1780" dirty="0"/>
          </a:p>
        </p:txBody>
      </p:sp>
      <p:sp>
        <p:nvSpPr>
          <p:cNvPr id="8" name="Text 2"/>
          <p:cNvSpPr/>
          <p:nvPr/>
        </p:nvSpPr>
        <p:spPr>
          <a:xfrm>
            <a:off x="1042416" y="5166360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Key creation and storage</a:t>
            </a: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6007608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Free tier includes 20,000 requests per month.</a:t>
            </a: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795528" y="6601968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Cost-effective for both small and large workloads.</a:t>
            </a:r>
            <a:endParaRPr lang="en-US" sz="1780" dirty="0"/>
          </a:p>
        </p:txBody>
      </p:sp>
      <p:sp>
        <p:nvSpPr>
          <p:cNvPr id="11" name="Text 5"/>
          <p:cNvSpPr/>
          <p:nvPr/>
        </p:nvSpPr>
        <p:spPr>
          <a:xfrm>
            <a:off x="7671816" y="5166360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requests (encrypt, decrypt, generate key)</a:t>
            </a:r>
            <a:endParaRPr lang="en-US" sz="1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792224"/>
            <a:ext cx="8074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Benefits of Using AWS KMS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465576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🔒 Strong security with FIPS 140-2 validated modules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059936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⚙️ Fully managed — no hardware or manual setup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66344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🔐 Seamless integration with AWS services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525780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💰 Pay-as-you-go pricing</a:t>
            </a:r>
            <a:endParaRPr lang="en-US" sz="1780" dirty="0"/>
          </a:p>
        </p:txBody>
      </p:sp>
      <p:sp>
        <p:nvSpPr>
          <p:cNvPr id="9" name="Text 5"/>
          <p:cNvSpPr/>
          <p:nvPr/>
        </p:nvSpPr>
        <p:spPr>
          <a:xfrm>
            <a:off x="795528" y="585216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📈 Scalable and compliant for all data protection needs</a:t>
            </a:r>
            <a:endParaRPr lang="en-US" sz="1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355848"/>
            <a:ext cx="13048488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740"/>
              </a:lnSpc>
              <a:buNone/>
            </a:pPr>
            <a:r>
              <a:rPr lang="en-US" sz="379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3790" dirty="0"/>
          </a:p>
        </p:txBody>
      </p:sp>
      <p:sp>
        <p:nvSpPr>
          <p:cNvPr id="5" name="Text 1"/>
          <p:cNvSpPr/>
          <p:nvPr/>
        </p:nvSpPr>
        <p:spPr>
          <a:xfrm>
            <a:off x="795528" y="4178808"/>
            <a:ext cx="130484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Summary:</a:t>
            </a:r>
            <a:endParaRPr lang="en-US" sz="1510" dirty="0"/>
          </a:p>
        </p:txBody>
      </p:sp>
      <p:sp>
        <p:nvSpPr>
          <p:cNvPr id="6" name="Text 2"/>
          <p:cNvSpPr/>
          <p:nvPr/>
        </p:nvSpPr>
        <p:spPr>
          <a:xfrm>
            <a:off x="795528" y="4681728"/>
            <a:ext cx="130484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KMS simplifies encryption and key management.</a:t>
            </a:r>
            <a:endParaRPr lang="en-US" sz="1510" dirty="0"/>
          </a:p>
        </p:txBody>
      </p:sp>
      <p:sp>
        <p:nvSpPr>
          <p:cNvPr id="7" name="Text 3"/>
          <p:cNvSpPr/>
          <p:nvPr/>
        </p:nvSpPr>
        <p:spPr>
          <a:xfrm>
            <a:off x="795528" y="5184648"/>
            <a:ext cx="130484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It’s secure, scalable, and integrates deeply with AWS.</a:t>
            </a:r>
            <a:endParaRPr lang="en-US" sz="1510" dirty="0"/>
          </a:p>
        </p:txBody>
      </p:sp>
      <p:sp>
        <p:nvSpPr>
          <p:cNvPr id="8" name="Text 4"/>
          <p:cNvSpPr/>
          <p:nvPr/>
        </p:nvSpPr>
        <p:spPr>
          <a:xfrm>
            <a:off x="795528" y="5696712"/>
            <a:ext cx="130484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Ideal for protecting sensitive data in the cloud.</a:t>
            </a:r>
            <a:endParaRPr lang="en-US" sz="1510" dirty="0"/>
          </a:p>
        </p:txBody>
      </p:sp>
      <p:sp>
        <p:nvSpPr>
          <p:cNvPr id="9" name="Text 5"/>
          <p:cNvSpPr/>
          <p:nvPr/>
        </p:nvSpPr>
        <p:spPr>
          <a:xfrm>
            <a:off x="795528" y="6199632"/>
            <a:ext cx="130484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Thank You!</a:t>
            </a:r>
            <a:endParaRPr lang="en-US" sz="1510" dirty="0"/>
          </a:p>
        </p:txBody>
      </p:sp>
      <p:sp>
        <p:nvSpPr>
          <p:cNvPr id="10" name="Text 6"/>
          <p:cNvSpPr/>
          <p:nvPr/>
        </p:nvSpPr>
        <p:spPr>
          <a:xfrm>
            <a:off x="795528" y="6702552"/>
            <a:ext cx="130484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Questions? 💬</a:t>
            </a:r>
            <a:endParaRPr lang="en-US" sz="15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Custom</PresentationFormat>
  <Paragraphs>124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AlibabaPuHuiTi-Alibaba-PuHuiTi</vt:lpstr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Mukesh S</cp:lastModifiedBy>
  <cp:revision>2</cp:revision>
  <dcterms:created xsi:type="dcterms:W3CDTF">2025-11-04T17:01:52Z</dcterms:created>
  <dcterms:modified xsi:type="dcterms:W3CDTF">2025-11-04T17:02:22Z</dcterms:modified>
</cp:coreProperties>
</file>