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9"/>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sldSz cx="14630400" cy="8229600"/>
  <p:notesSz cx="8229600" cy="146304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74" d="100"/>
          <a:sy n="74" d="100"/>
        </p:scale>
        <p:origin x="374" y="6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06651103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MASTER_SLIDE">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2.xml"/><Relationship Id="rId5" Type="http://schemas.openxmlformats.org/officeDocument/2006/relationships/image" Target="../media/image9.png"/><Relationship Id="rId4" Type="http://schemas.openxmlformats.org/officeDocument/2006/relationships/image" Target="../media/image8.png"/></Relationships>
</file>

<file path=ppt/slides/_rels/slide5.xml.rels><?xml version="1.0" encoding="UTF-8" standalone="yes"?>
<Relationships xmlns="http://schemas.openxmlformats.org/package/2006/relationships"><Relationship Id="rId8" Type="http://schemas.openxmlformats.org/officeDocument/2006/relationships/image" Target="../media/image14.png"/><Relationship Id="rId3" Type="http://schemas.openxmlformats.org/officeDocument/2006/relationships/image" Target="../media/image2.png"/><Relationship Id="rId7" Type="http://schemas.openxmlformats.org/officeDocument/2006/relationships/image" Target="../media/image13.png"/><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10.png"/><Relationship Id="rId9" Type="http://schemas.openxmlformats.org/officeDocument/2006/relationships/image" Target="../media/image15.png"/></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image" Target="../media/image18.png"/><Relationship Id="rId5" Type="http://schemas.openxmlformats.org/officeDocument/2006/relationships/image" Target="../media/image17.png"/><Relationship Id="rId4" Type="http://schemas.openxmlformats.org/officeDocument/2006/relationships/image" Target="../media/image16.png"/></Relationships>
</file>

<file path=ppt/slides/_rels/slide7.xml.rels><?xml version="1.0" encoding="UTF-8" standalone="yes"?>
<Relationships xmlns="http://schemas.openxmlformats.org/package/2006/relationships"><Relationship Id="rId8" Type="http://schemas.openxmlformats.org/officeDocument/2006/relationships/image" Target="../media/image23.png"/><Relationship Id="rId3" Type="http://schemas.openxmlformats.org/officeDocument/2006/relationships/image" Target="../media/image2.png"/><Relationship Id="rId7" Type="http://schemas.openxmlformats.org/officeDocument/2006/relationships/image" Target="../media/image22.png"/><Relationship Id="rId12" Type="http://schemas.openxmlformats.org/officeDocument/2006/relationships/image" Target="../media/image27.png"/><Relationship Id="rId2" Type="http://schemas.openxmlformats.org/officeDocument/2006/relationships/notesSlide" Target="../notesSlides/notesSlide7.xml"/><Relationship Id="rId1" Type="http://schemas.openxmlformats.org/officeDocument/2006/relationships/slideLayout" Target="../slideLayouts/slideLayout2.xml"/><Relationship Id="rId6" Type="http://schemas.openxmlformats.org/officeDocument/2006/relationships/image" Target="../media/image21.png"/><Relationship Id="rId11" Type="http://schemas.openxmlformats.org/officeDocument/2006/relationships/image" Target="../media/image26.png"/><Relationship Id="rId5" Type="http://schemas.openxmlformats.org/officeDocument/2006/relationships/image" Target="../media/image20.png"/><Relationship Id="rId10" Type="http://schemas.openxmlformats.org/officeDocument/2006/relationships/image" Target="../media/image25.png"/><Relationship Id="rId4" Type="http://schemas.openxmlformats.org/officeDocument/2006/relationships/image" Target="../media/image19.png"/><Relationship Id="rId9" Type="http://schemas.openxmlformats.org/officeDocument/2006/relationships/image" Target="../media/image24.png"/></Relationships>
</file>

<file path=ppt/slides/_rels/slide8.xml.rels><?xml version="1.0" encoding="UTF-8" standalone="yes"?>
<Relationships xmlns="http://schemas.openxmlformats.org/package/2006/relationships"><Relationship Id="rId8" Type="http://schemas.openxmlformats.org/officeDocument/2006/relationships/image" Target="../media/image32.png"/><Relationship Id="rId3" Type="http://schemas.openxmlformats.org/officeDocument/2006/relationships/image" Target="../media/image2.png"/><Relationship Id="rId7" Type="http://schemas.openxmlformats.org/officeDocument/2006/relationships/image" Target="../media/image31.png"/><Relationship Id="rId2" Type="http://schemas.openxmlformats.org/officeDocument/2006/relationships/notesSlide" Target="../notesSlides/notesSlide8.xml"/><Relationship Id="rId1" Type="http://schemas.openxmlformats.org/officeDocument/2006/relationships/slideLayout" Target="../slideLayouts/slideLayout2.xml"/><Relationship Id="rId6" Type="http://schemas.openxmlformats.org/officeDocument/2006/relationships/image" Target="../media/image30.png"/><Relationship Id="rId5" Type="http://schemas.openxmlformats.org/officeDocument/2006/relationships/image" Target="../media/image29.png"/><Relationship Id="rId4" Type="http://schemas.openxmlformats.org/officeDocument/2006/relationships/image" Target="../media/image28.png"/></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36.png"/><Relationship Id="rId2" Type="http://schemas.openxmlformats.org/officeDocument/2006/relationships/notesSlide" Target="../notesSlides/notesSlide9.xml"/><Relationship Id="rId1" Type="http://schemas.openxmlformats.org/officeDocument/2006/relationships/slideLayout" Target="../slideLayouts/slideLayout2.xml"/><Relationship Id="rId6" Type="http://schemas.openxmlformats.org/officeDocument/2006/relationships/image" Target="../media/image35.png"/><Relationship Id="rId5" Type="http://schemas.openxmlformats.org/officeDocument/2006/relationships/image" Target="../media/image34.png"/><Relationship Id="rId4" Type="http://schemas.openxmlformats.org/officeDocument/2006/relationships/image" Target="../media/image33.png"/></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0.xml"/><Relationship Id="rId1" Type="http://schemas.openxmlformats.org/officeDocument/2006/relationships/slideLayout" Target="../slideLayouts/slideLayout2.xml"/><Relationship Id="rId6" Type="http://schemas.openxmlformats.org/officeDocument/2006/relationships/image" Target="../media/image39.png"/><Relationship Id="rId5" Type="http://schemas.openxmlformats.org/officeDocument/2006/relationships/image" Target="../media/image38.png"/><Relationship Id="rId4" Type="http://schemas.openxmlformats.org/officeDocument/2006/relationships/image" Target="../media/image37.png"/></Relationships>
</file>

<file path=ppt/slides/_rels/slide11.xml.rels><?xml version="1.0" encoding="UTF-8" standalone="yes"?>
<Relationships xmlns="http://schemas.openxmlformats.org/package/2006/relationships"><Relationship Id="rId8" Type="http://schemas.openxmlformats.org/officeDocument/2006/relationships/image" Target="../media/image44.png"/><Relationship Id="rId3" Type="http://schemas.openxmlformats.org/officeDocument/2006/relationships/image" Target="../media/image2.png"/><Relationship Id="rId7" Type="http://schemas.openxmlformats.org/officeDocument/2006/relationships/image" Target="../media/image43.png"/><Relationship Id="rId2" Type="http://schemas.openxmlformats.org/officeDocument/2006/relationships/notesSlide" Target="../notesSlides/notesSlide11.xml"/><Relationship Id="rId1" Type="http://schemas.openxmlformats.org/officeDocument/2006/relationships/slideLayout" Target="../slideLayouts/slideLayout2.xml"/><Relationship Id="rId6" Type="http://schemas.openxmlformats.org/officeDocument/2006/relationships/image" Target="../media/image42.png"/><Relationship Id="rId5" Type="http://schemas.openxmlformats.org/officeDocument/2006/relationships/image" Target="../media/image41.png"/><Relationship Id="rId4" Type="http://schemas.openxmlformats.org/officeDocument/2006/relationships/image" Target="../media/image40.png"/><Relationship Id="rId9" Type="http://schemas.openxmlformats.org/officeDocument/2006/relationships/image" Target="../media/image45.png"/></Relationships>
</file>

<file path=ppt/slides/_rels/slide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2.xml"/><Relationship Id="rId1" Type="http://schemas.openxmlformats.org/officeDocument/2006/relationships/slideLayout" Target="../slideLayouts/slideLayout2.xml"/><Relationship Id="rId6" Type="http://schemas.openxmlformats.org/officeDocument/2006/relationships/image" Target="../media/image48.png"/><Relationship Id="rId5" Type="http://schemas.openxmlformats.org/officeDocument/2006/relationships/image" Target="../media/image47.png"/><Relationship Id="rId4" Type="http://schemas.openxmlformats.org/officeDocument/2006/relationships/image" Target="../media/image46.png"/></Relationships>
</file>

<file path=ppt/slides/_rels/slide1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3.xml"/><Relationship Id="rId1" Type="http://schemas.openxmlformats.org/officeDocument/2006/relationships/slideLayout" Target="../slideLayouts/slideLayout2.xml"/><Relationship Id="rId4" Type="http://schemas.openxmlformats.org/officeDocument/2006/relationships/image" Target="../media/image49.png"/></Relationships>
</file>

<file path=ppt/slides/_rels/slide1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4.xml"/><Relationship Id="rId1" Type="http://schemas.openxmlformats.org/officeDocument/2006/relationships/slideLayout" Target="../slideLayouts/slideLayout2.xml"/><Relationship Id="rId5" Type="http://schemas.openxmlformats.org/officeDocument/2006/relationships/image" Target="../media/image51.png"/><Relationship Id="rId4" Type="http://schemas.openxmlformats.org/officeDocument/2006/relationships/image" Target="../media/image50.png"/></Relationships>
</file>

<file path=ppt/slides/_rels/slide15.xml.rels><?xml version="1.0" encoding="UTF-8" standalone="yes"?>
<Relationships xmlns="http://schemas.openxmlformats.org/package/2006/relationships"><Relationship Id="rId8" Type="http://schemas.openxmlformats.org/officeDocument/2006/relationships/image" Target="../media/image56.png"/><Relationship Id="rId3" Type="http://schemas.openxmlformats.org/officeDocument/2006/relationships/image" Target="../media/image2.png"/><Relationship Id="rId7" Type="http://schemas.openxmlformats.org/officeDocument/2006/relationships/image" Target="../media/image55.png"/><Relationship Id="rId2" Type="http://schemas.openxmlformats.org/officeDocument/2006/relationships/notesSlide" Target="../notesSlides/notesSlide15.xml"/><Relationship Id="rId1" Type="http://schemas.openxmlformats.org/officeDocument/2006/relationships/slideLayout" Target="../slideLayouts/slideLayout2.xml"/><Relationship Id="rId6" Type="http://schemas.openxmlformats.org/officeDocument/2006/relationships/image" Target="../media/image54.png"/><Relationship Id="rId5" Type="http://schemas.openxmlformats.org/officeDocument/2006/relationships/image" Target="../media/image53.png"/><Relationship Id="rId4" Type="http://schemas.openxmlformats.org/officeDocument/2006/relationships/image" Target="../media/image52.png"/></Relationships>
</file>

<file path=ppt/slides/_rels/slide1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6.xml"/><Relationship Id="rId1" Type="http://schemas.openxmlformats.org/officeDocument/2006/relationships/slideLayout" Target="../slideLayouts/slideLayout2.xml"/><Relationship Id="rId4" Type="http://schemas.openxmlformats.org/officeDocument/2006/relationships/image" Target="../media/image57.png"/></Relationships>
</file>

<file path=ppt/slides/_rels/slide1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7.xml"/><Relationship Id="rId1" Type="http://schemas.openxmlformats.org/officeDocument/2006/relationships/slideLayout" Target="../slideLayouts/slideLayout2.xml"/><Relationship Id="rId4" Type="http://schemas.openxmlformats.org/officeDocument/2006/relationships/image" Target="../media/image6.png"/></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4630400" cy="8238744"/>
          </a:xfrm>
          <a:prstGeom prst="rect">
            <a:avLst/>
          </a:prstGeom>
        </p:spPr>
      </p:pic>
      <p:pic>
        <p:nvPicPr>
          <p:cNvPr id="3" name="Image 1" descr="preencoded.png"/>
          <p:cNvPicPr>
            <a:picLocks noChangeAspect="1"/>
          </p:cNvPicPr>
          <p:nvPr/>
        </p:nvPicPr>
        <p:blipFill>
          <a:blip r:embed="rId4"/>
          <a:stretch>
            <a:fillRect/>
          </a:stretch>
        </p:blipFill>
        <p:spPr>
          <a:xfrm>
            <a:off x="0" y="0"/>
            <a:ext cx="14630400" cy="2624328"/>
          </a:xfrm>
          <a:prstGeom prst="rect">
            <a:avLst/>
          </a:prstGeom>
        </p:spPr>
      </p:pic>
      <p:pic>
        <p:nvPicPr>
          <p:cNvPr id="4" name="Image 2" descr="preencoded.png"/>
          <p:cNvPicPr>
            <a:picLocks noChangeAspect="1"/>
          </p:cNvPicPr>
          <p:nvPr/>
        </p:nvPicPr>
        <p:blipFill>
          <a:blip r:embed="rId5"/>
          <a:stretch>
            <a:fillRect/>
          </a:stretch>
        </p:blipFill>
        <p:spPr>
          <a:xfrm>
            <a:off x="795528" y="5815584"/>
            <a:ext cx="13048488" cy="36576"/>
          </a:xfrm>
          <a:prstGeom prst="rect">
            <a:avLst/>
          </a:prstGeom>
        </p:spPr>
      </p:pic>
      <p:pic>
        <p:nvPicPr>
          <p:cNvPr id="5" name="Image 3" descr="preencoded.png"/>
          <p:cNvPicPr>
            <a:picLocks noChangeAspect="1"/>
          </p:cNvPicPr>
          <p:nvPr/>
        </p:nvPicPr>
        <p:blipFill>
          <a:blip r:embed="rId6"/>
          <a:stretch>
            <a:fillRect/>
          </a:stretch>
        </p:blipFill>
        <p:spPr>
          <a:xfrm>
            <a:off x="795528" y="6099048"/>
            <a:ext cx="457200" cy="640080"/>
          </a:xfrm>
          <a:prstGeom prst="rect">
            <a:avLst/>
          </a:prstGeom>
        </p:spPr>
      </p:pic>
      <p:sp>
        <p:nvSpPr>
          <p:cNvPr id="6" name="Text 0"/>
          <p:cNvSpPr/>
          <p:nvPr/>
        </p:nvSpPr>
        <p:spPr>
          <a:xfrm>
            <a:off x="1362456" y="6099048"/>
            <a:ext cx="2350008" cy="402336"/>
          </a:xfrm>
          <a:prstGeom prst="rect">
            <a:avLst/>
          </a:prstGeom>
          <a:noFill/>
          <a:ln/>
        </p:spPr>
        <p:txBody>
          <a:bodyPr wrap="none" lIns="0" tIns="0" rIns="0" bIns="0" rtlCol="0" anchor="ctr"/>
          <a:lstStyle/>
          <a:p>
            <a:pPr marL="0" indent="0" algn="l">
              <a:lnSpc>
                <a:spcPts val="3120"/>
              </a:lnSpc>
              <a:buNone/>
            </a:pPr>
            <a:r>
              <a:rPr lang="en-US" sz="2230" dirty="0">
                <a:solidFill>
                  <a:srgbClr val="DBDBDB"/>
                </a:solidFill>
                <a:latin typeface="思源黑体-思源黑体-Medium" pitchFamily="34" charset="0"/>
                <a:ea typeface="思源黑体-思源黑体-Medium" pitchFamily="34" charset="-122"/>
                <a:cs typeface="思源黑体-思源黑体-Medium" pitchFamily="34" charset="-120"/>
              </a:rPr>
              <a:t>Author: Gowtham</a:t>
            </a:r>
            <a:endParaRPr lang="en-US" sz="2230" dirty="0"/>
          </a:p>
        </p:txBody>
      </p:sp>
      <p:sp>
        <p:nvSpPr>
          <p:cNvPr id="7" name="Text 1"/>
          <p:cNvSpPr/>
          <p:nvPr/>
        </p:nvSpPr>
        <p:spPr>
          <a:xfrm>
            <a:off x="1362456" y="6492240"/>
            <a:ext cx="2350008" cy="246888"/>
          </a:xfrm>
          <a:prstGeom prst="rect">
            <a:avLst/>
          </a:prstGeom>
          <a:noFill/>
          <a:ln/>
        </p:spPr>
        <p:txBody>
          <a:bodyPr wrap="none" lIns="0" tIns="0" rIns="0" bIns="0" rtlCol="0" anchor="ctr"/>
          <a:lstStyle/>
          <a:p>
            <a:pPr marL="0" indent="0" algn="l">
              <a:lnSpc>
                <a:spcPts val="1870"/>
              </a:lnSpc>
              <a:buNone/>
            </a:pPr>
            <a:endParaRPr lang="en-US" sz="1330" dirty="0"/>
          </a:p>
        </p:txBody>
      </p:sp>
      <p:sp>
        <p:nvSpPr>
          <p:cNvPr id="8" name="Text 2"/>
          <p:cNvSpPr/>
          <p:nvPr/>
        </p:nvSpPr>
        <p:spPr>
          <a:xfrm>
            <a:off x="795528" y="3602736"/>
            <a:ext cx="13048488" cy="1956816"/>
          </a:xfrm>
          <a:prstGeom prst="rect">
            <a:avLst/>
          </a:prstGeom>
          <a:noFill/>
          <a:ln/>
        </p:spPr>
        <p:txBody>
          <a:bodyPr wrap="square" lIns="0" tIns="0" rIns="0" bIns="0" rtlCol="0" anchor="ctr"/>
          <a:lstStyle/>
          <a:p>
            <a:pPr marL="0" indent="0" algn="l">
              <a:lnSpc>
                <a:spcPts val="7700"/>
              </a:lnSpc>
              <a:buNone/>
            </a:pPr>
            <a:r>
              <a:rPr lang="en-US" sz="6160" dirty="0">
                <a:solidFill>
                  <a:srgbClr val="77D8F2"/>
                </a:solidFill>
                <a:latin typeface="AlibabaPuHuiTi-Alibaba-PuHuiTi" pitchFamily="34" charset="0"/>
                <a:ea typeface="AlibabaPuHuiTi-Alibaba-PuHuiTi" pitchFamily="34" charset="-122"/>
                <a:cs typeface="AlibabaPuHuiTi-Alibaba-PuHuiTi" pitchFamily="34" charset="-120"/>
              </a:rPr>
              <a:t>AWS Lambda: Serverless Computing Made Simple</a:t>
            </a:r>
            <a:endParaRPr lang="en-US" sz="616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4630400" cy="8238744"/>
          </a:xfrm>
          <a:prstGeom prst="rect">
            <a:avLst/>
          </a:prstGeom>
        </p:spPr>
      </p:pic>
      <p:pic>
        <p:nvPicPr>
          <p:cNvPr id="3" name="Image 1" descr="preencoded.png"/>
          <p:cNvPicPr>
            <a:picLocks noChangeAspect="1"/>
          </p:cNvPicPr>
          <p:nvPr/>
        </p:nvPicPr>
        <p:blipFill>
          <a:blip r:embed="rId4"/>
          <a:stretch>
            <a:fillRect/>
          </a:stretch>
        </p:blipFill>
        <p:spPr>
          <a:xfrm>
            <a:off x="0" y="0"/>
            <a:ext cx="14630400" cy="8238744"/>
          </a:xfrm>
          <a:prstGeom prst="rect">
            <a:avLst/>
          </a:prstGeom>
        </p:spPr>
      </p:pic>
      <p:sp>
        <p:nvSpPr>
          <p:cNvPr id="4" name="Text 0"/>
          <p:cNvSpPr/>
          <p:nvPr/>
        </p:nvSpPr>
        <p:spPr>
          <a:xfrm>
            <a:off x="795528" y="658368"/>
            <a:ext cx="13048488" cy="978408"/>
          </a:xfrm>
          <a:prstGeom prst="rect">
            <a:avLst/>
          </a:prstGeom>
          <a:noFill/>
          <a:ln/>
        </p:spPr>
        <p:txBody>
          <a:bodyPr wrap="none" lIns="0" tIns="0" rIns="0" bIns="0" rtlCol="0" anchor="ctr"/>
          <a:lstStyle/>
          <a:p>
            <a:pPr marL="0" indent="0" algn="l">
              <a:lnSpc>
                <a:spcPts val="7700"/>
              </a:lnSpc>
              <a:buNone/>
            </a:pPr>
            <a:r>
              <a:rPr lang="en-US" sz="6160" dirty="0">
                <a:solidFill>
                  <a:srgbClr val="77D8F2"/>
                </a:solidFill>
                <a:latin typeface="AlibabaPuHuiTi-Alibaba-PuHuiTi" pitchFamily="34" charset="0"/>
                <a:ea typeface="AlibabaPuHuiTi-Alibaba-PuHuiTi" pitchFamily="34" charset="-122"/>
                <a:cs typeface="AlibabaPuHuiTi-Alibaba-PuHuiTi" pitchFamily="34" charset="-120"/>
              </a:rPr>
              <a:t>CONTENTS</a:t>
            </a:r>
            <a:endParaRPr lang="en-US" sz="6160" dirty="0"/>
          </a:p>
        </p:txBody>
      </p:sp>
      <p:sp>
        <p:nvSpPr>
          <p:cNvPr id="5" name="Text 1"/>
          <p:cNvSpPr/>
          <p:nvPr/>
        </p:nvSpPr>
        <p:spPr>
          <a:xfrm>
            <a:off x="1024128" y="2121408"/>
            <a:ext cx="2642616" cy="713232"/>
          </a:xfrm>
          <a:prstGeom prst="rect">
            <a:avLst/>
          </a:prstGeom>
          <a:noFill/>
          <a:ln/>
        </p:spPr>
        <p:txBody>
          <a:bodyPr wrap="square" lIns="0" tIns="0" rIns="0" bIns="0" rtlCol="0" anchor="ctr"/>
          <a:lstStyle/>
          <a:p>
            <a:pPr marL="0" indent="0" algn="l">
              <a:lnSpc>
                <a:spcPts val="2790"/>
              </a:lnSpc>
              <a:buNone/>
            </a:pPr>
            <a:r>
              <a:rPr lang="en-US" sz="2230" dirty="0">
                <a:solidFill>
                  <a:srgbClr val="DBDBDB"/>
                </a:solidFill>
                <a:latin typeface="AlibabaPuHuiTi-Alibaba-PuHuiTi" pitchFamily="34" charset="0"/>
                <a:ea typeface="AlibabaPuHuiTi-Alibaba-PuHuiTi" pitchFamily="34" charset="-122"/>
                <a:cs typeface="AlibabaPuHuiTi-Alibaba-PuHuiTi" pitchFamily="34" charset="-120"/>
              </a:rPr>
              <a:t>1. Introduction to AWS Lambda</a:t>
            </a:r>
            <a:endParaRPr lang="en-US" sz="2230" dirty="0"/>
          </a:p>
        </p:txBody>
      </p:sp>
      <p:sp>
        <p:nvSpPr>
          <p:cNvPr id="6" name="Text 2"/>
          <p:cNvSpPr/>
          <p:nvPr/>
        </p:nvSpPr>
        <p:spPr>
          <a:xfrm>
            <a:off x="1024128" y="3511296"/>
            <a:ext cx="2642616" cy="713232"/>
          </a:xfrm>
          <a:prstGeom prst="rect">
            <a:avLst/>
          </a:prstGeom>
          <a:noFill/>
          <a:ln/>
        </p:spPr>
        <p:txBody>
          <a:bodyPr wrap="square" lIns="0" tIns="0" rIns="0" bIns="0" rtlCol="0" anchor="ctr"/>
          <a:lstStyle/>
          <a:p>
            <a:pPr marL="0" indent="0" algn="l">
              <a:lnSpc>
                <a:spcPts val="2790"/>
              </a:lnSpc>
              <a:buNone/>
            </a:pPr>
            <a:r>
              <a:rPr lang="en-US" sz="2230" dirty="0">
                <a:solidFill>
                  <a:srgbClr val="DBDBDB"/>
                </a:solidFill>
                <a:latin typeface="AlibabaPuHuiTi-Alibaba-PuHuiTi" pitchFamily="34" charset="0"/>
                <a:ea typeface="AlibabaPuHuiTi-Alibaba-PuHuiTi" pitchFamily="34" charset="-122"/>
                <a:cs typeface="AlibabaPuHuiTi-Alibaba-PuHuiTi" pitchFamily="34" charset="-120"/>
              </a:rPr>
              <a:t>5. Triggers and Event Sources</a:t>
            </a:r>
            <a:endParaRPr lang="en-US" sz="2230" dirty="0"/>
          </a:p>
        </p:txBody>
      </p:sp>
      <p:sp>
        <p:nvSpPr>
          <p:cNvPr id="7" name="Text 3"/>
          <p:cNvSpPr/>
          <p:nvPr/>
        </p:nvSpPr>
        <p:spPr>
          <a:xfrm>
            <a:off x="4343400" y="2121408"/>
            <a:ext cx="2642616" cy="713232"/>
          </a:xfrm>
          <a:prstGeom prst="rect">
            <a:avLst/>
          </a:prstGeom>
          <a:noFill/>
          <a:ln/>
        </p:spPr>
        <p:txBody>
          <a:bodyPr wrap="square" lIns="0" tIns="0" rIns="0" bIns="0" rtlCol="0" anchor="ctr"/>
          <a:lstStyle/>
          <a:p>
            <a:pPr marL="0" indent="0" algn="l">
              <a:lnSpc>
                <a:spcPts val="2790"/>
              </a:lnSpc>
              <a:buNone/>
            </a:pPr>
            <a:r>
              <a:rPr lang="en-US" sz="2230" dirty="0">
                <a:solidFill>
                  <a:srgbClr val="DBDBDB"/>
                </a:solidFill>
                <a:latin typeface="AlibabaPuHuiTi-Alibaba-PuHuiTi" pitchFamily="34" charset="0"/>
                <a:ea typeface="AlibabaPuHuiTi-Alibaba-PuHuiTi" pitchFamily="34" charset="-122"/>
                <a:cs typeface="AlibabaPuHuiTi-Alibaba-PuHuiTi" pitchFamily="34" charset="-120"/>
              </a:rPr>
              <a:t>2. How AWS Lambda Works</a:t>
            </a:r>
            <a:endParaRPr lang="en-US" sz="2230" dirty="0"/>
          </a:p>
        </p:txBody>
      </p:sp>
      <p:sp>
        <p:nvSpPr>
          <p:cNvPr id="8" name="Text 4"/>
          <p:cNvSpPr/>
          <p:nvPr/>
        </p:nvSpPr>
        <p:spPr>
          <a:xfrm>
            <a:off x="1024128" y="5257800"/>
            <a:ext cx="2642616" cy="713232"/>
          </a:xfrm>
          <a:prstGeom prst="rect">
            <a:avLst/>
          </a:prstGeom>
          <a:noFill/>
          <a:ln/>
        </p:spPr>
        <p:txBody>
          <a:bodyPr wrap="square" lIns="0" tIns="0" rIns="0" bIns="0" rtlCol="0" anchor="ctr"/>
          <a:lstStyle/>
          <a:p>
            <a:pPr marL="0" indent="0" algn="l">
              <a:lnSpc>
                <a:spcPts val="2790"/>
              </a:lnSpc>
              <a:buNone/>
            </a:pPr>
            <a:r>
              <a:rPr lang="en-US" sz="2230" dirty="0">
                <a:solidFill>
                  <a:srgbClr val="DBDBDB"/>
                </a:solidFill>
                <a:latin typeface="AlibabaPuHuiTi-Alibaba-PuHuiTi" pitchFamily="34" charset="0"/>
                <a:ea typeface="AlibabaPuHuiTi-Alibaba-PuHuiTi" pitchFamily="34" charset="-122"/>
                <a:cs typeface="AlibabaPuHuiTi-Alibaba-PuHuiTi" pitchFamily="34" charset="-120"/>
              </a:rPr>
              <a:t>9. Monitoring and Logging</a:t>
            </a:r>
            <a:endParaRPr lang="en-US" sz="2230" dirty="0"/>
          </a:p>
        </p:txBody>
      </p:sp>
      <p:sp>
        <p:nvSpPr>
          <p:cNvPr id="9" name="Text 5"/>
          <p:cNvSpPr/>
          <p:nvPr/>
        </p:nvSpPr>
        <p:spPr>
          <a:xfrm>
            <a:off x="4343400" y="3511296"/>
            <a:ext cx="2642616" cy="713232"/>
          </a:xfrm>
          <a:prstGeom prst="rect">
            <a:avLst/>
          </a:prstGeom>
          <a:noFill/>
          <a:ln/>
        </p:spPr>
        <p:txBody>
          <a:bodyPr wrap="square" lIns="0" tIns="0" rIns="0" bIns="0" rtlCol="0" anchor="ctr"/>
          <a:lstStyle/>
          <a:p>
            <a:pPr marL="0" indent="0" algn="l">
              <a:lnSpc>
                <a:spcPts val="2790"/>
              </a:lnSpc>
              <a:buNone/>
            </a:pPr>
            <a:r>
              <a:rPr lang="en-US" sz="2230" dirty="0">
                <a:solidFill>
                  <a:srgbClr val="DBDBDB"/>
                </a:solidFill>
                <a:latin typeface="AlibabaPuHuiTi-Alibaba-PuHuiTi" pitchFamily="34" charset="0"/>
                <a:ea typeface="AlibabaPuHuiTi-Alibaba-PuHuiTi" pitchFamily="34" charset="-122"/>
                <a:cs typeface="AlibabaPuHuiTi-Alibaba-PuHuiTi" pitchFamily="34" charset="-120"/>
              </a:rPr>
              <a:t>6. AWS Lambda Architecture</a:t>
            </a:r>
            <a:endParaRPr lang="en-US" sz="2230" dirty="0"/>
          </a:p>
        </p:txBody>
      </p:sp>
      <p:sp>
        <p:nvSpPr>
          <p:cNvPr id="10" name="Text 6"/>
          <p:cNvSpPr/>
          <p:nvPr/>
        </p:nvSpPr>
        <p:spPr>
          <a:xfrm>
            <a:off x="1024128" y="6647688"/>
            <a:ext cx="2642616" cy="713232"/>
          </a:xfrm>
          <a:prstGeom prst="rect">
            <a:avLst/>
          </a:prstGeom>
          <a:noFill/>
          <a:ln/>
        </p:spPr>
        <p:txBody>
          <a:bodyPr wrap="square" lIns="0" tIns="0" rIns="0" bIns="0" rtlCol="0" anchor="ctr"/>
          <a:lstStyle/>
          <a:p>
            <a:pPr marL="0" indent="0" algn="l">
              <a:lnSpc>
                <a:spcPts val="2790"/>
              </a:lnSpc>
              <a:buNone/>
            </a:pPr>
            <a:r>
              <a:rPr lang="en-US" sz="2230" dirty="0">
                <a:solidFill>
                  <a:srgbClr val="DBDBDB"/>
                </a:solidFill>
                <a:latin typeface="AlibabaPuHuiTi-Alibaba-PuHuiTi" pitchFamily="34" charset="0"/>
                <a:ea typeface="AlibabaPuHuiTi-Alibaba-PuHuiTi" pitchFamily="34" charset="-122"/>
                <a:cs typeface="AlibabaPuHuiTi-Alibaba-PuHuiTi" pitchFamily="34" charset="-120"/>
              </a:rPr>
              <a:t>13. Summary &amp; Q&amp;A</a:t>
            </a:r>
            <a:endParaRPr lang="en-US" sz="2230" dirty="0"/>
          </a:p>
        </p:txBody>
      </p:sp>
      <p:sp>
        <p:nvSpPr>
          <p:cNvPr id="11" name="Text 7"/>
          <p:cNvSpPr/>
          <p:nvPr/>
        </p:nvSpPr>
        <p:spPr>
          <a:xfrm>
            <a:off x="4343400" y="5257800"/>
            <a:ext cx="2642616" cy="356616"/>
          </a:xfrm>
          <a:prstGeom prst="rect">
            <a:avLst/>
          </a:prstGeom>
          <a:noFill/>
          <a:ln/>
        </p:spPr>
        <p:txBody>
          <a:bodyPr wrap="none" lIns="0" tIns="0" rIns="0" bIns="0" rtlCol="0" anchor="ctr"/>
          <a:lstStyle/>
          <a:p>
            <a:pPr marL="0" indent="0" algn="l">
              <a:lnSpc>
                <a:spcPts val="2790"/>
              </a:lnSpc>
              <a:buNone/>
            </a:pPr>
            <a:r>
              <a:rPr lang="en-US" sz="2230" dirty="0">
                <a:solidFill>
                  <a:srgbClr val="DBDBDB"/>
                </a:solidFill>
                <a:latin typeface="AlibabaPuHuiTi-Alibaba-PuHuiTi" pitchFamily="34" charset="0"/>
                <a:ea typeface="AlibabaPuHuiTi-Alibaba-PuHuiTi" pitchFamily="34" charset="-122"/>
                <a:cs typeface="AlibabaPuHuiTi-Alibaba-PuHuiTi" pitchFamily="34" charset="-120"/>
              </a:rPr>
              <a:t>10. Pricing Model</a:t>
            </a:r>
            <a:endParaRPr lang="en-US" sz="2230" dirty="0"/>
          </a:p>
        </p:txBody>
      </p:sp>
      <p:sp>
        <p:nvSpPr>
          <p:cNvPr id="12" name="Text 8"/>
          <p:cNvSpPr/>
          <p:nvPr/>
        </p:nvSpPr>
        <p:spPr>
          <a:xfrm>
            <a:off x="7662672" y="2121408"/>
            <a:ext cx="2642616" cy="713232"/>
          </a:xfrm>
          <a:prstGeom prst="rect">
            <a:avLst/>
          </a:prstGeom>
          <a:noFill/>
          <a:ln/>
        </p:spPr>
        <p:txBody>
          <a:bodyPr wrap="square" lIns="0" tIns="0" rIns="0" bIns="0" rtlCol="0" anchor="ctr"/>
          <a:lstStyle/>
          <a:p>
            <a:pPr marL="0" indent="0" algn="l">
              <a:lnSpc>
                <a:spcPts val="2790"/>
              </a:lnSpc>
              <a:buNone/>
            </a:pPr>
            <a:r>
              <a:rPr lang="en-US" sz="2230" dirty="0">
                <a:solidFill>
                  <a:srgbClr val="DBDBDB"/>
                </a:solidFill>
                <a:latin typeface="AlibabaPuHuiTi-Alibaba-PuHuiTi" pitchFamily="34" charset="0"/>
                <a:ea typeface="AlibabaPuHuiTi-Alibaba-PuHuiTi" pitchFamily="34" charset="-122"/>
                <a:cs typeface="AlibabaPuHuiTi-Alibaba-PuHuiTi" pitchFamily="34" charset="-120"/>
              </a:rPr>
              <a:t>3. Key Features of AWS Lambda</a:t>
            </a:r>
            <a:endParaRPr lang="en-US" sz="2230" dirty="0"/>
          </a:p>
        </p:txBody>
      </p:sp>
      <p:sp>
        <p:nvSpPr>
          <p:cNvPr id="13" name="Text 9"/>
          <p:cNvSpPr/>
          <p:nvPr/>
        </p:nvSpPr>
        <p:spPr>
          <a:xfrm>
            <a:off x="7662672" y="3511296"/>
            <a:ext cx="2642616" cy="713232"/>
          </a:xfrm>
          <a:prstGeom prst="rect">
            <a:avLst/>
          </a:prstGeom>
          <a:noFill/>
          <a:ln/>
        </p:spPr>
        <p:txBody>
          <a:bodyPr wrap="square" lIns="0" tIns="0" rIns="0" bIns="0" rtlCol="0" anchor="ctr"/>
          <a:lstStyle/>
          <a:p>
            <a:pPr marL="0" indent="0" algn="l">
              <a:lnSpc>
                <a:spcPts val="2790"/>
              </a:lnSpc>
              <a:buNone/>
            </a:pPr>
            <a:r>
              <a:rPr lang="en-US" sz="2230" dirty="0">
                <a:solidFill>
                  <a:srgbClr val="DBDBDB"/>
                </a:solidFill>
                <a:latin typeface="AlibabaPuHuiTi-Alibaba-PuHuiTi" pitchFamily="34" charset="0"/>
                <a:ea typeface="AlibabaPuHuiTi-Alibaba-PuHuiTi" pitchFamily="34" charset="-122"/>
                <a:cs typeface="AlibabaPuHuiTi-Alibaba-PuHuiTi" pitchFamily="34" charset="-120"/>
              </a:rPr>
              <a:t>7. Use Cases of AWS Lambda</a:t>
            </a:r>
            <a:endParaRPr lang="en-US" sz="2230" dirty="0"/>
          </a:p>
        </p:txBody>
      </p:sp>
      <p:sp>
        <p:nvSpPr>
          <p:cNvPr id="14" name="Text 10"/>
          <p:cNvSpPr/>
          <p:nvPr/>
        </p:nvSpPr>
        <p:spPr>
          <a:xfrm>
            <a:off x="7662672" y="5257800"/>
            <a:ext cx="2642616" cy="713232"/>
          </a:xfrm>
          <a:prstGeom prst="rect">
            <a:avLst/>
          </a:prstGeom>
          <a:noFill/>
          <a:ln/>
        </p:spPr>
        <p:txBody>
          <a:bodyPr wrap="square" lIns="0" tIns="0" rIns="0" bIns="0" rtlCol="0" anchor="ctr"/>
          <a:lstStyle/>
          <a:p>
            <a:pPr marL="0" indent="0" algn="l">
              <a:lnSpc>
                <a:spcPts val="2790"/>
              </a:lnSpc>
              <a:buNone/>
            </a:pPr>
            <a:r>
              <a:rPr lang="en-US" sz="2230" dirty="0">
                <a:solidFill>
                  <a:srgbClr val="DBDBDB"/>
                </a:solidFill>
                <a:latin typeface="AlibabaPuHuiTi-Alibaba-PuHuiTi" pitchFamily="34" charset="0"/>
                <a:ea typeface="AlibabaPuHuiTi-Alibaba-PuHuiTi" pitchFamily="34" charset="-122"/>
                <a:cs typeface="AlibabaPuHuiTi-Alibaba-PuHuiTi" pitchFamily="34" charset="-120"/>
              </a:rPr>
              <a:t>11. Advantages of AWS Lambda</a:t>
            </a:r>
            <a:endParaRPr lang="en-US" sz="2230" dirty="0"/>
          </a:p>
        </p:txBody>
      </p:sp>
      <p:sp>
        <p:nvSpPr>
          <p:cNvPr id="15" name="Text 11"/>
          <p:cNvSpPr/>
          <p:nvPr/>
        </p:nvSpPr>
        <p:spPr>
          <a:xfrm>
            <a:off x="10972800" y="2121408"/>
            <a:ext cx="2642616" cy="713232"/>
          </a:xfrm>
          <a:prstGeom prst="rect">
            <a:avLst/>
          </a:prstGeom>
          <a:noFill/>
          <a:ln/>
        </p:spPr>
        <p:txBody>
          <a:bodyPr wrap="square" lIns="0" tIns="0" rIns="0" bIns="0" rtlCol="0" anchor="ctr"/>
          <a:lstStyle/>
          <a:p>
            <a:pPr marL="0" indent="0" algn="l">
              <a:lnSpc>
                <a:spcPts val="2790"/>
              </a:lnSpc>
              <a:buNone/>
            </a:pPr>
            <a:r>
              <a:rPr lang="en-US" sz="2230" dirty="0">
                <a:solidFill>
                  <a:srgbClr val="DBDBDB"/>
                </a:solidFill>
                <a:latin typeface="AlibabaPuHuiTi-Alibaba-PuHuiTi" pitchFamily="34" charset="0"/>
                <a:ea typeface="AlibabaPuHuiTi-Alibaba-PuHuiTi" pitchFamily="34" charset="-122"/>
                <a:cs typeface="AlibabaPuHuiTi-Alibaba-PuHuiTi" pitchFamily="34" charset="-120"/>
              </a:rPr>
              <a:t>4. Supported Languages</a:t>
            </a:r>
            <a:endParaRPr lang="en-US" sz="2230" dirty="0"/>
          </a:p>
        </p:txBody>
      </p:sp>
      <p:sp>
        <p:nvSpPr>
          <p:cNvPr id="16" name="Text 12"/>
          <p:cNvSpPr/>
          <p:nvPr/>
        </p:nvSpPr>
        <p:spPr>
          <a:xfrm>
            <a:off x="10972800" y="3511296"/>
            <a:ext cx="2642616" cy="1069848"/>
          </a:xfrm>
          <a:prstGeom prst="rect">
            <a:avLst/>
          </a:prstGeom>
          <a:noFill/>
          <a:ln/>
        </p:spPr>
        <p:txBody>
          <a:bodyPr wrap="square" lIns="0" tIns="0" rIns="0" bIns="0" rtlCol="0" anchor="ctr"/>
          <a:lstStyle/>
          <a:p>
            <a:pPr marL="0" indent="0" algn="l">
              <a:lnSpc>
                <a:spcPts val="2790"/>
              </a:lnSpc>
              <a:buNone/>
            </a:pPr>
            <a:r>
              <a:rPr lang="en-US" sz="2230" dirty="0">
                <a:solidFill>
                  <a:srgbClr val="DBDBDB"/>
                </a:solidFill>
                <a:latin typeface="AlibabaPuHuiTi-Alibaba-PuHuiTi" pitchFamily="34" charset="0"/>
                <a:ea typeface="AlibabaPuHuiTi-Alibaba-PuHuiTi" pitchFamily="34" charset="-122"/>
                <a:cs typeface="AlibabaPuHuiTi-Alibaba-PuHuiTi" pitchFamily="34" charset="-120"/>
              </a:rPr>
              <a:t>8. AWS Lambda with Other AWS Services</a:t>
            </a:r>
            <a:endParaRPr lang="en-US" sz="2230" dirty="0"/>
          </a:p>
        </p:txBody>
      </p:sp>
      <p:sp>
        <p:nvSpPr>
          <p:cNvPr id="17" name="Text 13"/>
          <p:cNvSpPr/>
          <p:nvPr/>
        </p:nvSpPr>
        <p:spPr>
          <a:xfrm>
            <a:off x="10972800" y="5257800"/>
            <a:ext cx="2642616" cy="713232"/>
          </a:xfrm>
          <a:prstGeom prst="rect">
            <a:avLst/>
          </a:prstGeom>
          <a:noFill/>
          <a:ln/>
        </p:spPr>
        <p:txBody>
          <a:bodyPr wrap="square" lIns="0" tIns="0" rIns="0" bIns="0" rtlCol="0" anchor="ctr"/>
          <a:lstStyle/>
          <a:p>
            <a:pPr marL="0" indent="0" algn="l">
              <a:lnSpc>
                <a:spcPts val="2790"/>
              </a:lnSpc>
              <a:buNone/>
            </a:pPr>
            <a:r>
              <a:rPr lang="en-US" sz="2230" dirty="0">
                <a:solidFill>
                  <a:srgbClr val="DBDBDB"/>
                </a:solidFill>
                <a:latin typeface="AlibabaPuHuiTi-Alibaba-PuHuiTi" pitchFamily="34" charset="0"/>
                <a:ea typeface="AlibabaPuHuiTi-Alibaba-PuHuiTi" pitchFamily="34" charset="-122"/>
                <a:cs typeface="AlibabaPuHuiTi-Alibaba-PuHuiTi" pitchFamily="34" charset="-120"/>
              </a:rPr>
              <a:t>12. Limitations of AWS Lambda</a:t>
            </a:r>
            <a:endParaRPr lang="en-US" sz="223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4630400" cy="8238744"/>
          </a:xfrm>
          <a:prstGeom prst="rect">
            <a:avLst/>
          </a:prstGeom>
        </p:spPr>
      </p:pic>
      <p:pic>
        <p:nvPicPr>
          <p:cNvPr id="3" name="Image 1" descr="preencoded.png"/>
          <p:cNvPicPr>
            <a:picLocks noChangeAspect="1"/>
          </p:cNvPicPr>
          <p:nvPr/>
        </p:nvPicPr>
        <p:blipFill>
          <a:blip r:embed="rId4"/>
          <a:stretch>
            <a:fillRect/>
          </a:stretch>
        </p:blipFill>
        <p:spPr>
          <a:xfrm>
            <a:off x="0" y="0"/>
            <a:ext cx="14630400" cy="2624328"/>
          </a:xfrm>
          <a:prstGeom prst="rect">
            <a:avLst/>
          </a:prstGeom>
        </p:spPr>
      </p:pic>
      <p:sp>
        <p:nvSpPr>
          <p:cNvPr id="4" name="Text 0"/>
          <p:cNvSpPr/>
          <p:nvPr/>
        </p:nvSpPr>
        <p:spPr>
          <a:xfrm>
            <a:off x="795528" y="3749040"/>
            <a:ext cx="13048488" cy="713232"/>
          </a:xfrm>
          <a:prstGeom prst="rect">
            <a:avLst/>
          </a:prstGeom>
          <a:noFill/>
          <a:ln/>
        </p:spPr>
        <p:txBody>
          <a:bodyPr wrap="none" lIns="0" tIns="0" rIns="0" bIns="0" rtlCol="0" anchor="ctr"/>
          <a:lstStyle/>
          <a:p>
            <a:pPr marL="0" indent="0" algn="l">
              <a:lnSpc>
                <a:spcPts val="5580"/>
              </a:lnSpc>
              <a:buNone/>
            </a:pPr>
            <a:r>
              <a:rPr lang="en-US" sz="4460" dirty="0">
                <a:solidFill>
                  <a:srgbClr val="77D8F2"/>
                </a:solidFill>
                <a:latin typeface="AlibabaPuHuiTi-Alibaba-PuHuiTi" pitchFamily="34" charset="0"/>
                <a:ea typeface="AlibabaPuHuiTi-Alibaba-PuHuiTi" pitchFamily="34" charset="-122"/>
                <a:cs typeface="AlibabaPuHuiTi-Alibaba-PuHuiTi" pitchFamily="34" charset="-120"/>
              </a:rPr>
              <a:t>1. Introduction to AWS Lambda</a:t>
            </a:r>
            <a:endParaRPr lang="en-US" sz="4460" dirty="0"/>
          </a:p>
        </p:txBody>
      </p:sp>
      <p:sp>
        <p:nvSpPr>
          <p:cNvPr id="5" name="Text 1"/>
          <p:cNvSpPr/>
          <p:nvPr/>
        </p:nvSpPr>
        <p:spPr>
          <a:xfrm>
            <a:off x="795528" y="4718304"/>
            <a:ext cx="13048488" cy="576072"/>
          </a:xfrm>
          <a:prstGeom prst="rect">
            <a:avLst/>
          </a:prstGeom>
          <a:noFill/>
          <a:ln/>
        </p:spPr>
        <p:txBody>
          <a:bodyPr wrap="none" lIns="0" tIns="0" rIns="0" bIns="0" rtlCol="0" anchor="ctr"/>
          <a:lstStyle/>
          <a:p>
            <a:pPr marL="0" indent="0" algn="l">
              <a:lnSpc>
                <a:spcPts val="4460"/>
              </a:lnSpc>
              <a:buNone/>
            </a:pPr>
            <a:r>
              <a:rPr lang="en-US" sz="3570" dirty="0">
                <a:solidFill>
                  <a:srgbClr val="77D8F2"/>
                </a:solidFill>
                <a:latin typeface="AlibabaPuHuiTi-Alibaba-PuHuiTi" pitchFamily="34" charset="0"/>
                <a:ea typeface="AlibabaPuHuiTi-Alibaba-PuHuiTi" pitchFamily="34" charset="-122"/>
                <a:cs typeface="AlibabaPuHuiTi-Alibaba-PuHuiTi" pitchFamily="34" charset="-120"/>
              </a:rPr>
              <a:t>What is AWS Lambda?</a:t>
            </a:r>
            <a:endParaRPr lang="en-US" sz="3570" dirty="0"/>
          </a:p>
        </p:txBody>
      </p:sp>
      <p:sp>
        <p:nvSpPr>
          <p:cNvPr id="6" name="Text 2"/>
          <p:cNvSpPr/>
          <p:nvPr/>
        </p:nvSpPr>
        <p:spPr>
          <a:xfrm>
            <a:off x="795528" y="5541264"/>
            <a:ext cx="13048488" cy="1024128"/>
          </a:xfrm>
          <a:prstGeom prst="rect">
            <a:avLst/>
          </a:prstGeom>
          <a:noFill/>
          <a:ln/>
        </p:spPr>
        <p:txBody>
          <a:bodyPr wrap="square" lIns="0" tIns="0" rIns="0" bIns="0" rtlCol="0" anchor="ctr"/>
          <a:lstStyle/>
          <a:p>
            <a:pPr marL="0" indent="0" algn="l">
              <a:lnSpc>
                <a:spcPts val="2230"/>
              </a:lnSpc>
              <a:buNone/>
            </a:pPr>
            <a:r>
              <a:rPr lang="en-US" sz="1780" dirty="0">
                <a:solidFill>
                  <a:srgbClr val="DBDBDB"/>
                </a:solidFill>
                <a:latin typeface="思源黑体-思源黑体-Medium" pitchFamily="34" charset="0"/>
                <a:ea typeface="思源黑体-思源黑体-Medium" pitchFamily="34" charset="-122"/>
                <a:cs typeface="思源黑体-思源黑体-Medium" pitchFamily="34" charset="-120"/>
              </a:rPr>
              <a:t>AWS Lambda is a serverless compute service offered by Amazon Web Services. It allows you to run code without the need to manage servers. You simply upload your function, and AWS handles everything else, including scaling, availability, and fault tolerance. You pay only for the compute time you use.</a:t>
            </a:r>
            <a:endParaRPr lang="en-US" sz="178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4630400" cy="8238744"/>
          </a:xfrm>
          <a:prstGeom prst="rect">
            <a:avLst/>
          </a:prstGeom>
        </p:spPr>
      </p:pic>
      <p:pic>
        <p:nvPicPr>
          <p:cNvPr id="3" name="Image 1" descr="preencoded.png"/>
          <p:cNvPicPr>
            <a:picLocks noChangeAspect="1"/>
          </p:cNvPicPr>
          <p:nvPr/>
        </p:nvPicPr>
        <p:blipFill>
          <a:blip r:embed="rId4"/>
          <a:stretch>
            <a:fillRect/>
          </a:stretch>
        </p:blipFill>
        <p:spPr>
          <a:xfrm>
            <a:off x="0" y="0"/>
            <a:ext cx="14630400" cy="2624328"/>
          </a:xfrm>
          <a:prstGeom prst="rect">
            <a:avLst/>
          </a:prstGeom>
        </p:spPr>
      </p:pic>
      <p:pic>
        <p:nvPicPr>
          <p:cNvPr id="4" name="Image 2" descr="preencoded.png"/>
          <p:cNvPicPr>
            <a:picLocks noChangeAspect="1"/>
          </p:cNvPicPr>
          <p:nvPr/>
        </p:nvPicPr>
        <p:blipFill>
          <a:blip r:embed="rId5"/>
          <a:stretch>
            <a:fillRect/>
          </a:stretch>
        </p:blipFill>
        <p:spPr>
          <a:xfrm>
            <a:off x="786384" y="4727448"/>
            <a:ext cx="4233672" cy="1691640"/>
          </a:xfrm>
          <a:prstGeom prst="rect">
            <a:avLst/>
          </a:prstGeom>
        </p:spPr>
      </p:pic>
      <p:pic>
        <p:nvPicPr>
          <p:cNvPr id="5" name="Image 3" descr="preencoded.png"/>
          <p:cNvPicPr>
            <a:picLocks noChangeAspect="1"/>
          </p:cNvPicPr>
          <p:nvPr/>
        </p:nvPicPr>
        <p:blipFill>
          <a:blip r:embed="rId5"/>
          <a:stretch>
            <a:fillRect/>
          </a:stretch>
        </p:blipFill>
        <p:spPr>
          <a:xfrm>
            <a:off x="5202936" y="4727448"/>
            <a:ext cx="4233672" cy="1691640"/>
          </a:xfrm>
          <a:prstGeom prst="rect">
            <a:avLst/>
          </a:prstGeom>
        </p:spPr>
      </p:pic>
      <p:pic>
        <p:nvPicPr>
          <p:cNvPr id="6" name="Image 4" descr="preencoded.png"/>
          <p:cNvPicPr>
            <a:picLocks noChangeAspect="1"/>
          </p:cNvPicPr>
          <p:nvPr/>
        </p:nvPicPr>
        <p:blipFill>
          <a:blip r:embed="rId5"/>
          <a:stretch>
            <a:fillRect/>
          </a:stretch>
        </p:blipFill>
        <p:spPr>
          <a:xfrm>
            <a:off x="9628632" y="4727448"/>
            <a:ext cx="4233672" cy="1691640"/>
          </a:xfrm>
          <a:prstGeom prst="rect">
            <a:avLst/>
          </a:prstGeom>
        </p:spPr>
      </p:pic>
      <p:sp>
        <p:nvSpPr>
          <p:cNvPr id="7" name="Text 0"/>
          <p:cNvSpPr/>
          <p:nvPr/>
        </p:nvSpPr>
        <p:spPr>
          <a:xfrm>
            <a:off x="795528" y="3319272"/>
            <a:ext cx="13048488" cy="576072"/>
          </a:xfrm>
          <a:prstGeom prst="rect">
            <a:avLst/>
          </a:prstGeom>
          <a:noFill/>
          <a:ln/>
        </p:spPr>
        <p:txBody>
          <a:bodyPr wrap="none" lIns="0" tIns="0" rIns="0" bIns="0" rtlCol="0" anchor="ctr"/>
          <a:lstStyle/>
          <a:p>
            <a:pPr marL="0" indent="0" algn="l">
              <a:lnSpc>
                <a:spcPts val="4460"/>
              </a:lnSpc>
              <a:buNone/>
            </a:pPr>
            <a:r>
              <a:rPr lang="en-US" sz="3570" dirty="0">
                <a:solidFill>
                  <a:srgbClr val="77D8F2"/>
                </a:solidFill>
                <a:latin typeface="AlibabaPuHuiTi-Alibaba-PuHuiTi" pitchFamily="34" charset="0"/>
                <a:ea typeface="AlibabaPuHuiTi-Alibaba-PuHuiTi" pitchFamily="34" charset="-122"/>
                <a:cs typeface="AlibabaPuHuiTi-Alibaba-PuHuiTi" pitchFamily="34" charset="-120"/>
              </a:rPr>
              <a:t>What Does “Serverless” Mean?</a:t>
            </a:r>
            <a:endParaRPr lang="en-US" sz="3570" dirty="0"/>
          </a:p>
        </p:txBody>
      </p:sp>
      <p:sp>
        <p:nvSpPr>
          <p:cNvPr id="8" name="Text 1"/>
          <p:cNvSpPr/>
          <p:nvPr/>
        </p:nvSpPr>
        <p:spPr>
          <a:xfrm>
            <a:off x="795528" y="4142232"/>
            <a:ext cx="13048488" cy="347472"/>
          </a:xfrm>
          <a:prstGeom prst="rect">
            <a:avLst/>
          </a:prstGeom>
          <a:noFill/>
          <a:ln/>
        </p:spPr>
        <p:txBody>
          <a:bodyPr wrap="none" lIns="0" tIns="0" rIns="0" bIns="0" rtlCol="0" anchor="ctr"/>
          <a:lstStyle/>
          <a:p>
            <a:pPr marL="0" indent="0" algn="l">
              <a:lnSpc>
                <a:spcPts val="2230"/>
              </a:lnSpc>
              <a:buNone/>
            </a:pPr>
            <a:r>
              <a:rPr lang="en-US" sz="1780" dirty="0">
                <a:solidFill>
                  <a:srgbClr val="DBDBDB"/>
                </a:solidFill>
                <a:latin typeface="思源黑体-思源黑体-Medium" pitchFamily="34" charset="0"/>
                <a:ea typeface="思源黑体-思源黑体-Medium" pitchFamily="34" charset="-122"/>
                <a:cs typeface="思源黑体-思源黑体-Medium" pitchFamily="34" charset="-120"/>
              </a:rPr>
              <a:t>“Serverless” doesn’t mean no servers; it means you don’t manage servers. AWS automatically handles the following:</a:t>
            </a:r>
            <a:endParaRPr lang="en-US" sz="1780" dirty="0"/>
          </a:p>
        </p:txBody>
      </p:sp>
      <p:sp>
        <p:nvSpPr>
          <p:cNvPr id="9" name="Text 2"/>
          <p:cNvSpPr/>
          <p:nvPr/>
        </p:nvSpPr>
        <p:spPr>
          <a:xfrm>
            <a:off x="1042416" y="4983480"/>
            <a:ext cx="3721608" cy="356616"/>
          </a:xfrm>
          <a:prstGeom prst="rect">
            <a:avLst/>
          </a:prstGeom>
          <a:noFill/>
          <a:ln/>
        </p:spPr>
        <p:txBody>
          <a:bodyPr wrap="none" lIns="0" tIns="0" rIns="0" bIns="0" rtlCol="0" anchor="ctr"/>
          <a:lstStyle/>
          <a:p>
            <a:pPr marL="0" indent="0" algn="l">
              <a:lnSpc>
                <a:spcPts val="2790"/>
              </a:lnSpc>
              <a:buNone/>
            </a:pPr>
            <a:r>
              <a:rPr lang="en-US" sz="2230" dirty="0">
                <a:solidFill>
                  <a:srgbClr val="2E2E2E"/>
                </a:solidFill>
                <a:latin typeface="AlibabaPuHuiTi-Alibaba-PuHuiTi" pitchFamily="34" charset="0"/>
                <a:ea typeface="AlibabaPuHuiTi-Alibaba-PuHuiTi" pitchFamily="34" charset="-122"/>
                <a:cs typeface="AlibabaPuHuiTi-Alibaba-PuHuiTi" pitchFamily="34" charset="-120"/>
              </a:rPr>
              <a:t>Provisioning servers</a:t>
            </a:r>
            <a:endParaRPr lang="en-US" sz="2230" dirty="0"/>
          </a:p>
        </p:txBody>
      </p:sp>
      <p:sp>
        <p:nvSpPr>
          <p:cNvPr id="10" name="Text 3"/>
          <p:cNvSpPr/>
          <p:nvPr/>
        </p:nvSpPr>
        <p:spPr>
          <a:xfrm>
            <a:off x="1042416" y="5468112"/>
            <a:ext cx="3721608" cy="685800"/>
          </a:xfrm>
          <a:prstGeom prst="rect">
            <a:avLst/>
          </a:prstGeom>
          <a:noFill/>
          <a:ln/>
        </p:spPr>
        <p:txBody>
          <a:bodyPr wrap="square" lIns="0" tIns="0" rIns="0" bIns="0" rtlCol="0" anchor="ctr"/>
          <a:lstStyle/>
          <a:p>
            <a:pPr marL="0" indent="0" algn="l">
              <a:lnSpc>
                <a:spcPts val="2230"/>
              </a:lnSpc>
              <a:buNone/>
            </a:pPr>
            <a:r>
              <a:rPr lang="en-US" sz="1780" dirty="0">
                <a:solidFill>
                  <a:srgbClr val="2E2E2E"/>
                </a:solidFill>
                <a:latin typeface="思源黑体-思源黑体-Medium" pitchFamily="34" charset="0"/>
                <a:ea typeface="思源黑体-思源黑体-Medium" pitchFamily="34" charset="-122"/>
                <a:cs typeface="思源黑体-思源黑体-Medium" pitchFamily="34" charset="-120"/>
              </a:rPr>
              <a:t> No need to worry about server setup.</a:t>
            </a:r>
            <a:endParaRPr lang="en-US" sz="1780" dirty="0"/>
          </a:p>
        </p:txBody>
      </p:sp>
      <p:sp>
        <p:nvSpPr>
          <p:cNvPr id="11" name="Text 4"/>
          <p:cNvSpPr/>
          <p:nvPr/>
        </p:nvSpPr>
        <p:spPr>
          <a:xfrm>
            <a:off x="795528" y="6647688"/>
            <a:ext cx="13048488" cy="347472"/>
          </a:xfrm>
          <a:prstGeom prst="rect">
            <a:avLst/>
          </a:prstGeom>
          <a:noFill/>
          <a:ln/>
        </p:spPr>
        <p:txBody>
          <a:bodyPr wrap="none" lIns="0" tIns="0" rIns="0" bIns="0" rtlCol="0" anchor="ctr"/>
          <a:lstStyle/>
          <a:p>
            <a:pPr marL="0" indent="0" algn="l">
              <a:lnSpc>
                <a:spcPts val="2230"/>
              </a:lnSpc>
              <a:buNone/>
            </a:pPr>
            <a:r>
              <a:rPr lang="en-US" sz="1780" dirty="0">
                <a:solidFill>
                  <a:srgbClr val="DBDBDB"/>
                </a:solidFill>
                <a:latin typeface="思源黑体-思源黑体-Medium" pitchFamily="34" charset="0"/>
                <a:ea typeface="思源黑体-思源黑体-Medium" pitchFamily="34" charset="-122"/>
                <a:cs typeface="思源黑体-思源黑体-Medium" pitchFamily="34" charset="-120"/>
              </a:rPr>
              <a:t>Developers can focus solely on writing code.</a:t>
            </a:r>
            <a:endParaRPr lang="en-US" sz="1780" dirty="0"/>
          </a:p>
        </p:txBody>
      </p:sp>
      <p:sp>
        <p:nvSpPr>
          <p:cNvPr id="12" name="Text 5"/>
          <p:cNvSpPr/>
          <p:nvPr/>
        </p:nvSpPr>
        <p:spPr>
          <a:xfrm>
            <a:off x="5458968" y="4983480"/>
            <a:ext cx="3721608" cy="356616"/>
          </a:xfrm>
          <a:prstGeom prst="rect">
            <a:avLst/>
          </a:prstGeom>
          <a:noFill/>
          <a:ln/>
        </p:spPr>
        <p:txBody>
          <a:bodyPr wrap="none" lIns="0" tIns="0" rIns="0" bIns="0" rtlCol="0" anchor="ctr"/>
          <a:lstStyle/>
          <a:p>
            <a:pPr marL="0" indent="0" algn="l">
              <a:lnSpc>
                <a:spcPts val="2790"/>
              </a:lnSpc>
              <a:buNone/>
            </a:pPr>
            <a:r>
              <a:rPr lang="en-US" sz="2230" dirty="0">
                <a:solidFill>
                  <a:srgbClr val="2E2E2E"/>
                </a:solidFill>
                <a:latin typeface="AlibabaPuHuiTi-Alibaba-PuHuiTi" pitchFamily="34" charset="0"/>
                <a:ea typeface="AlibabaPuHuiTi-Alibaba-PuHuiTi" pitchFamily="34" charset="-122"/>
                <a:cs typeface="AlibabaPuHuiTi-Alibaba-PuHuiTi" pitchFamily="34" charset="-120"/>
              </a:rPr>
              <a:t>Scaling capacity</a:t>
            </a:r>
            <a:endParaRPr lang="en-US" sz="2230" dirty="0"/>
          </a:p>
        </p:txBody>
      </p:sp>
      <p:sp>
        <p:nvSpPr>
          <p:cNvPr id="13" name="Text 6"/>
          <p:cNvSpPr/>
          <p:nvPr/>
        </p:nvSpPr>
        <p:spPr>
          <a:xfrm>
            <a:off x="5458968" y="5468112"/>
            <a:ext cx="3721608" cy="347472"/>
          </a:xfrm>
          <a:prstGeom prst="rect">
            <a:avLst/>
          </a:prstGeom>
          <a:noFill/>
          <a:ln/>
        </p:spPr>
        <p:txBody>
          <a:bodyPr wrap="none" lIns="0" tIns="0" rIns="0" bIns="0" rtlCol="0" anchor="ctr"/>
          <a:lstStyle/>
          <a:p>
            <a:pPr marL="0" indent="0" algn="l">
              <a:lnSpc>
                <a:spcPts val="2230"/>
              </a:lnSpc>
              <a:buNone/>
            </a:pPr>
            <a:r>
              <a:rPr lang="en-US" sz="1780" dirty="0">
                <a:solidFill>
                  <a:srgbClr val="2E2E2E"/>
                </a:solidFill>
                <a:latin typeface="思源黑体-思源黑体-Medium" pitchFamily="34" charset="0"/>
                <a:ea typeface="思源黑体-思源黑体-Medium" pitchFamily="34" charset="-122"/>
                <a:cs typeface="思源黑体-思源黑体-Medium" pitchFamily="34" charset="-120"/>
              </a:rPr>
              <a:t> Resources scale as per demand.</a:t>
            </a:r>
            <a:endParaRPr lang="en-US" sz="1780" dirty="0"/>
          </a:p>
        </p:txBody>
      </p:sp>
      <p:sp>
        <p:nvSpPr>
          <p:cNvPr id="14" name="Text 7"/>
          <p:cNvSpPr/>
          <p:nvPr/>
        </p:nvSpPr>
        <p:spPr>
          <a:xfrm>
            <a:off x="9884664" y="4983480"/>
            <a:ext cx="3721608" cy="356616"/>
          </a:xfrm>
          <a:prstGeom prst="rect">
            <a:avLst/>
          </a:prstGeom>
          <a:noFill/>
          <a:ln/>
        </p:spPr>
        <p:txBody>
          <a:bodyPr wrap="none" lIns="0" tIns="0" rIns="0" bIns="0" rtlCol="0" anchor="ctr"/>
          <a:lstStyle/>
          <a:p>
            <a:pPr marL="0" indent="0" algn="l">
              <a:lnSpc>
                <a:spcPts val="2790"/>
              </a:lnSpc>
              <a:buNone/>
            </a:pPr>
            <a:r>
              <a:rPr lang="en-US" sz="2230" dirty="0">
                <a:solidFill>
                  <a:srgbClr val="2E2E2E"/>
                </a:solidFill>
                <a:latin typeface="AlibabaPuHuiTi-Alibaba-PuHuiTi" pitchFamily="34" charset="0"/>
                <a:ea typeface="AlibabaPuHuiTi-Alibaba-PuHuiTi" pitchFamily="34" charset="-122"/>
                <a:cs typeface="AlibabaPuHuiTi-Alibaba-PuHuiTi" pitchFamily="34" charset="-120"/>
              </a:rPr>
              <a:t>Patching and maintenance</a:t>
            </a:r>
            <a:endParaRPr lang="en-US" sz="2230" dirty="0"/>
          </a:p>
        </p:txBody>
      </p:sp>
      <p:sp>
        <p:nvSpPr>
          <p:cNvPr id="15" name="Text 8"/>
          <p:cNvSpPr/>
          <p:nvPr/>
        </p:nvSpPr>
        <p:spPr>
          <a:xfrm>
            <a:off x="9884664" y="5468112"/>
            <a:ext cx="3721608" cy="347472"/>
          </a:xfrm>
          <a:prstGeom prst="rect">
            <a:avLst/>
          </a:prstGeom>
          <a:noFill/>
          <a:ln/>
        </p:spPr>
        <p:txBody>
          <a:bodyPr wrap="none" lIns="0" tIns="0" rIns="0" bIns="0" rtlCol="0" anchor="ctr"/>
          <a:lstStyle/>
          <a:p>
            <a:pPr marL="0" indent="0" algn="l">
              <a:lnSpc>
                <a:spcPts val="2230"/>
              </a:lnSpc>
              <a:buNone/>
            </a:pPr>
            <a:r>
              <a:rPr lang="en-US" sz="1780" dirty="0">
                <a:solidFill>
                  <a:srgbClr val="2E2E2E"/>
                </a:solidFill>
                <a:latin typeface="思源黑体-思源黑体-Medium" pitchFamily="34" charset="0"/>
                <a:ea typeface="思源黑体-思源黑体-Medium" pitchFamily="34" charset="-122"/>
                <a:cs typeface="思源黑体-思源黑体-Medium" pitchFamily="34" charset="-120"/>
              </a:rPr>
              <a:t> AWS takes care of upkeep.</a:t>
            </a:r>
            <a:endParaRPr lang="en-US" sz="178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4630400" cy="8238744"/>
          </a:xfrm>
          <a:prstGeom prst="rect">
            <a:avLst/>
          </a:prstGeom>
        </p:spPr>
      </p:pic>
      <p:pic>
        <p:nvPicPr>
          <p:cNvPr id="3" name="Image 1" descr="preencoded.png"/>
          <p:cNvPicPr>
            <a:picLocks noChangeAspect="1"/>
          </p:cNvPicPr>
          <p:nvPr/>
        </p:nvPicPr>
        <p:blipFill>
          <a:blip r:embed="rId4"/>
          <a:stretch>
            <a:fillRect/>
          </a:stretch>
        </p:blipFill>
        <p:spPr>
          <a:xfrm>
            <a:off x="9409176" y="0"/>
            <a:ext cx="5230368" cy="8238744"/>
          </a:xfrm>
          <a:prstGeom prst="rect">
            <a:avLst/>
          </a:prstGeom>
        </p:spPr>
      </p:pic>
      <p:pic>
        <p:nvPicPr>
          <p:cNvPr id="4" name="Image 2" descr="preencoded.png"/>
          <p:cNvPicPr>
            <a:picLocks noChangeAspect="1"/>
          </p:cNvPicPr>
          <p:nvPr/>
        </p:nvPicPr>
        <p:blipFill>
          <a:blip r:embed="rId5"/>
          <a:stretch>
            <a:fillRect/>
          </a:stretch>
        </p:blipFill>
        <p:spPr>
          <a:xfrm>
            <a:off x="786384" y="2642616"/>
            <a:ext cx="3959352" cy="2103120"/>
          </a:xfrm>
          <a:prstGeom prst="rect">
            <a:avLst/>
          </a:prstGeom>
        </p:spPr>
      </p:pic>
      <p:pic>
        <p:nvPicPr>
          <p:cNvPr id="5" name="Image 3" descr="preencoded.png"/>
          <p:cNvPicPr>
            <a:picLocks noChangeAspect="1"/>
          </p:cNvPicPr>
          <p:nvPr/>
        </p:nvPicPr>
        <p:blipFill>
          <a:blip r:embed="rId6"/>
          <a:stretch>
            <a:fillRect/>
          </a:stretch>
        </p:blipFill>
        <p:spPr>
          <a:xfrm>
            <a:off x="786384" y="4937760"/>
            <a:ext cx="3959352" cy="2441448"/>
          </a:xfrm>
          <a:prstGeom prst="rect">
            <a:avLst/>
          </a:prstGeom>
        </p:spPr>
      </p:pic>
      <p:pic>
        <p:nvPicPr>
          <p:cNvPr id="6" name="Image 4" descr="preencoded.png"/>
          <p:cNvPicPr>
            <a:picLocks noChangeAspect="1"/>
          </p:cNvPicPr>
          <p:nvPr/>
        </p:nvPicPr>
        <p:blipFill>
          <a:blip r:embed="rId5"/>
          <a:stretch>
            <a:fillRect/>
          </a:stretch>
        </p:blipFill>
        <p:spPr>
          <a:xfrm>
            <a:off x="4928616" y="2642616"/>
            <a:ext cx="3959352" cy="2103120"/>
          </a:xfrm>
          <a:prstGeom prst="rect">
            <a:avLst/>
          </a:prstGeom>
        </p:spPr>
      </p:pic>
      <p:pic>
        <p:nvPicPr>
          <p:cNvPr id="7" name="Image 5" descr="preencoded.png"/>
          <p:cNvPicPr>
            <a:picLocks noChangeAspect="1"/>
          </p:cNvPicPr>
          <p:nvPr/>
        </p:nvPicPr>
        <p:blipFill>
          <a:blip r:embed="rId6"/>
          <a:stretch>
            <a:fillRect/>
          </a:stretch>
        </p:blipFill>
        <p:spPr>
          <a:xfrm>
            <a:off x="4928616" y="4937760"/>
            <a:ext cx="3959352" cy="2441448"/>
          </a:xfrm>
          <a:prstGeom prst="rect">
            <a:avLst/>
          </a:prstGeom>
        </p:spPr>
      </p:pic>
      <p:pic>
        <p:nvPicPr>
          <p:cNvPr id="8" name="Image 6" descr="preencoded.png"/>
          <p:cNvPicPr>
            <a:picLocks noChangeAspect="1"/>
          </p:cNvPicPr>
          <p:nvPr/>
        </p:nvPicPr>
        <p:blipFill>
          <a:blip r:embed="rId7"/>
          <a:stretch>
            <a:fillRect/>
          </a:stretch>
        </p:blipFill>
        <p:spPr>
          <a:xfrm>
            <a:off x="1042416" y="3813048"/>
            <a:ext cx="3438144" cy="685800"/>
          </a:xfrm>
          <a:prstGeom prst="rect">
            <a:avLst/>
          </a:prstGeom>
        </p:spPr>
      </p:pic>
      <p:pic>
        <p:nvPicPr>
          <p:cNvPr id="9" name="Image 7" descr="preencoded.png"/>
          <p:cNvPicPr>
            <a:picLocks noChangeAspect="1"/>
          </p:cNvPicPr>
          <p:nvPr/>
        </p:nvPicPr>
        <p:blipFill>
          <a:blip r:embed="rId8"/>
          <a:stretch>
            <a:fillRect/>
          </a:stretch>
        </p:blipFill>
        <p:spPr>
          <a:xfrm>
            <a:off x="1042416" y="6108192"/>
            <a:ext cx="3438144" cy="1024128"/>
          </a:xfrm>
          <a:prstGeom prst="rect">
            <a:avLst/>
          </a:prstGeom>
        </p:spPr>
      </p:pic>
      <p:pic>
        <p:nvPicPr>
          <p:cNvPr id="10" name="Image 8" descr="preencoded.png"/>
          <p:cNvPicPr>
            <a:picLocks noChangeAspect="1"/>
          </p:cNvPicPr>
          <p:nvPr/>
        </p:nvPicPr>
        <p:blipFill>
          <a:blip r:embed="rId7"/>
          <a:stretch>
            <a:fillRect/>
          </a:stretch>
        </p:blipFill>
        <p:spPr>
          <a:xfrm>
            <a:off x="5184648" y="3813048"/>
            <a:ext cx="3438144" cy="685800"/>
          </a:xfrm>
          <a:prstGeom prst="rect">
            <a:avLst/>
          </a:prstGeom>
        </p:spPr>
      </p:pic>
      <p:pic>
        <p:nvPicPr>
          <p:cNvPr id="11" name="Image 9" descr="preencoded.png"/>
          <p:cNvPicPr>
            <a:picLocks noChangeAspect="1"/>
          </p:cNvPicPr>
          <p:nvPr/>
        </p:nvPicPr>
        <p:blipFill>
          <a:blip r:embed="rId8"/>
          <a:stretch>
            <a:fillRect/>
          </a:stretch>
        </p:blipFill>
        <p:spPr>
          <a:xfrm>
            <a:off x="5184648" y="6108192"/>
            <a:ext cx="3438144" cy="1024128"/>
          </a:xfrm>
          <a:prstGeom prst="rect">
            <a:avLst/>
          </a:prstGeom>
        </p:spPr>
      </p:pic>
      <p:pic>
        <p:nvPicPr>
          <p:cNvPr id="12" name="Image 10" descr="preencoded.png"/>
          <p:cNvPicPr>
            <a:picLocks noChangeAspect="1"/>
          </p:cNvPicPr>
          <p:nvPr/>
        </p:nvPicPr>
        <p:blipFill>
          <a:blip r:embed="rId9"/>
          <a:stretch>
            <a:fillRect/>
          </a:stretch>
        </p:blipFill>
        <p:spPr>
          <a:xfrm>
            <a:off x="1024128" y="2889504"/>
            <a:ext cx="713232" cy="713232"/>
          </a:xfrm>
          <a:prstGeom prst="rect">
            <a:avLst/>
          </a:prstGeom>
        </p:spPr>
      </p:pic>
      <p:pic>
        <p:nvPicPr>
          <p:cNvPr id="13" name="Image 11" descr="preencoded.png"/>
          <p:cNvPicPr>
            <a:picLocks noChangeAspect="1"/>
          </p:cNvPicPr>
          <p:nvPr/>
        </p:nvPicPr>
        <p:blipFill>
          <a:blip r:embed="rId9"/>
          <a:stretch>
            <a:fillRect/>
          </a:stretch>
        </p:blipFill>
        <p:spPr>
          <a:xfrm>
            <a:off x="1024128" y="5184648"/>
            <a:ext cx="713232" cy="713232"/>
          </a:xfrm>
          <a:prstGeom prst="rect">
            <a:avLst/>
          </a:prstGeom>
        </p:spPr>
      </p:pic>
      <p:pic>
        <p:nvPicPr>
          <p:cNvPr id="14" name="Image 12" descr="preencoded.png"/>
          <p:cNvPicPr>
            <a:picLocks noChangeAspect="1"/>
          </p:cNvPicPr>
          <p:nvPr/>
        </p:nvPicPr>
        <p:blipFill>
          <a:blip r:embed="rId9"/>
          <a:stretch>
            <a:fillRect/>
          </a:stretch>
        </p:blipFill>
        <p:spPr>
          <a:xfrm>
            <a:off x="5175504" y="2889504"/>
            <a:ext cx="713232" cy="713232"/>
          </a:xfrm>
          <a:prstGeom prst="rect">
            <a:avLst/>
          </a:prstGeom>
        </p:spPr>
      </p:pic>
      <p:pic>
        <p:nvPicPr>
          <p:cNvPr id="15" name="Image 13" descr="preencoded.png"/>
          <p:cNvPicPr>
            <a:picLocks noChangeAspect="1"/>
          </p:cNvPicPr>
          <p:nvPr/>
        </p:nvPicPr>
        <p:blipFill>
          <a:blip r:embed="rId9"/>
          <a:stretch>
            <a:fillRect/>
          </a:stretch>
        </p:blipFill>
        <p:spPr>
          <a:xfrm>
            <a:off x="5175504" y="5184648"/>
            <a:ext cx="713232" cy="713232"/>
          </a:xfrm>
          <a:prstGeom prst="rect">
            <a:avLst/>
          </a:prstGeom>
        </p:spPr>
      </p:pic>
      <p:sp>
        <p:nvSpPr>
          <p:cNvPr id="16" name="Text 0"/>
          <p:cNvSpPr/>
          <p:nvPr/>
        </p:nvSpPr>
        <p:spPr>
          <a:xfrm>
            <a:off x="795528" y="877824"/>
            <a:ext cx="8074152" cy="713232"/>
          </a:xfrm>
          <a:prstGeom prst="rect">
            <a:avLst/>
          </a:prstGeom>
          <a:noFill/>
          <a:ln/>
        </p:spPr>
        <p:txBody>
          <a:bodyPr wrap="none" lIns="0" tIns="0" rIns="0" bIns="0" rtlCol="0" anchor="ctr"/>
          <a:lstStyle/>
          <a:p>
            <a:pPr marL="0" indent="0" algn="l">
              <a:lnSpc>
                <a:spcPts val="5580"/>
              </a:lnSpc>
              <a:buNone/>
            </a:pPr>
            <a:r>
              <a:rPr lang="en-US" sz="4460" dirty="0">
                <a:solidFill>
                  <a:srgbClr val="77D8F2"/>
                </a:solidFill>
                <a:latin typeface="AlibabaPuHuiTi-Alibaba-PuHuiTi" pitchFamily="34" charset="0"/>
                <a:ea typeface="AlibabaPuHuiTi-Alibaba-PuHuiTi" pitchFamily="34" charset="-122"/>
                <a:cs typeface="AlibabaPuHuiTi-Alibaba-PuHuiTi" pitchFamily="34" charset="-120"/>
              </a:rPr>
              <a:t>2. How AWS Lambda Works</a:t>
            </a:r>
            <a:endParaRPr lang="en-US" sz="4460" dirty="0"/>
          </a:p>
        </p:txBody>
      </p:sp>
      <p:sp>
        <p:nvSpPr>
          <p:cNvPr id="17" name="Text 1"/>
          <p:cNvSpPr/>
          <p:nvPr/>
        </p:nvSpPr>
        <p:spPr>
          <a:xfrm>
            <a:off x="795528" y="1837944"/>
            <a:ext cx="8074152" cy="576072"/>
          </a:xfrm>
          <a:prstGeom prst="rect">
            <a:avLst/>
          </a:prstGeom>
          <a:noFill/>
          <a:ln/>
        </p:spPr>
        <p:txBody>
          <a:bodyPr wrap="none" lIns="0" tIns="0" rIns="0" bIns="0" rtlCol="0" anchor="ctr"/>
          <a:lstStyle/>
          <a:p>
            <a:pPr marL="0" indent="0" algn="l">
              <a:lnSpc>
                <a:spcPts val="4460"/>
              </a:lnSpc>
              <a:buNone/>
            </a:pPr>
            <a:r>
              <a:rPr lang="en-US" sz="3570" dirty="0">
                <a:solidFill>
                  <a:srgbClr val="77D8F2"/>
                </a:solidFill>
                <a:latin typeface="AlibabaPuHuiTi-Alibaba-PuHuiTi" pitchFamily="34" charset="0"/>
                <a:ea typeface="AlibabaPuHuiTi-Alibaba-PuHuiTi" pitchFamily="34" charset="-122"/>
                <a:cs typeface="AlibabaPuHuiTi-Alibaba-PuHuiTi" pitchFamily="34" charset="-120"/>
              </a:rPr>
              <a:t>Functionality Overview</a:t>
            </a:r>
            <a:endParaRPr lang="en-US" sz="3570" dirty="0"/>
          </a:p>
        </p:txBody>
      </p:sp>
      <p:sp>
        <p:nvSpPr>
          <p:cNvPr id="18" name="Text 2"/>
          <p:cNvSpPr/>
          <p:nvPr/>
        </p:nvSpPr>
        <p:spPr>
          <a:xfrm>
            <a:off x="1289304" y="3026664"/>
            <a:ext cx="182880" cy="438912"/>
          </a:xfrm>
          <a:prstGeom prst="rect">
            <a:avLst/>
          </a:prstGeom>
          <a:noFill/>
          <a:ln/>
        </p:spPr>
        <p:txBody>
          <a:bodyPr wrap="none" lIns="0" tIns="0" rIns="0" bIns="0" rtlCol="0" anchor="ctr"/>
          <a:lstStyle/>
          <a:p>
            <a:pPr marL="0" indent="0" algn="l">
              <a:lnSpc>
                <a:spcPts val="2890"/>
              </a:lnSpc>
              <a:buNone/>
            </a:pPr>
            <a:r>
              <a:rPr lang="en-US" sz="2410" dirty="0">
                <a:solidFill>
                  <a:srgbClr val="050505"/>
                </a:solidFill>
                <a:latin typeface="思源黑体-思源黑体-Medium" pitchFamily="34" charset="0"/>
                <a:ea typeface="思源黑体-思源黑体-Medium" pitchFamily="34" charset="-122"/>
                <a:cs typeface="思源黑体-思源黑体-Medium" pitchFamily="34" charset="-120"/>
              </a:rPr>
              <a:t>1</a:t>
            </a:r>
            <a:endParaRPr lang="en-US" sz="2410" dirty="0"/>
          </a:p>
        </p:txBody>
      </p:sp>
      <p:sp>
        <p:nvSpPr>
          <p:cNvPr id="19" name="Text 3"/>
          <p:cNvSpPr/>
          <p:nvPr/>
        </p:nvSpPr>
        <p:spPr>
          <a:xfrm>
            <a:off x="1042416" y="3813048"/>
            <a:ext cx="3438144" cy="685800"/>
          </a:xfrm>
          <a:prstGeom prst="rect">
            <a:avLst/>
          </a:prstGeom>
          <a:noFill/>
          <a:ln/>
        </p:spPr>
        <p:txBody>
          <a:bodyPr wrap="square" lIns="0" tIns="0" rIns="0" bIns="0" rtlCol="0" anchor="ctr"/>
          <a:lstStyle/>
          <a:p>
            <a:pPr marL="0" indent="0" algn="l">
              <a:lnSpc>
                <a:spcPts val="2230"/>
              </a:lnSpc>
              <a:buNone/>
            </a:pPr>
            <a:r>
              <a:rPr lang="en-US" sz="1780" dirty="0">
                <a:solidFill>
                  <a:srgbClr val="2E2E2E"/>
                </a:solidFill>
                <a:latin typeface="思源黑体-思源黑体-Medium" pitchFamily="34" charset="0"/>
                <a:ea typeface="思源黑体-思源黑体-Medium" pitchFamily="34" charset="-122"/>
                <a:cs typeface="思源黑体-思源黑体-Medium" pitchFamily="34" charset="-120"/>
              </a:rPr>
              <a:t>You upload your code (Lambda function).</a:t>
            </a:r>
            <a:endParaRPr lang="en-US" sz="1780" dirty="0"/>
          </a:p>
        </p:txBody>
      </p:sp>
      <p:sp>
        <p:nvSpPr>
          <p:cNvPr id="20" name="Text 4"/>
          <p:cNvSpPr/>
          <p:nvPr/>
        </p:nvSpPr>
        <p:spPr>
          <a:xfrm>
            <a:off x="1289304" y="5321808"/>
            <a:ext cx="182880" cy="438912"/>
          </a:xfrm>
          <a:prstGeom prst="rect">
            <a:avLst/>
          </a:prstGeom>
          <a:noFill/>
          <a:ln/>
        </p:spPr>
        <p:txBody>
          <a:bodyPr wrap="none" lIns="0" tIns="0" rIns="0" bIns="0" rtlCol="0" anchor="ctr"/>
          <a:lstStyle/>
          <a:p>
            <a:pPr marL="0" indent="0" algn="l">
              <a:lnSpc>
                <a:spcPts val="2890"/>
              </a:lnSpc>
              <a:buNone/>
            </a:pPr>
            <a:r>
              <a:rPr lang="en-US" sz="2410" dirty="0">
                <a:solidFill>
                  <a:srgbClr val="050505"/>
                </a:solidFill>
                <a:latin typeface="思源黑体-思源黑体-Medium" pitchFamily="34" charset="0"/>
                <a:ea typeface="思源黑体-思源黑体-Medium" pitchFamily="34" charset="-122"/>
                <a:cs typeface="思源黑体-思源黑体-Medium" pitchFamily="34" charset="-120"/>
              </a:rPr>
              <a:t>3</a:t>
            </a:r>
            <a:endParaRPr lang="en-US" sz="2410" dirty="0"/>
          </a:p>
        </p:txBody>
      </p:sp>
      <p:sp>
        <p:nvSpPr>
          <p:cNvPr id="21" name="Text 5"/>
          <p:cNvSpPr/>
          <p:nvPr/>
        </p:nvSpPr>
        <p:spPr>
          <a:xfrm>
            <a:off x="1042416" y="6108192"/>
            <a:ext cx="3438144" cy="685800"/>
          </a:xfrm>
          <a:prstGeom prst="rect">
            <a:avLst/>
          </a:prstGeom>
          <a:noFill/>
          <a:ln/>
        </p:spPr>
        <p:txBody>
          <a:bodyPr wrap="square" lIns="0" tIns="0" rIns="0" bIns="0" rtlCol="0" anchor="ctr"/>
          <a:lstStyle/>
          <a:p>
            <a:pPr marL="0" indent="0" algn="l">
              <a:lnSpc>
                <a:spcPts val="2230"/>
              </a:lnSpc>
              <a:buNone/>
            </a:pPr>
            <a:r>
              <a:rPr lang="en-US" sz="1780" dirty="0">
                <a:solidFill>
                  <a:srgbClr val="2E2E2E"/>
                </a:solidFill>
                <a:latin typeface="思源黑体-思源黑体-Medium" pitchFamily="34" charset="0"/>
                <a:ea typeface="思源黑体-思源黑体-Medium" pitchFamily="34" charset="-122"/>
                <a:cs typeface="思源黑体-思源黑体-Medium" pitchFamily="34" charset="-120"/>
              </a:rPr>
              <a:t>Lambda automatically runs your code when the event occurs.</a:t>
            </a:r>
            <a:endParaRPr lang="en-US" sz="1780" dirty="0"/>
          </a:p>
        </p:txBody>
      </p:sp>
      <p:sp>
        <p:nvSpPr>
          <p:cNvPr id="22" name="Text 6"/>
          <p:cNvSpPr/>
          <p:nvPr/>
        </p:nvSpPr>
        <p:spPr>
          <a:xfrm>
            <a:off x="5440680" y="3026664"/>
            <a:ext cx="182880" cy="438912"/>
          </a:xfrm>
          <a:prstGeom prst="rect">
            <a:avLst/>
          </a:prstGeom>
          <a:noFill/>
          <a:ln/>
        </p:spPr>
        <p:txBody>
          <a:bodyPr wrap="none" lIns="0" tIns="0" rIns="0" bIns="0" rtlCol="0" anchor="ctr"/>
          <a:lstStyle/>
          <a:p>
            <a:pPr marL="0" indent="0" algn="l">
              <a:lnSpc>
                <a:spcPts val="2890"/>
              </a:lnSpc>
              <a:buNone/>
            </a:pPr>
            <a:r>
              <a:rPr lang="en-US" sz="2410" dirty="0">
                <a:solidFill>
                  <a:srgbClr val="050505"/>
                </a:solidFill>
                <a:latin typeface="思源黑体-思源黑体-Medium" pitchFamily="34" charset="0"/>
                <a:ea typeface="思源黑体-思源黑体-Medium" pitchFamily="34" charset="-122"/>
                <a:cs typeface="思源黑体-思源黑体-Medium" pitchFamily="34" charset="-120"/>
              </a:rPr>
              <a:t>2</a:t>
            </a:r>
            <a:endParaRPr lang="en-US" sz="2410" dirty="0"/>
          </a:p>
        </p:txBody>
      </p:sp>
      <p:sp>
        <p:nvSpPr>
          <p:cNvPr id="23" name="Text 7"/>
          <p:cNvSpPr/>
          <p:nvPr/>
        </p:nvSpPr>
        <p:spPr>
          <a:xfrm>
            <a:off x="5184648" y="3813048"/>
            <a:ext cx="3438144" cy="685800"/>
          </a:xfrm>
          <a:prstGeom prst="rect">
            <a:avLst/>
          </a:prstGeom>
          <a:noFill/>
          <a:ln/>
        </p:spPr>
        <p:txBody>
          <a:bodyPr wrap="square" lIns="0" tIns="0" rIns="0" bIns="0" rtlCol="0" anchor="ctr"/>
          <a:lstStyle/>
          <a:p>
            <a:pPr marL="0" indent="0" algn="l">
              <a:lnSpc>
                <a:spcPts val="2230"/>
              </a:lnSpc>
              <a:buNone/>
            </a:pPr>
            <a:r>
              <a:rPr lang="en-US" sz="1780" dirty="0">
                <a:solidFill>
                  <a:srgbClr val="2E2E2E"/>
                </a:solidFill>
                <a:latin typeface="思源黑体-思源黑体-Medium" pitchFamily="34" charset="0"/>
                <a:ea typeface="思源黑体-思源黑体-Medium" pitchFamily="34" charset="-122"/>
                <a:cs typeface="思源黑体-思源黑体-Medium" pitchFamily="34" charset="-120"/>
              </a:rPr>
              <a:t>You set up a trigger (like an API call, file upload, or event).</a:t>
            </a:r>
            <a:endParaRPr lang="en-US" sz="1780" dirty="0"/>
          </a:p>
        </p:txBody>
      </p:sp>
      <p:sp>
        <p:nvSpPr>
          <p:cNvPr id="24" name="Text 8"/>
          <p:cNvSpPr/>
          <p:nvPr/>
        </p:nvSpPr>
        <p:spPr>
          <a:xfrm>
            <a:off x="5440680" y="5321808"/>
            <a:ext cx="182880" cy="438912"/>
          </a:xfrm>
          <a:prstGeom prst="rect">
            <a:avLst/>
          </a:prstGeom>
          <a:noFill/>
          <a:ln/>
        </p:spPr>
        <p:txBody>
          <a:bodyPr wrap="none" lIns="0" tIns="0" rIns="0" bIns="0" rtlCol="0" anchor="ctr"/>
          <a:lstStyle/>
          <a:p>
            <a:pPr marL="0" indent="0" algn="l">
              <a:lnSpc>
                <a:spcPts val="2890"/>
              </a:lnSpc>
              <a:buNone/>
            </a:pPr>
            <a:r>
              <a:rPr lang="en-US" sz="2410" dirty="0">
                <a:solidFill>
                  <a:srgbClr val="050505"/>
                </a:solidFill>
                <a:latin typeface="思源黑体-思源黑体-Medium" pitchFamily="34" charset="0"/>
                <a:ea typeface="思源黑体-思源黑体-Medium" pitchFamily="34" charset="-122"/>
                <a:cs typeface="思源黑体-思源黑体-Medium" pitchFamily="34" charset="-120"/>
              </a:rPr>
              <a:t>4</a:t>
            </a:r>
            <a:endParaRPr lang="en-US" sz="2410" dirty="0"/>
          </a:p>
        </p:txBody>
      </p:sp>
      <p:sp>
        <p:nvSpPr>
          <p:cNvPr id="25" name="Text 9"/>
          <p:cNvSpPr/>
          <p:nvPr/>
        </p:nvSpPr>
        <p:spPr>
          <a:xfrm>
            <a:off x="5184648" y="6108192"/>
            <a:ext cx="3438144" cy="1024128"/>
          </a:xfrm>
          <a:prstGeom prst="rect">
            <a:avLst/>
          </a:prstGeom>
          <a:noFill/>
          <a:ln/>
        </p:spPr>
        <p:txBody>
          <a:bodyPr wrap="square" lIns="0" tIns="0" rIns="0" bIns="0" rtlCol="0" anchor="ctr"/>
          <a:lstStyle/>
          <a:p>
            <a:pPr marL="0" indent="0" algn="l">
              <a:lnSpc>
                <a:spcPts val="2230"/>
              </a:lnSpc>
              <a:buNone/>
            </a:pPr>
            <a:r>
              <a:rPr lang="en-US" sz="1780" dirty="0">
                <a:solidFill>
                  <a:srgbClr val="2E2E2E"/>
                </a:solidFill>
                <a:latin typeface="思源黑体-思源黑体-Medium" pitchFamily="34" charset="0"/>
                <a:ea typeface="思源黑体-思源黑体-Medium" pitchFamily="34" charset="-122"/>
                <a:cs typeface="思源黑体-思源黑体-Medium" pitchFamily="34" charset="-120"/>
              </a:rPr>
              <a:t>Once completed, AWS automatically scales down the function.</a:t>
            </a:r>
            <a:endParaRPr lang="en-US" sz="178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4630400" cy="8238744"/>
          </a:xfrm>
          <a:prstGeom prst="rect">
            <a:avLst/>
          </a:prstGeom>
        </p:spPr>
      </p:pic>
      <p:pic>
        <p:nvPicPr>
          <p:cNvPr id="3" name="Image 1" descr="preencoded.png"/>
          <p:cNvPicPr>
            <a:picLocks noChangeAspect="1"/>
          </p:cNvPicPr>
          <p:nvPr/>
        </p:nvPicPr>
        <p:blipFill>
          <a:blip r:embed="rId4"/>
          <a:stretch>
            <a:fillRect/>
          </a:stretch>
        </p:blipFill>
        <p:spPr>
          <a:xfrm>
            <a:off x="0" y="0"/>
            <a:ext cx="5852160" cy="8238744"/>
          </a:xfrm>
          <a:prstGeom prst="rect">
            <a:avLst/>
          </a:prstGeom>
        </p:spPr>
      </p:pic>
      <p:pic>
        <p:nvPicPr>
          <p:cNvPr id="4" name="Image 2" descr="preencoded.png"/>
          <p:cNvPicPr>
            <a:picLocks noChangeAspect="1"/>
          </p:cNvPicPr>
          <p:nvPr/>
        </p:nvPicPr>
        <p:blipFill>
          <a:blip r:embed="rId5"/>
          <a:stretch>
            <a:fillRect/>
          </a:stretch>
        </p:blipFill>
        <p:spPr>
          <a:xfrm>
            <a:off x="6638544" y="2414016"/>
            <a:ext cx="2286000" cy="2578608"/>
          </a:xfrm>
          <a:prstGeom prst="rect">
            <a:avLst/>
          </a:prstGeom>
        </p:spPr>
      </p:pic>
      <p:pic>
        <p:nvPicPr>
          <p:cNvPr id="5" name="Image 3" descr="preencoded.png"/>
          <p:cNvPicPr>
            <a:picLocks noChangeAspect="1"/>
          </p:cNvPicPr>
          <p:nvPr/>
        </p:nvPicPr>
        <p:blipFill>
          <a:blip r:embed="rId6"/>
          <a:stretch>
            <a:fillRect/>
          </a:stretch>
        </p:blipFill>
        <p:spPr>
          <a:xfrm>
            <a:off x="6638544" y="5166360"/>
            <a:ext cx="3520440" cy="2249424"/>
          </a:xfrm>
          <a:prstGeom prst="rect">
            <a:avLst/>
          </a:prstGeom>
        </p:spPr>
      </p:pic>
      <p:pic>
        <p:nvPicPr>
          <p:cNvPr id="6" name="Image 4" descr="preencoded.png"/>
          <p:cNvPicPr>
            <a:picLocks noChangeAspect="1"/>
          </p:cNvPicPr>
          <p:nvPr/>
        </p:nvPicPr>
        <p:blipFill>
          <a:blip r:embed="rId5"/>
          <a:stretch>
            <a:fillRect/>
          </a:stretch>
        </p:blipFill>
        <p:spPr>
          <a:xfrm>
            <a:off x="9107424" y="2414016"/>
            <a:ext cx="2286000" cy="2578608"/>
          </a:xfrm>
          <a:prstGeom prst="rect">
            <a:avLst/>
          </a:prstGeom>
        </p:spPr>
      </p:pic>
      <p:pic>
        <p:nvPicPr>
          <p:cNvPr id="7" name="Image 5" descr="preencoded.png"/>
          <p:cNvPicPr>
            <a:picLocks noChangeAspect="1"/>
          </p:cNvPicPr>
          <p:nvPr/>
        </p:nvPicPr>
        <p:blipFill>
          <a:blip r:embed="rId6"/>
          <a:stretch>
            <a:fillRect/>
          </a:stretch>
        </p:blipFill>
        <p:spPr>
          <a:xfrm>
            <a:off x="10341864" y="5166360"/>
            <a:ext cx="3520440" cy="2249424"/>
          </a:xfrm>
          <a:prstGeom prst="rect">
            <a:avLst/>
          </a:prstGeom>
        </p:spPr>
      </p:pic>
      <p:pic>
        <p:nvPicPr>
          <p:cNvPr id="8" name="Image 6" descr="preencoded.png"/>
          <p:cNvPicPr>
            <a:picLocks noChangeAspect="1"/>
          </p:cNvPicPr>
          <p:nvPr/>
        </p:nvPicPr>
        <p:blipFill>
          <a:blip r:embed="rId5"/>
          <a:stretch>
            <a:fillRect/>
          </a:stretch>
        </p:blipFill>
        <p:spPr>
          <a:xfrm>
            <a:off x="11576304" y="2414016"/>
            <a:ext cx="2286000" cy="2578608"/>
          </a:xfrm>
          <a:prstGeom prst="rect">
            <a:avLst/>
          </a:prstGeom>
        </p:spPr>
      </p:pic>
      <p:sp>
        <p:nvSpPr>
          <p:cNvPr id="9" name="Text 0"/>
          <p:cNvSpPr/>
          <p:nvPr/>
        </p:nvSpPr>
        <p:spPr>
          <a:xfrm>
            <a:off x="6647688" y="841248"/>
            <a:ext cx="7196328" cy="1353312"/>
          </a:xfrm>
          <a:prstGeom prst="rect">
            <a:avLst/>
          </a:prstGeom>
          <a:noFill/>
          <a:ln/>
        </p:spPr>
        <p:txBody>
          <a:bodyPr wrap="square" lIns="0" tIns="0" rIns="0" bIns="0" rtlCol="0" anchor="ctr"/>
          <a:lstStyle/>
          <a:p>
            <a:pPr marL="0" indent="0" algn="l">
              <a:lnSpc>
                <a:spcPts val="5300"/>
              </a:lnSpc>
              <a:buNone/>
            </a:pPr>
            <a:r>
              <a:rPr lang="en-US" sz="4240" dirty="0">
                <a:solidFill>
                  <a:srgbClr val="77D8F2"/>
                </a:solidFill>
                <a:latin typeface="AlibabaPuHuiTi-Alibaba-PuHuiTi" pitchFamily="34" charset="0"/>
                <a:ea typeface="AlibabaPuHuiTi-Alibaba-PuHuiTi" pitchFamily="34" charset="-122"/>
                <a:cs typeface="AlibabaPuHuiTi-Alibaba-PuHuiTi" pitchFamily="34" charset="-120"/>
              </a:rPr>
              <a:t>3. Key Features of AWS Lambda</a:t>
            </a:r>
            <a:endParaRPr lang="en-US" sz="4240" dirty="0"/>
          </a:p>
        </p:txBody>
      </p:sp>
      <p:sp>
        <p:nvSpPr>
          <p:cNvPr id="10" name="Text 1"/>
          <p:cNvSpPr/>
          <p:nvPr/>
        </p:nvSpPr>
        <p:spPr>
          <a:xfrm>
            <a:off x="6876288" y="2660904"/>
            <a:ext cx="1801368" cy="676656"/>
          </a:xfrm>
          <a:prstGeom prst="rect">
            <a:avLst/>
          </a:prstGeom>
          <a:noFill/>
          <a:ln/>
        </p:spPr>
        <p:txBody>
          <a:bodyPr wrap="square" lIns="0" tIns="0" rIns="0" bIns="0" rtlCol="0" anchor="ctr"/>
          <a:lstStyle/>
          <a:p>
            <a:pPr marL="0" indent="0" algn="l">
              <a:lnSpc>
                <a:spcPts val="2650"/>
              </a:lnSpc>
              <a:buNone/>
            </a:pPr>
            <a:r>
              <a:rPr lang="en-US" sz="2120" dirty="0">
                <a:solidFill>
                  <a:srgbClr val="DBDBDB"/>
                </a:solidFill>
                <a:latin typeface="AlibabaPuHuiTi-Alibaba-PuHuiTi" pitchFamily="34" charset="0"/>
                <a:ea typeface="AlibabaPuHuiTi-Alibaba-PuHuiTi" pitchFamily="34" charset="-122"/>
                <a:cs typeface="AlibabaPuHuiTi-Alibaba-PuHuiTi" pitchFamily="34" charset="-120"/>
              </a:rPr>
              <a:t>Automatic scaling</a:t>
            </a:r>
            <a:endParaRPr lang="en-US" sz="2120" dirty="0"/>
          </a:p>
        </p:txBody>
      </p:sp>
      <p:sp>
        <p:nvSpPr>
          <p:cNvPr id="11" name="Text 2"/>
          <p:cNvSpPr/>
          <p:nvPr/>
        </p:nvSpPr>
        <p:spPr>
          <a:xfrm>
            <a:off x="6876288" y="3456432"/>
            <a:ext cx="1801368" cy="649224"/>
          </a:xfrm>
          <a:prstGeom prst="rect">
            <a:avLst/>
          </a:prstGeom>
          <a:noFill/>
          <a:ln/>
        </p:spPr>
        <p:txBody>
          <a:bodyPr wrap="square" lIns="0" tIns="0" rIns="0" bIns="0" rtlCol="0" anchor="ctr"/>
          <a:lstStyle/>
          <a:p>
            <a:pPr marL="0" indent="0" algn="l">
              <a:lnSpc>
                <a:spcPts val="2120"/>
              </a:lnSpc>
              <a:buNone/>
            </a:pPr>
            <a:r>
              <a:rPr lang="en-US" sz="1690" dirty="0">
                <a:solidFill>
                  <a:srgbClr val="DBDBDB"/>
                </a:solidFill>
                <a:latin typeface="思源黑体-思源黑体-Medium" pitchFamily="34" charset="0"/>
                <a:ea typeface="思源黑体-思源黑体-Medium" pitchFamily="34" charset="-122"/>
                <a:cs typeface="思源黑体-思源黑体-Medium" pitchFamily="34" charset="-120"/>
              </a:rPr>
              <a:t> Runs your code in parallel.</a:t>
            </a:r>
            <a:endParaRPr lang="en-US" sz="1690" dirty="0"/>
          </a:p>
        </p:txBody>
      </p:sp>
      <p:sp>
        <p:nvSpPr>
          <p:cNvPr id="12" name="Text 3"/>
          <p:cNvSpPr/>
          <p:nvPr/>
        </p:nvSpPr>
        <p:spPr>
          <a:xfrm>
            <a:off x="6876288" y="5413248"/>
            <a:ext cx="3035808" cy="338328"/>
          </a:xfrm>
          <a:prstGeom prst="rect">
            <a:avLst/>
          </a:prstGeom>
          <a:noFill/>
          <a:ln/>
        </p:spPr>
        <p:txBody>
          <a:bodyPr wrap="none" lIns="0" tIns="0" rIns="0" bIns="0" rtlCol="0" anchor="ctr"/>
          <a:lstStyle/>
          <a:p>
            <a:pPr marL="0" indent="0" algn="l">
              <a:lnSpc>
                <a:spcPts val="2650"/>
              </a:lnSpc>
              <a:buNone/>
            </a:pPr>
            <a:r>
              <a:rPr lang="en-US" sz="2120" dirty="0">
                <a:solidFill>
                  <a:srgbClr val="DBDBDB"/>
                </a:solidFill>
                <a:latin typeface="AlibabaPuHuiTi-Alibaba-PuHuiTi" pitchFamily="34" charset="0"/>
                <a:ea typeface="AlibabaPuHuiTi-Alibaba-PuHuiTi" pitchFamily="34" charset="-122"/>
                <a:cs typeface="AlibabaPuHuiTi-Alibaba-PuHuiTi" pitchFamily="34" charset="-120"/>
              </a:rPr>
              <a:t>Language Support</a:t>
            </a:r>
            <a:endParaRPr lang="en-US" sz="2120" dirty="0"/>
          </a:p>
        </p:txBody>
      </p:sp>
      <p:sp>
        <p:nvSpPr>
          <p:cNvPr id="13" name="Text 4"/>
          <p:cNvSpPr/>
          <p:nvPr/>
        </p:nvSpPr>
        <p:spPr>
          <a:xfrm>
            <a:off x="6876288" y="5879592"/>
            <a:ext cx="3035808" cy="1298448"/>
          </a:xfrm>
          <a:prstGeom prst="rect">
            <a:avLst/>
          </a:prstGeom>
          <a:noFill/>
          <a:ln/>
        </p:spPr>
        <p:txBody>
          <a:bodyPr wrap="square" lIns="0" tIns="0" rIns="0" bIns="0" rtlCol="0" anchor="ctr"/>
          <a:lstStyle/>
          <a:p>
            <a:pPr marL="0" indent="0" algn="l">
              <a:lnSpc>
                <a:spcPts val="2120"/>
              </a:lnSpc>
              <a:buNone/>
            </a:pPr>
            <a:r>
              <a:rPr lang="en-US" sz="1690" dirty="0">
                <a:solidFill>
                  <a:srgbClr val="DBDBDB"/>
                </a:solidFill>
                <a:latin typeface="思源黑体-思源黑体-Medium" pitchFamily="34" charset="0"/>
                <a:ea typeface="思源黑体-思源黑体-Medium" pitchFamily="34" charset="-122"/>
                <a:cs typeface="思源黑体-思源黑体-Medium" pitchFamily="34" charset="-120"/>
              </a:rPr>
              <a:t> Compatible with multiple programming languages, including Python, Node.js, and Java.</a:t>
            </a:r>
            <a:endParaRPr lang="en-US" sz="1690" dirty="0"/>
          </a:p>
        </p:txBody>
      </p:sp>
      <p:sp>
        <p:nvSpPr>
          <p:cNvPr id="14" name="Text 5"/>
          <p:cNvSpPr/>
          <p:nvPr/>
        </p:nvSpPr>
        <p:spPr>
          <a:xfrm>
            <a:off x="9345168" y="2660904"/>
            <a:ext cx="1801368" cy="338328"/>
          </a:xfrm>
          <a:prstGeom prst="rect">
            <a:avLst/>
          </a:prstGeom>
          <a:noFill/>
          <a:ln/>
        </p:spPr>
        <p:txBody>
          <a:bodyPr wrap="none" lIns="0" tIns="0" rIns="0" bIns="0" rtlCol="0" anchor="ctr"/>
          <a:lstStyle/>
          <a:p>
            <a:pPr marL="0" indent="0" algn="l">
              <a:lnSpc>
                <a:spcPts val="2650"/>
              </a:lnSpc>
              <a:buNone/>
            </a:pPr>
            <a:r>
              <a:rPr lang="en-US" sz="2120" dirty="0">
                <a:solidFill>
                  <a:srgbClr val="DBDBDB"/>
                </a:solidFill>
                <a:latin typeface="AlibabaPuHuiTi-Alibaba-PuHuiTi" pitchFamily="34" charset="0"/>
                <a:ea typeface="AlibabaPuHuiTi-Alibaba-PuHuiTi" pitchFamily="34" charset="-122"/>
                <a:cs typeface="AlibabaPuHuiTi-Alibaba-PuHuiTi" pitchFamily="34" charset="-120"/>
              </a:rPr>
              <a:t>Event-driven</a:t>
            </a:r>
            <a:endParaRPr lang="en-US" sz="2120" dirty="0"/>
          </a:p>
        </p:txBody>
      </p:sp>
      <p:sp>
        <p:nvSpPr>
          <p:cNvPr id="15" name="Text 6"/>
          <p:cNvSpPr/>
          <p:nvPr/>
        </p:nvSpPr>
        <p:spPr>
          <a:xfrm>
            <a:off x="9345168" y="3127248"/>
            <a:ext cx="1801368" cy="649224"/>
          </a:xfrm>
          <a:prstGeom prst="rect">
            <a:avLst/>
          </a:prstGeom>
          <a:noFill/>
          <a:ln/>
        </p:spPr>
        <p:txBody>
          <a:bodyPr wrap="square" lIns="0" tIns="0" rIns="0" bIns="0" rtlCol="0" anchor="ctr"/>
          <a:lstStyle/>
          <a:p>
            <a:pPr marL="0" indent="0" algn="l">
              <a:lnSpc>
                <a:spcPts val="2120"/>
              </a:lnSpc>
              <a:buNone/>
            </a:pPr>
            <a:r>
              <a:rPr lang="en-US" sz="1690" dirty="0">
                <a:solidFill>
                  <a:srgbClr val="DBDBDB"/>
                </a:solidFill>
                <a:latin typeface="思源黑体-思源黑体-Medium" pitchFamily="34" charset="0"/>
                <a:ea typeface="思源黑体-思源黑体-Medium" pitchFamily="34" charset="-122"/>
                <a:cs typeface="思源黑体-思源黑体-Medium" pitchFamily="34" charset="-120"/>
              </a:rPr>
              <a:t> Executes based on triggers.</a:t>
            </a:r>
            <a:endParaRPr lang="en-US" sz="1690" dirty="0"/>
          </a:p>
        </p:txBody>
      </p:sp>
      <p:sp>
        <p:nvSpPr>
          <p:cNvPr id="16" name="Text 7"/>
          <p:cNvSpPr/>
          <p:nvPr/>
        </p:nvSpPr>
        <p:spPr>
          <a:xfrm>
            <a:off x="10579608" y="5413248"/>
            <a:ext cx="3035808" cy="338328"/>
          </a:xfrm>
          <a:prstGeom prst="rect">
            <a:avLst/>
          </a:prstGeom>
          <a:noFill/>
          <a:ln/>
        </p:spPr>
        <p:txBody>
          <a:bodyPr wrap="none" lIns="0" tIns="0" rIns="0" bIns="0" rtlCol="0" anchor="ctr"/>
          <a:lstStyle/>
          <a:p>
            <a:pPr marL="0" indent="0" algn="l">
              <a:lnSpc>
                <a:spcPts val="2650"/>
              </a:lnSpc>
              <a:buNone/>
            </a:pPr>
            <a:r>
              <a:rPr lang="en-US" sz="2120" dirty="0">
                <a:solidFill>
                  <a:srgbClr val="DBDBDB"/>
                </a:solidFill>
                <a:latin typeface="AlibabaPuHuiTi-Alibaba-PuHuiTi" pitchFamily="34" charset="0"/>
                <a:ea typeface="AlibabaPuHuiTi-Alibaba-PuHuiTi" pitchFamily="34" charset="-122"/>
                <a:cs typeface="AlibabaPuHuiTi-Alibaba-PuHuiTi" pitchFamily="34" charset="-120"/>
              </a:rPr>
              <a:t>Cost-efficient</a:t>
            </a:r>
            <a:endParaRPr lang="en-US" sz="2120" dirty="0"/>
          </a:p>
        </p:txBody>
      </p:sp>
      <p:sp>
        <p:nvSpPr>
          <p:cNvPr id="17" name="Text 8"/>
          <p:cNvSpPr/>
          <p:nvPr/>
        </p:nvSpPr>
        <p:spPr>
          <a:xfrm>
            <a:off x="10579608" y="5879592"/>
            <a:ext cx="3035808" cy="649224"/>
          </a:xfrm>
          <a:prstGeom prst="rect">
            <a:avLst/>
          </a:prstGeom>
          <a:noFill/>
          <a:ln/>
        </p:spPr>
        <p:txBody>
          <a:bodyPr wrap="square" lIns="0" tIns="0" rIns="0" bIns="0" rtlCol="0" anchor="ctr"/>
          <a:lstStyle/>
          <a:p>
            <a:pPr marL="0" indent="0" algn="l">
              <a:lnSpc>
                <a:spcPts val="2120"/>
              </a:lnSpc>
              <a:buNone/>
            </a:pPr>
            <a:r>
              <a:rPr lang="en-US" sz="1690" dirty="0">
                <a:solidFill>
                  <a:srgbClr val="DBDBDB"/>
                </a:solidFill>
                <a:latin typeface="思源黑体-思源黑体-Medium" pitchFamily="34" charset="0"/>
                <a:ea typeface="思源黑体-思源黑体-Medium" pitchFamily="34" charset="-122"/>
                <a:cs typeface="思源黑体-思源黑体-Medium" pitchFamily="34" charset="-120"/>
              </a:rPr>
              <a:t> Pay only for your actual usage.</a:t>
            </a:r>
            <a:endParaRPr lang="en-US" sz="1690" dirty="0"/>
          </a:p>
        </p:txBody>
      </p:sp>
      <p:sp>
        <p:nvSpPr>
          <p:cNvPr id="18" name="Text 9"/>
          <p:cNvSpPr/>
          <p:nvPr/>
        </p:nvSpPr>
        <p:spPr>
          <a:xfrm>
            <a:off x="11814048" y="2660904"/>
            <a:ext cx="1801368" cy="338328"/>
          </a:xfrm>
          <a:prstGeom prst="rect">
            <a:avLst/>
          </a:prstGeom>
          <a:noFill/>
          <a:ln/>
        </p:spPr>
        <p:txBody>
          <a:bodyPr wrap="none" lIns="0" tIns="0" rIns="0" bIns="0" rtlCol="0" anchor="ctr"/>
          <a:lstStyle/>
          <a:p>
            <a:pPr marL="0" indent="0" algn="l">
              <a:lnSpc>
                <a:spcPts val="2650"/>
              </a:lnSpc>
              <a:buNone/>
            </a:pPr>
            <a:r>
              <a:rPr lang="en-US" sz="2120" dirty="0">
                <a:solidFill>
                  <a:srgbClr val="DBDBDB"/>
                </a:solidFill>
                <a:latin typeface="AlibabaPuHuiTi-Alibaba-PuHuiTi" pitchFamily="34" charset="0"/>
                <a:ea typeface="AlibabaPuHuiTi-Alibaba-PuHuiTi" pitchFamily="34" charset="-122"/>
                <a:cs typeface="AlibabaPuHuiTi-Alibaba-PuHuiTi" pitchFamily="34" charset="-120"/>
              </a:rPr>
              <a:t>Integration</a:t>
            </a:r>
            <a:endParaRPr lang="en-US" sz="2120" dirty="0"/>
          </a:p>
        </p:txBody>
      </p:sp>
      <p:sp>
        <p:nvSpPr>
          <p:cNvPr id="19" name="Text 10"/>
          <p:cNvSpPr/>
          <p:nvPr/>
        </p:nvSpPr>
        <p:spPr>
          <a:xfrm>
            <a:off x="11814048" y="3127248"/>
            <a:ext cx="1801368" cy="1618488"/>
          </a:xfrm>
          <a:prstGeom prst="rect">
            <a:avLst/>
          </a:prstGeom>
          <a:noFill/>
          <a:ln/>
        </p:spPr>
        <p:txBody>
          <a:bodyPr wrap="square" lIns="0" tIns="0" rIns="0" bIns="0" rtlCol="0" anchor="ctr"/>
          <a:lstStyle/>
          <a:p>
            <a:pPr marL="0" indent="0" algn="l">
              <a:lnSpc>
                <a:spcPts val="2120"/>
              </a:lnSpc>
              <a:buNone/>
            </a:pPr>
            <a:r>
              <a:rPr lang="en-US" sz="1690" dirty="0">
                <a:solidFill>
                  <a:srgbClr val="DBDBDB"/>
                </a:solidFill>
                <a:latin typeface="思源黑体-思源黑体-Medium" pitchFamily="34" charset="0"/>
                <a:ea typeface="思源黑体-思源黑体-Medium" pitchFamily="34" charset="-122"/>
                <a:cs typeface="思源黑体-思源黑体-Medium" pitchFamily="34" charset="-120"/>
              </a:rPr>
              <a:t> Works seamlessly with AWS services like S3, DynamoDB, and API Gateway.</a:t>
            </a:r>
            <a:endParaRPr lang="en-US" sz="169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4630400" cy="8238744"/>
          </a:xfrm>
          <a:prstGeom prst="rect">
            <a:avLst/>
          </a:prstGeom>
        </p:spPr>
      </p:pic>
      <p:pic>
        <p:nvPicPr>
          <p:cNvPr id="3" name="Image 1" descr="preencoded.png"/>
          <p:cNvPicPr>
            <a:picLocks noChangeAspect="1"/>
          </p:cNvPicPr>
          <p:nvPr/>
        </p:nvPicPr>
        <p:blipFill>
          <a:blip r:embed="rId4"/>
          <a:stretch>
            <a:fillRect/>
          </a:stretch>
        </p:blipFill>
        <p:spPr>
          <a:xfrm>
            <a:off x="9409176" y="0"/>
            <a:ext cx="5230368" cy="8238744"/>
          </a:xfrm>
          <a:prstGeom prst="rect">
            <a:avLst/>
          </a:prstGeom>
        </p:spPr>
      </p:pic>
      <p:pic>
        <p:nvPicPr>
          <p:cNvPr id="4" name="Image 2" descr="preencoded.png"/>
          <p:cNvPicPr>
            <a:picLocks noChangeAspect="1"/>
          </p:cNvPicPr>
          <p:nvPr/>
        </p:nvPicPr>
        <p:blipFill>
          <a:blip r:embed="rId5"/>
          <a:stretch>
            <a:fillRect/>
          </a:stretch>
        </p:blipFill>
        <p:spPr>
          <a:xfrm>
            <a:off x="795528" y="2423160"/>
            <a:ext cx="2551176" cy="1271016"/>
          </a:xfrm>
          <a:prstGeom prst="rect">
            <a:avLst/>
          </a:prstGeom>
        </p:spPr>
      </p:pic>
      <p:pic>
        <p:nvPicPr>
          <p:cNvPr id="5" name="Image 3" descr="preencoded.png"/>
          <p:cNvPicPr>
            <a:picLocks noChangeAspect="1"/>
          </p:cNvPicPr>
          <p:nvPr/>
        </p:nvPicPr>
        <p:blipFill>
          <a:blip r:embed="rId5"/>
          <a:stretch>
            <a:fillRect/>
          </a:stretch>
        </p:blipFill>
        <p:spPr>
          <a:xfrm>
            <a:off x="795528" y="3904488"/>
            <a:ext cx="2551176" cy="1271016"/>
          </a:xfrm>
          <a:prstGeom prst="rect">
            <a:avLst/>
          </a:prstGeom>
        </p:spPr>
      </p:pic>
      <p:pic>
        <p:nvPicPr>
          <p:cNvPr id="6" name="Image 4" descr="preencoded.png"/>
          <p:cNvPicPr>
            <a:picLocks noChangeAspect="1"/>
          </p:cNvPicPr>
          <p:nvPr/>
        </p:nvPicPr>
        <p:blipFill>
          <a:blip r:embed="rId5"/>
          <a:stretch>
            <a:fillRect/>
          </a:stretch>
        </p:blipFill>
        <p:spPr>
          <a:xfrm>
            <a:off x="3557016" y="2423160"/>
            <a:ext cx="2551176" cy="1271016"/>
          </a:xfrm>
          <a:prstGeom prst="rect">
            <a:avLst/>
          </a:prstGeom>
        </p:spPr>
      </p:pic>
      <p:pic>
        <p:nvPicPr>
          <p:cNvPr id="7" name="Image 5" descr="preencoded.png"/>
          <p:cNvPicPr>
            <a:picLocks noChangeAspect="1"/>
          </p:cNvPicPr>
          <p:nvPr/>
        </p:nvPicPr>
        <p:blipFill>
          <a:blip r:embed="rId5"/>
          <a:stretch>
            <a:fillRect/>
          </a:stretch>
        </p:blipFill>
        <p:spPr>
          <a:xfrm>
            <a:off x="3557016" y="3904488"/>
            <a:ext cx="2551176" cy="1271016"/>
          </a:xfrm>
          <a:prstGeom prst="rect">
            <a:avLst/>
          </a:prstGeom>
        </p:spPr>
      </p:pic>
      <p:pic>
        <p:nvPicPr>
          <p:cNvPr id="8" name="Image 6" descr="preencoded.png"/>
          <p:cNvPicPr>
            <a:picLocks noChangeAspect="1"/>
          </p:cNvPicPr>
          <p:nvPr/>
        </p:nvPicPr>
        <p:blipFill>
          <a:blip r:embed="rId6"/>
          <a:stretch>
            <a:fillRect/>
          </a:stretch>
        </p:blipFill>
        <p:spPr>
          <a:xfrm>
            <a:off x="795528" y="5385816"/>
            <a:ext cx="2551176" cy="1920240"/>
          </a:xfrm>
          <a:prstGeom prst="rect">
            <a:avLst/>
          </a:prstGeom>
        </p:spPr>
      </p:pic>
      <p:pic>
        <p:nvPicPr>
          <p:cNvPr id="9" name="Image 7" descr="preencoded.png"/>
          <p:cNvPicPr>
            <a:picLocks noChangeAspect="1"/>
          </p:cNvPicPr>
          <p:nvPr/>
        </p:nvPicPr>
        <p:blipFill>
          <a:blip r:embed="rId5"/>
          <a:stretch>
            <a:fillRect/>
          </a:stretch>
        </p:blipFill>
        <p:spPr>
          <a:xfrm>
            <a:off x="6318504" y="2423160"/>
            <a:ext cx="2551176" cy="1271016"/>
          </a:xfrm>
          <a:prstGeom prst="rect">
            <a:avLst/>
          </a:prstGeom>
        </p:spPr>
      </p:pic>
      <p:pic>
        <p:nvPicPr>
          <p:cNvPr id="10" name="Image 8" descr="preencoded.png"/>
          <p:cNvPicPr>
            <a:picLocks noChangeAspect="1"/>
          </p:cNvPicPr>
          <p:nvPr/>
        </p:nvPicPr>
        <p:blipFill>
          <a:blip r:embed="rId5"/>
          <a:stretch>
            <a:fillRect/>
          </a:stretch>
        </p:blipFill>
        <p:spPr>
          <a:xfrm>
            <a:off x="6318504" y="3904488"/>
            <a:ext cx="2551176" cy="1271016"/>
          </a:xfrm>
          <a:prstGeom prst="rect">
            <a:avLst/>
          </a:prstGeom>
        </p:spPr>
      </p:pic>
      <p:pic>
        <p:nvPicPr>
          <p:cNvPr id="11" name="Image 9" descr="preencoded.png"/>
          <p:cNvPicPr>
            <a:picLocks noChangeAspect="1"/>
          </p:cNvPicPr>
          <p:nvPr/>
        </p:nvPicPr>
        <p:blipFill>
          <a:blip r:embed="rId7"/>
          <a:stretch>
            <a:fillRect/>
          </a:stretch>
        </p:blipFill>
        <p:spPr>
          <a:xfrm>
            <a:off x="786384" y="2779776"/>
            <a:ext cx="2578608" cy="923544"/>
          </a:xfrm>
          <a:prstGeom prst="rect">
            <a:avLst/>
          </a:prstGeom>
        </p:spPr>
      </p:pic>
      <p:pic>
        <p:nvPicPr>
          <p:cNvPr id="12" name="Image 10" descr="preencoded.png"/>
          <p:cNvPicPr>
            <a:picLocks noChangeAspect="1"/>
          </p:cNvPicPr>
          <p:nvPr/>
        </p:nvPicPr>
        <p:blipFill>
          <a:blip r:embed="rId7"/>
          <a:stretch>
            <a:fillRect/>
          </a:stretch>
        </p:blipFill>
        <p:spPr>
          <a:xfrm>
            <a:off x="786384" y="4270248"/>
            <a:ext cx="2578608" cy="923544"/>
          </a:xfrm>
          <a:prstGeom prst="rect">
            <a:avLst/>
          </a:prstGeom>
        </p:spPr>
      </p:pic>
      <p:pic>
        <p:nvPicPr>
          <p:cNvPr id="13" name="Image 11" descr="preencoded.png"/>
          <p:cNvPicPr>
            <a:picLocks noChangeAspect="1"/>
          </p:cNvPicPr>
          <p:nvPr/>
        </p:nvPicPr>
        <p:blipFill>
          <a:blip r:embed="rId8"/>
          <a:stretch>
            <a:fillRect/>
          </a:stretch>
        </p:blipFill>
        <p:spPr>
          <a:xfrm>
            <a:off x="3547872" y="2779776"/>
            <a:ext cx="2578608" cy="923544"/>
          </a:xfrm>
          <a:prstGeom prst="rect">
            <a:avLst/>
          </a:prstGeom>
        </p:spPr>
      </p:pic>
      <p:pic>
        <p:nvPicPr>
          <p:cNvPr id="14" name="Image 12" descr="preencoded.png"/>
          <p:cNvPicPr>
            <a:picLocks noChangeAspect="1"/>
          </p:cNvPicPr>
          <p:nvPr/>
        </p:nvPicPr>
        <p:blipFill>
          <a:blip r:embed="rId8"/>
          <a:stretch>
            <a:fillRect/>
          </a:stretch>
        </p:blipFill>
        <p:spPr>
          <a:xfrm>
            <a:off x="3547872" y="4270248"/>
            <a:ext cx="2578608" cy="923544"/>
          </a:xfrm>
          <a:prstGeom prst="rect">
            <a:avLst/>
          </a:prstGeom>
        </p:spPr>
      </p:pic>
      <p:pic>
        <p:nvPicPr>
          <p:cNvPr id="15" name="Image 13" descr="preencoded.png"/>
          <p:cNvPicPr>
            <a:picLocks noChangeAspect="1"/>
          </p:cNvPicPr>
          <p:nvPr/>
        </p:nvPicPr>
        <p:blipFill>
          <a:blip r:embed="rId9"/>
          <a:stretch>
            <a:fillRect/>
          </a:stretch>
        </p:blipFill>
        <p:spPr>
          <a:xfrm>
            <a:off x="786384" y="5751576"/>
            <a:ext cx="2578608" cy="1572768"/>
          </a:xfrm>
          <a:prstGeom prst="rect">
            <a:avLst/>
          </a:prstGeom>
        </p:spPr>
      </p:pic>
      <p:pic>
        <p:nvPicPr>
          <p:cNvPr id="16" name="Image 14" descr="preencoded.png"/>
          <p:cNvPicPr>
            <a:picLocks noChangeAspect="1"/>
          </p:cNvPicPr>
          <p:nvPr/>
        </p:nvPicPr>
        <p:blipFill>
          <a:blip r:embed="rId8"/>
          <a:stretch>
            <a:fillRect/>
          </a:stretch>
        </p:blipFill>
        <p:spPr>
          <a:xfrm>
            <a:off x="6309360" y="2779776"/>
            <a:ext cx="2578608" cy="923544"/>
          </a:xfrm>
          <a:prstGeom prst="rect">
            <a:avLst/>
          </a:prstGeom>
        </p:spPr>
      </p:pic>
      <p:pic>
        <p:nvPicPr>
          <p:cNvPr id="17" name="Image 15" descr="preencoded.png"/>
          <p:cNvPicPr>
            <a:picLocks noChangeAspect="1"/>
          </p:cNvPicPr>
          <p:nvPr/>
        </p:nvPicPr>
        <p:blipFill>
          <a:blip r:embed="rId8"/>
          <a:stretch>
            <a:fillRect/>
          </a:stretch>
        </p:blipFill>
        <p:spPr>
          <a:xfrm>
            <a:off x="6309360" y="4270248"/>
            <a:ext cx="2578608" cy="923544"/>
          </a:xfrm>
          <a:prstGeom prst="rect">
            <a:avLst/>
          </a:prstGeom>
        </p:spPr>
      </p:pic>
      <p:pic>
        <p:nvPicPr>
          <p:cNvPr id="18" name="Image 16" descr="preencoded.png"/>
          <p:cNvPicPr>
            <a:picLocks noChangeAspect="1"/>
          </p:cNvPicPr>
          <p:nvPr/>
        </p:nvPicPr>
        <p:blipFill>
          <a:blip r:embed="rId10"/>
          <a:stretch>
            <a:fillRect/>
          </a:stretch>
        </p:blipFill>
        <p:spPr>
          <a:xfrm>
            <a:off x="786384" y="2670048"/>
            <a:ext cx="2578608" cy="146304"/>
          </a:xfrm>
          <a:prstGeom prst="rect">
            <a:avLst/>
          </a:prstGeom>
        </p:spPr>
      </p:pic>
      <p:pic>
        <p:nvPicPr>
          <p:cNvPr id="19" name="Image 17" descr="preencoded.png"/>
          <p:cNvPicPr>
            <a:picLocks noChangeAspect="1"/>
          </p:cNvPicPr>
          <p:nvPr/>
        </p:nvPicPr>
        <p:blipFill>
          <a:blip r:embed="rId10"/>
          <a:stretch>
            <a:fillRect/>
          </a:stretch>
        </p:blipFill>
        <p:spPr>
          <a:xfrm>
            <a:off x="786384" y="4160520"/>
            <a:ext cx="2578608" cy="146304"/>
          </a:xfrm>
          <a:prstGeom prst="rect">
            <a:avLst/>
          </a:prstGeom>
        </p:spPr>
      </p:pic>
      <p:pic>
        <p:nvPicPr>
          <p:cNvPr id="20" name="Image 18" descr="preencoded.png"/>
          <p:cNvPicPr>
            <a:picLocks noChangeAspect="1"/>
          </p:cNvPicPr>
          <p:nvPr/>
        </p:nvPicPr>
        <p:blipFill>
          <a:blip r:embed="rId11"/>
          <a:stretch>
            <a:fillRect/>
          </a:stretch>
        </p:blipFill>
        <p:spPr>
          <a:xfrm>
            <a:off x="3547872" y="2670048"/>
            <a:ext cx="2578608" cy="146304"/>
          </a:xfrm>
          <a:prstGeom prst="rect">
            <a:avLst/>
          </a:prstGeom>
        </p:spPr>
      </p:pic>
      <p:pic>
        <p:nvPicPr>
          <p:cNvPr id="21" name="Image 19" descr="preencoded.png"/>
          <p:cNvPicPr>
            <a:picLocks noChangeAspect="1"/>
          </p:cNvPicPr>
          <p:nvPr/>
        </p:nvPicPr>
        <p:blipFill>
          <a:blip r:embed="rId11"/>
          <a:stretch>
            <a:fillRect/>
          </a:stretch>
        </p:blipFill>
        <p:spPr>
          <a:xfrm>
            <a:off x="3547872" y="4160520"/>
            <a:ext cx="2578608" cy="146304"/>
          </a:xfrm>
          <a:prstGeom prst="rect">
            <a:avLst/>
          </a:prstGeom>
        </p:spPr>
      </p:pic>
      <p:pic>
        <p:nvPicPr>
          <p:cNvPr id="22" name="Image 20" descr="preencoded.png"/>
          <p:cNvPicPr>
            <a:picLocks noChangeAspect="1"/>
          </p:cNvPicPr>
          <p:nvPr/>
        </p:nvPicPr>
        <p:blipFill>
          <a:blip r:embed="rId10"/>
          <a:stretch>
            <a:fillRect/>
          </a:stretch>
        </p:blipFill>
        <p:spPr>
          <a:xfrm>
            <a:off x="786384" y="5641848"/>
            <a:ext cx="2578608" cy="146304"/>
          </a:xfrm>
          <a:prstGeom prst="rect">
            <a:avLst/>
          </a:prstGeom>
        </p:spPr>
      </p:pic>
      <p:pic>
        <p:nvPicPr>
          <p:cNvPr id="23" name="Image 21" descr="preencoded.png"/>
          <p:cNvPicPr>
            <a:picLocks noChangeAspect="1"/>
          </p:cNvPicPr>
          <p:nvPr/>
        </p:nvPicPr>
        <p:blipFill>
          <a:blip r:embed="rId11"/>
          <a:stretch>
            <a:fillRect/>
          </a:stretch>
        </p:blipFill>
        <p:spPr>
          <a:xfrm>
            <a:off x="6309360" y="2670048"/>
            <a:ext cx="2578608" cy="146304"/>
          </a:xfrm>
          <a:prstGeom prst="rect">
            <a:avLst/>
          </a:prstGeom>
        </p:spPr>
      </p:pic>
      <p:pic>
        <p:nvPicPr>
          <p:cNvPr id="24" name="Image 22" descr="preencoded.png"/>
          <p:cNvPicPr>
            <a:picLocks noChangeAspect="1"/>
          </p:cNvPicPr>
          <p:nvPr/>
        </p:nvPicPr>
        <p:blipFill>
          <a:blip r:embed="rId11"/>
          <a:stretch>
            <a:fillRect/>
          </a:stretch>
        </p:blipFill>
        <p:spPr>
          <a:xfrm>
            <a:off x="6309360" y="4160520"/>
            <a:ext cx="2578608" cy="146304"/>
          </a:xfrm>
          <a:prstGeom prst="rect">
            <a:avLst/>
          </a:prstGeom>
        </p:spPr>
      </p:pic>
      <p:pic>
        <p:nvPicPr>
          <p:cNvPr id="25" name="Image 23" descr="preencoded.png"/>
          <p:cNvPicPr>
            <a:picLocks noChangeAspect="1"/>
          </p:cNvPicPr>
          <p:nvPr/>
        </p:nvPicPr>
        <p:blipFill>
          <a:blip r:embed="rId12"/>
          <a:stretch>
            <a:fillRect/>
          </a:stretch>
        </p:blipFill>
        <p:spPr>
          <a:xfrm>
            <a:off x="1746504" y="2423160"/>
            <a:ext cx="649224" cy="649224"/>
          </a:xfrm>
          <a:prstGeom prst="rect">
            <a:avLst/>
          </a:prstGeom>
        </p:spPr>
      </p:pic>
      <p:pic>
        <p:nvPicPr>
          <p:cNvPr id="26" name="Image 24" descr="preencoded.png"/>
          <p:cNvPicPr>
            <a:picLocks noChangeAspect="1"/>
          </p:cNvPicPr>
          <p:nvPr/>
        </p:nvPicPr>
        <p:blipFill>
          <a:blip r:embed="rId12"/>
          <a:stretch>
            <a:fillRect/>
          </a:stretch>
        </p:blipFill>
        <p:spPr>
          <a:xfrm>
            <a:off x="1746504" y="3904488"/>
            <a:ext cx="649224" cy="649224"/>
          </a:xfrm>
          <a:prstGeom prst="rect">
            <a:avLst/>
          </a:prstGeom>
        </p:spPr>
      </p:pic>
      <p:pic>
        <p:nvPicPr>
          <p:cNvPr id="27" name="Image 25" descr="preencoded.png"/>
          <p:cNvPicPr>
            <a:picLocks noChangeAspect="1"/>
          </p:cNvPicPr>
          <p:nvPr/>
        </p:nvPicPr>
        <p:blipFill>
          <a:blip r:embed="rId12"/>
          <a:stretch>
            <a:fillRect/>
          </a:stretch>
        </p:blipFill>
        <p:spPr>
          <a:xfrm>
            <a:off x="4507992" y="2423160"/>
            <a:ext cx="649224" cy="649224"/>
          </a:xfrm>
          <a:prstGeom prst="rect">
            <a:avLst/>
          </a:prstGeom>
        </p:spPr>
      </p:pic>
      <p:pic>
        <p:nvPicPr>
          <p:cNvPr id="28" name="Image 26" descr="preencoded.png"/>
          <p:cNvPicPr>
            <a:picLocks noChangeAspect="1"/>
          </p:cNvPicPr>
          <p:nvPr/>
        </p:nvPicPr>
        <p:blipFill>
          <a:blip r:embed="rId12"/>
          <a:stretch>
            <a:fillRect/>
          </a:stretch>
        </p:blipFill>
        <p:spPr>
          <a:xfrm>
            <a:off x="1746504" y="5385816"/>
            <a:ext cx="649224" cy="649224"/>
          </a:xfrm>
          <a:prstGeom prst="rect">
            <a:avLst/>
          </a:prstGeom>
        </p:spPr>
      </p:pic>
      <p:pic>
        <p:nvPicPr>
          <p:cNvPr id="29" name="Image 27" descr="preencoded.png"/>
          <p:cNvPicPr>
            <a:picLocks noChangeAspect="1"/>
          </p:cNvPicPr>
          <p:nvPr/>
        </p:nvPicPr>
        <p:blipFill>
          <a:blip r:embed="rId12"/>
          <a:stretch>
            <a:fillRect/>
          </a:stretch>
        </p:blipFill>
        <p:spPr>
          <a:xfrm>
            <a:off x="4507992" y="3904488"/>
            <a:ext cx="649224" cy="649224"/>
          </a:xfrm>
          <a:prstGeom prst="rect">
            <a:avLst/>
          </a:prstGeom>
        </p:spPr>
      </p:pic>
      <p:pic>
        <p:nvPicPr>
          <p:cNvPr id="30" name="Image 28" descr="preencoded.png"/>
          <p:cNvPicPr>
            <a:picLocks noChangeAspect="1"/>
          </p:cNvPicPr>
          <p:nvPr/>
        </p:nvPicPr>
        <p:blipFill>
          <a:blip r:embed="rId12"/>
          <a:stretch>
            <a:fillRect/>
          </a:stretch>
        </p:blipFill>
        <p:spPr>
          <a:xfrm>
            <a:off x="7269480" y="2423160"/>
            <a:ext cx="649224" cy="649224"/>
          </a:xfrm>
          <a:prstGeom prst="rect">
            <a:avLst/>
          </a:prstGeom>
        </p:spPr>
      </p:pic>
      <p:pic>
        <p:nvPicPr>
          <p:cNvPr id="31" name="Image 29" descr="preencoded.png"/>
          <p:cNvPicPr>
            <a:picLocks noChangeAspect="1"/>
          </p:cNvPicPr>
          <p:nvPr/>
        </p:nvPicPr>
        <p:blipFill>
          <a:blip r:embed="rId12"/>
          <a:stretch>
            <a:fillRect/>
          </a:stretch>
        </p:blipFill>
        <p:spPr>
          <a:xfrm>
            <a:off x="7269480" y="3904488"/>
            <a:ext cx="649224" cy="649224"/>
          </a:xfrm>
          <a:prstGeom prst="rect">
            <a:avLst/>
          </a:prstGeom>
        </p:spPr>
      </p:pic>
      <p:sp>
        <p:nvSpPr>
          <p:cNvPr id="32" name="Text 0"/>
          <p:cNvSpPr/>
          <p:nvPr/>
        </p:nvSpPr>
        <p:spPr>
          <a:xfrm>
            <a:off x="795528" y="941832"/>
            <a:ext cx="8074152" cy="676656"/>
          </a:xfrm>
          <a:prstGeom prst="rect">
            <a:avLst/>
          </a:prstGeom>
          <a:noFill/>
          <a:ln/>
        </p:spPr>
        <p:txBody>
          <a:bodyPr wrap="none" lIns="0" tIns="0" rIns="0" bIns="0" rtlCol="0" anchor="ctr"/>
          <a:lstStyle/>
          <a:p>
            <a:pPr marL="0" indent="0" algn="l">
              <a:lnSpc>
                <a:spcPts val="5300"/>
              </a:lnSpc>
              <a:buNone/>
            </a:pPr>
            <a:r>
              <a:rPr lang="en-US" sz="4240" dirty="0">
                <a:solidFill>
                  <a:srgbClr val="77D8F2"/>
                </a:solidFill>
                <a:latin typeface="AlibabaPuHuiTi-Alibaba-PuHuiTi" pitchFamily="34" charset="0"/>
                <a:ea typeface="AlibabaPuHuiTi-Alibaba-PuHuiTi" pitchFamily="34" charset="-122"/>
                <a:cs typeface="AlibabaPuHuiTi-Alibaba-PuHuiTi" pitchFamily="34" charset="-120"/>
              </a:rPr>
              <a:t>4. Supported Languages</a:t>
            </a:r>
            <a:endParaRPr lang="en-US" sz="4240" dirty="0"/>
          </a:p>
        </p:txBody>
      </p:sp>
      <p:sp>
        <p:nvSpPr>
          <p:cNvPr id="33" name="Text 1"/>
          <p:cNvSpPr/>
          <p:nvPr/>
        </p:nvSpPr>
        <p:spPr>
          <a:xfrm>
            <a:off x="795528" y="1856232"/>
            <a:ext cx="8074152" cy="329184"/>
          </a:xfrm>
          <a:prstGeom prst="rect">
            <a:avLst/>
          </a:prstGeom>
          <a:noFill/>
          <a:ln/>
        </p:spPr>
        <p:txBody>
          <a:bodyPr wrap="none" lIns="0" tIns="0" rIns="0" bIns="0" rtlCol="0" anchor="ctr"/>
          <a:lstStyle/>
          <a:p>
            <a:pPr marL="0" indent="0" algn="l">
              <a:lnSpc>
                <a:spcPts val="2120"/>
              </a:lnSpc>
              <a:buNone/>
            </a:pPr>
            <a:r>
              <a:rPr lang="en-US" sz="1690" dirty="0">
                <a:solidFill>
                  <a:srgbClr val="DBDBDB"/>
                </a:solidFill>
                <a:latin typeface="思源黑体-思源黑体-Medium" pitchFamily="34" charset="0"/>
                <a:ea typeface="思源黑体-思源黑体-Medium" pitchFamily="34" charset="-122"/>
                <a:cs typeface="思源黑体-思源黑体-Medium" pitchFamily="34" charset="-120"/>
              </a:rPr>
              <a:t>AWS Lambda supports the following programming languages:</a:t>
            </a:r>
            <a:endParaRPr lang="en-US" sz="1690" dirty="0"/>
          </a:p>
        </p:txBody>
      </p:sp>
      <p:sp>
        <p:nvSpPr>
          <p:cNvPr id="34" name="Text 2"/>
          <p:cNvSpPr/>
          <p:nvPr/>
        </p:nvSpPr>
        <p:spPr>
          <a:xfrm>
            <a:off x="1993392" y="2560320"/>
            <a:ext cx="155448" cy="365760"/>
          </a:xfrm>
          <a:prstGeom prst="rect">
            <a:avLst/>
          </a:prstGeom>
          <a:noFill/>
          <a:ln/>
        </p:spPr>
        <p:txBody>
          <a:bodyPr wrap="none" lIns="0" tIns="0" rIns="0" bIns="0" rtlCol="0" anchor="ctr"/>
          <a:lstStyle/>
          <a:p>
            <a:pPr marL="0" indent="0" algn="l">
              <a:lnSpc>
                <a:spcPts val="2440"/>
              </a:lnSpc>
              <a:buNone/>
            </a:pPr>
            <a:r>
              <a:rPr lang="en-US" sz="2030" dirty="0">
                <a:solidFill>
                  <a:srgbClr val="050505"/>
                </a:solidFill>
                <a:latin typeface="思源黑体-思源黑体-Medium" pitchFamily="34" charset="0"/>
                <a:ea typeface="思源黑体-思源黑体-Medium" pitchFamily="34" charset="-122"/>
                <a:cs typeface="思源黑体-思源黑体-Medium" pitchFamily="34" charset="-120"/>
              </a:rPr>
              <a:t>1</a:t>
            </a:r>
            <a:endParaRPr lang="en-US" sz="2030" dirty="0"/>
          </a:p>
        </p:txBody>
      </p:sp>
      <p:sp>
        <p:nvSpPr>
          <p:cNvPr id="35" name="Text 3"/>
          <p:cNvSpPr/>
          <p:nvPr/>
        </p:nvSpPr>
        <p:spPr>
          <a:xfrm>
            <a:off x="1024128" y="3136392"/>
            <a:ext cx="2093976" cy="329184"/>
          </a:xfrm>
          <a:prstGeom prst="rect">
            <a:avLst/>
          </a:prstGeom>
          <a:noFill/>
          <a:ln/>
        </p:spPr>
        <p:txBody>
          <a:bodyPr wrap="none" lIns="0" tIns="0" rIns="0" bIns="0" rtlCol="0" anchor="ctr"/>
          <a:lstStyle/>
          <a:p>
            <a:pPr marL="0" indent="0" algn="l">
              <a:lnSpc>
                <a:spcPts val="2120"/>
              </a:lnSpc>
              <a:buNone/>
            </a:pPr>
            <a:r>
              <a:rPr lang="en-US" sz="1690" dirty="0">
                <a:solidFill>
                  <a:srgbClr val="DBDBDB"/>
                </a:solidFill>
                <a:latin typeface="思源黑体-思源黑体-Medium" pitchFamily="34" charset="0"/>
                <a:ea typeface="思源黑体-思源黑体-Medium" pitchFamily="34" charset="-122"/>
                <a:cs typeface="思源黑体-思源黑体-Medium" pitchFamily="34" charset="-120"/>
              </a:rPr>
              <a:t>Python</a:t>
            </a:r>
            <a:endParaRPr lang="en-US" sz="1690" dirty="0"/>
          </a:p>
        </p:txBody>
      </p:sp>
      <p:sp>
        <p:nvSpPr>
          <p:cNvPr id="36" name="Text 4"/>
          <p:cNvSpPr/>
          <p:nvPr/>
        </p:nvSpPr>
        <p:spPr>
          <a:xfrm>
            <a:off x="1993392" y="4050792"/>
            <a:ext cx="155448" cy="365760"/>
          </a:xfrm>
          <a:prstGeom prst="rect">
            <a:avLst/>
          </a:prstGeom>
          <a:noFill/>
          <a:ln/>
        </p:spPr>
        <p:txBody>
          <a:bodyPr wrap="none" lIns="0" tIns="0" rIns="0" bIns="0" rtlCol="0" anchor="ctr"/>
          <a:lstStyle/>
          <a:p>
            <a:pPr marL="0" indent="0" algn="l">
              <a:lnSpc>
                <a:spcPts val="2440"/>
              </a:lnSpc>
              <a:buNone/>
            </a:pPr>
            <a:r>
              <a:rPr lang="en-US" sz="2030" dirty="0">
                <a:solidFill>
                  <a:srgbClr val="050505"/>
                </a:solidFill>
                <a:latin typeface="思源黑体-思源黑体-Medium" pitchFamily="34" charset="0"/>
                <a:ea typeface="思源黑体-思源黑体-Medium" pitchFamily="34" charset="-122"/>
                <a:cs typeface="思源黑体-思源黑体-Medium" pitchFamily="34" charset="-120"/>
              </a:rPr>
              <a:t>4</a:t>
            </a:r>
            <a:endParaRPr lang="en-US" sz="2030" dirty="0"/>
          </a:p>
        </p:txBody>
      </p:sp>
      <p:sp>
        <p:nvSpPr>
          <p:cNvPr id="37" name="Text 5"/>
          <p:cNvSpPr/>
          <p:nvPr/>
        </p:nvSpPr>
        <p:spPr>
          <a:xfrm>
            <a:off x="1024128" y="4617720"/>
            <a:ext cx="2093976" cy="329184"/>
          </a:xfrm>
          <a:prstGeom prst="rect">
            <a:avLst/>
          </a:prstGeom>
          <a:noFill/>
          <a:ln/>
        </p:spPr>
        <p:txBody>
          <a:bodyPr wrap="none" lIns="0" tIns="0" rIns="0" bIns="0" rtlCol="0" anchor="ctr"/>
          <a:lstStyle/>
          <a:p>
            <a:pPr marL="0" indent="0" algn="l">
              <a:lnSpc>
                <a:spcPts val="2120"/>
              </a:lnSpc>
              <a:buNone/>
            </a:pPr>
            <a:r>
              <a:rPr lang="en-US" sz="1690" dirty="0">
                <a:solidFill>
                  <a:srgbClr val="DBDBDB"/>
                </a:solidFill>
                <a:latin typeface="思源黑体-思源黑体-Medium" pitchFamily="34" charset="0"/>
                <a:ea typeface="思源黑体-思源黑体-Medium" pitchFamily="34" charset="-122"/>
                <a:cs typeface="思源黑体-思源黑体-Medium" pitchFamily="34" charset="-120"/>
              </a:rPr>
              <a:t>C/# (.NET Core)</a:t>
            </a:r>
            <a:endParaRPr lang="en-US" sz="1690" dirty="0"/>
          </a:p>
        </p:txBody>
      </p:sp>
      <p:sp>
        <p:nvSpPr>
          <p:cNvPr id="38" name="Text 6"/>
          <p:cNvSpPr/>
          <p:nvPr/>
        </p:nvSpPr>
        <p:spPr>
          <a:xfrm>
            <a:off x="3785616" y="3136392"/>
            <a:ext cx="2093976" cy="329184"/>
          </a:xfrm>
          <a:prstGeom prst="rect">
            <a:avLst/>
          </a:prstGeom>
          <a:noFill/>
          <a:ln/>
        </p:spPr>
        <p:txBody>
          <a:bodyPr wrap="none" lIns="0" tIns="0" rIns="0" bIns="0" rtlCol="0" anchor="ctr"/>
          <a:lstStyle/>
          <a:p>
            <a:pPr marL="0" indent="0" algn="l">
              <a:lnSpc>
                <a:spcPts val="2120"/>
              </a:lnSpc>
              <a:buNone/>
            </a:pPr>
            <a:r>
              <a:rPr lang="en-US" sz="1690" dirty="0">
                <a:solidFill>
                  <a:srgbClr val="DBDBDB"/>
                </a:solidFill>
                <a:latin typeface="思源黑体-思源黑体-Medium" pitchFamily="34" charset="0"/>
                <a:ea typeface="思源黑体-思源黑体-Medium" pitchFamily="34" charset="-122"/>
                <a:cs typeface="思源黑体-思源黑体-Medium" pitchFamily="34" charset="-120"/>
              </a:rPr>
              <a:t>Node.js</a:t>
            </a:r>
            <a:endParaRPr lang="en-US" sz="1690" dirty="0"/>
          </a:p>
        </p:txBody>
      </p:sp>
      <p:sp>
        <p:nvSpPr>
          <p:cNvPr id="39" name="Text 7"/>
          <p:cNvSpPr/>
          <p:nvPr/>
        </p:nvSpPr>
        <p:spPr>
          <a:xfrm>
            <a:off x="4754880" y="2560320"/>
            <a:ext cx="155448" cy="365760"/>
          </a:xfrm>
          <a:prstGeom prst="rect">
            <a:avLst/>
          </a:prstGeom>
          <a:noFill/>
          <a:ln/>
        </p:spPr>
        <p:txBody>
          <a:bodyPr wrap="none" lIns="0" tIns="0" rIns="0" bIns="0" rtlCol="0" anchor="ctr"/>
          <a:lstStyle/>
          <a:p>
            <a:pPr marL="0" indent="0" algn="l">
              <a:lnSpc>
                <a:spcPts val="2440"/>
              </a:lnSpc>
              <a:buNone/>
            </a:pPr>
            <a:r>
              <a:rPr lang="en-US" sz="2030" dirty="0">
                <a:solidFill>
                  <a:srgbClr val="050505"/>
                </a:solidFill>
                <a:latin typeface="思源黑体-思源黑体-Medium" pitchFamily="34" charset="0"/>
                <a:ea typeface="思源黑体-思源黑体-Medium" pitchFamily="34" charset="-122"/>
                <a:cs typeface="思源黑体-思源黑体-Medium" pitchFamily="34" charset="-120"/>
              </a:rPr>
              <a:t>2</a:t>
            </a:r>
            <a:endParaRPr lang="en-US" sz="2030" dirty="0"/>
          </a:p>
        </p:txBody>
      </p:sp>
      <p:sp>
        <p:nvSpPr>
          <p:cNvPr id="40" name="Text 8"/>
          <p:cNvSpPr/>
          <p:nvPr/>
        </p:nvSpPr>
        <p:spPr>
          <a:xfrm>
            <a:off x="1993392" y="5532120"/>
            <a:ext cx="155448" cy="365760"/>
          </a:xfrm>
          <a:prstGeom prst="rect">
            <a:avLst/>
          </a:prstGeom>
          <a:noFill/>
          <a:ln/>
        </p:spPr>
        <p:txBody>
          <a:bodyPr wrap="none" lIns="0" tIns="0" rIns="0" bIns="0" rtlCol="0" anchor="ctr"/>
          <a:lstStyle/>
          <a:p>
            <a:pPr marL="0" indent="0" algn="l">
              <a:lnSpc>
                <a:spcPts val="2440"/>
              </a:lnSpc>
              <a:buNone/>
            </a:pPr>
            <a:r>
              <a:rPr lang="en-US" sz="2030" dirty="0">
                <a:solidFill>
                  <a:srgbClr val="050505"/>
                </a:solidFill>
                <a:latin typeface="思源黑体-思源黑体-Medium" pitchFamily="34" charset="0"/>
                <a:ea typeface="思源黑体-思源黑体-Medium" pitchFamily="34" charset="-122"/>
                <a:cs typeface="思源黑体-思源黑体-Medium" pitchFamily="34" charset="-120"/>
              </a:rPr>
              <a:t>7</a:t>
            </a:r>
            <a:endParaRPr lang="en-US" sz="2030" dirty="0"/>
          </a:p>
        </p:txBody>
      </p:sp>
      <p:sp>
        <p:nvSpPr>
          <p:cNvPr id="41" name="Text 9"/>
          <p:cNvSpPr/>
          <p:nvPr/>
        </p:nvSpPr>
        <p:spPr>
          <a:xfrm>
            <a:off x="3785616" y="4617720"/>
            <a:ext cx="2093976" cy="329184"/>
          </a:xfrm>
          <a:prstGeom prst="rect">
            <a:avLst/>
          </a:prstGeom>
          <a:noFill/>
          <a:ln/>
        </p:spPr>
        <p:txBody>
          <a:bodyPr wrap="none" lIns="0" tIns="0" rIns="0" bIns="0" rtlCol="0" anchor="ctr"/>
          <a:lstStyle/>
          <a:p>
            <a:pPr marL="0" indent="0" algn="l">
              <a:lnSpc>
                <a:spcPts val="2120"/>
              </a:lnSpc>
              <a:buNone/>
            </a:pPr>
            <a:r>
              <a:rPr lang="en-US" sz="1690" dirty="0">
                <a:solidFill>
                  <a:srgbClr val="DBDBDB"/>
                </a:solidFill>
                <a:latin typeface="思源黑体-思源黑体-Medium" pitchFamily="34" charset="0"/>
                <a:ea typeface="思源黑体-思源黑体-Medium" pitchFamily="34" charset="-122"/>
                <a:cs typeface="思源黑体-思源黑体-Medium" pitchFamily="34" charset="-120"/>
              </a:rPr>
              <a:t>Go</a:t>
            </a:r>
            <a:endParaRPr lang="en-US" sz="1690" dirty="0"/>
          </a:p>
        </p:txBody>
      </p:sp>
      <p:sp>
        <p:nvSpPr>
          <p:cNvPr id="42" name="Text 10"/>
          <p:cNvSpPr/>
          <p:nvPr/>
        </p:nvSpPr>
        <p:spPr>
          <a:xfrm>
            <a:off x="1024128" y="6099048"/>
            <a:ext cx="2093976" cy="978408"/>
          </a:xfrm>
          <a:prstGeom prst="rect">
            <a:avLst/>
          </a:prstGeom>
          <a:noFill/>
          <a:ln/>
        </p:spPr>
        <p:txBody>
          <a:bodyPr wrap="square" lIns="0" tIns="0" rIns="0" bIns="0" rtlCol="0" anchor="ctr"/>
          <a:lstStyle/>
          <a:p>
            <a:pPr marL="0" indent="0" algn="l">
              <a:lnSpc>
                <a:spcPts val="2120"/>
              </a:lnSpc>
              <a:buNone/>
            </a:pPr>
            <a:r>
              <a:rPr lang="en-US" sz="1690" dirty="0">
                <a:solidFill>
                  <a:srgbClr val="DBDBDB"/>
                </a:solidFill>
                <a:latin typeface="思源黑体-思源黑体-Medium" pitchFamily="34" charset="0"/>
                <a:ea typeface="思源黑体-思源黑体-Medium" pitchFamily="34" charset="-122"/>
                <a:cs typeface="思源黑体-思源黑体-Medium" pitchFamily="34" charset="-120"/>
              </a:rPr>
              <a:t>Custom runtimes (via container images)</a:t>
            </a:r>
            <a:endParaRPr lang="en-US" sz="1690" dirty="0"/>
          </a:p>
        </p:txBody>
      </p:sp>
      <p:sp>
        <p:nvSpPr>
          <p:cNvPr id="43" name="Text 11"/>
          <p:cNvSpPr/>
          <p:nvPr/>
        </p:nvSpPr>
        <p:spPr>
          <a:xfrm>
            <a:off x="4754880" y="4050792"/>
            <a:ext cx="155448" cy="365760"/>
          </a:xfrm>
          <a:prstGeom prst="rect">
            <a:avLst/>
          </a:prstGeom>
          <a:noFill/>
          <a:ln/>
        </p:spPr>
        <p:txBody>
          <a:bodyPr wrap="none" lIns="0" tIns="0" rIns="0" bIns="0" rtlCol="0" anchor="ctr"/>
          <a:lstStyle/>
          <a:p>
            <a:pPr marL="0" indent="0" algn="l">
              <a:lnSpc>
                <a:spcPts val="2440"/>
              </a:lnSpc>
              <a:buNone/>
            </a:pPr>
            <a:r>
              <a:rPr lang="en-US" sz="2030" dirty="0">
                <a:solidFill>
                  <a:srgbClr val="050505"/>
                </a:solidFill>
                <a:latin typeface="思源黑体-思源黑体-Medium" pitchFamily="34" charset="0"/>
                <a:ea typeface="思源黑体-思源黑体-Medium" pitchFamily="34" charset="-122"/>
                <a:cs typeface="思源黑体-思源黑体-Medium" pitchFamily="34" charset="-120"/>
              </a:rPr>
              <a:t>5</a:t>
            </a:r>
            <a:endParaRPr lang="en-US" sz="2030" dirty="0"/>
          </a:p>
        </p:txBody>
      </p:sp>
      <p:sp>
        <p:nvSpPr>
          <p:cNvPr id="44" name="Text 12"/>
          <p:cNvSpPr/>
          <p:nvPr/>
        </p:nvSpPr>
        <p:spPr>
          <a:xfrm>
            <a:off x="6547104" y="3136392"/>
            <a:ext cx="2093976" cy="329184"/>
          </a:xfrm>
          <a:prstGeom prst="rect">
            <a:avLst/>
          </a:prstGeom>
          <a:noFill/>
          <a:ln/>
        </p:spPr>
        <p:txBody>
          <a:bodyPr wrap="none" lIns="0" tIns="0" rIns="0" bIns="0" rtlCol="0" anchor="ctr"/>
          <a:lstStyle/>
          <a:p>
            <a:pPr marL="0" indent="0" algn="l">
              <a:lnSpc>
                <a:spcPts val="2120"/>
              </a:lnSpc>
              <a:buNone/>
            </a:pPr>
            <a:r>
              <a:rPr lang="en-US" sz="1690" dirty="0">
                <a:solidFill>
                  <a:srgbClr val="DBDBDB"/>
                </a:solidFill>
                <a:latin typeface="思源黑体-思源黑体-Medium" pitchFamily="34" charset="0"/>
                <a:ea typeface="思源黑体-思源黑体-Medium" pitchFamily="34" charset="-122"/>
                <a:cs typeface="思源黑体-思源黑体-Medium" pitchFamily="34" charset="-120"/>
              </a:rPr>
              <a:t>Java</a:t>
            </a:r>
            <a:endParaRPr lang="en-US" sz="1690" dirty="0"/>
          </a:p>
        </p:txBody>
      </p:sp>
      <p:sp>
        <p:nvSpPr>
          <p:cNvPr id="45" name="Text 13"/>
          <p:cNvSpPr/>
          <p:nvPr/>
        </p:nvSpPr>
        <p:spPr>
          <a:xfrm>
            <a:off x="7516368" y="2560320"/>
            <a:ext cx="155448" cy="365760"/>
          </a:xfrm>
          <a:prstGeom prst="rect">
            <a:avLst/>
          </a:prstGeom>
          <a:noFill/>
          <a:ln/>
        </p:spPr>
        <p:txBody>
          <a:bodyPr wrap="none" lIns="0" tIns="0" rIns="0" bIns="0" rtlCol="0" anchor="ctr"/>
          <a:lstStyle/>
          <a:p>
            <a:pPr marL="0" indent="0" algn="l">
              <a:lnSpc>
                <a:spcPts val="2440"/>
              </a:lnSpc>
              <a:buNone/>
            </a:pPr>
            <a:r>
              <a:rPr lang="en-US" sz="2030" dirty="0">
                <a:solidFill>
                  <a:srgbClr val="050505"/>
                </a:solidFill>
                <a:latin typeface="思源黑体-思源黑体-Medium" pitchFamily="34" charset="0"/>
                <a:ea typeface="思源黑体-思源黑体-Medium" pitchFamily="34" charset="-122"/>
                <a:cs typeface="思源黑体-思源黑体-Medium" pitchFamily="34" charset="-120"/>
              </a:rPr>
              <a:t>3</a:t>
            </a:r>
            <a:endParaRPr lang="en-US" sz="2030" dirty="0"/>
          </a:p>
        </p:txBody>
      </p:sp>
      <p:sp>
        <p:nvSpPr>
          <p:cNvPr id="46" name="Text 14"/>
          <p:cNvSpPr/>
          <p:nvPr/>
        </p:nvSpPr>
        <p:spPr>
          <a:xfrm>
            <a:off x="6547104" y="4617720"/>
            <a:ext cx="2093976" cy="329184"/>
          </a:xfrm>
          <a:prstGeom prst="rect">
            <a:avLst/>
          </a:prstGeom>
          <a:noFill/>
          <a:ln/>
        </p:spPr>
        <p:txBody>
          <a:bodyPr wrap="none" lIns="0" tIns="0" rIns="0" bIns="0" rtlCol="0" anchor="ctr"/>
          <a:lstStyle/>
          <a:p>
            <a:pPr marL="0" indent="0" algn="l">
              <a:lnSpc>
                <a:spcPts val="2120"/>
              </a:lnSpc>
              <a:buNone/>
            </a:pPr>
            <a:r>
              <a:rPr lang="en-US" sz="1690" dirty="0">
                <a:solidFill>
                  <a:srgbClr val="DBDBDB"/>
                </a:solidFill>
                <a:latin typeface="思源黑体-思源黑体-Medium" pitchFamily="34" charset="0"/>
                <a:ea typeface="思源黑体-思源黑体-Medium" pitchFamily="34" charset="-122"/>
                <a:cs typeface="思源黑体-思源黑体-Medium" pitchFamily="34" charset="-120"/>
              </a:rPr>
              <a:t>Ruby</a:t>
            </a:r>
            <a:endParaRPr lang="en-US" sz="1690" dirty="0"/>
          </a:p>
        </p:txBody>
      </p:sp>
      <p:sp>
        <p:nvSpPr>
          <p:cNvPr id="47" name="Text 15"/>
          <p:cNvSpPr/>
          <p:nvPr/>
        </p:nvSpPr>
        <p:spPr>
          <a:xfrm>
            <a:off x="7516368" y="4050792"/>
            <a:ext cx="155448" cy="365760"/>
          </a:xfrm>
          <a:prstGeom prst="rect">
            <a:avLst/>
          </a:prstGeom>
          <a:noFill/>
          <a:ln/>
        </p:spPr>
        <p:txBody>
          <a:bodyPr wrap="none" lIns="0" tIns="0" rIns="0" bIns="0" rtlCol="0" anchor="ctr"/>
          <a:lstStyle/>
          <a:p>
            <a:pPr marL="0" indent="0" algn="l">
              <a:lnSpc>
                <a:spcPts val="2440"/>
              </a:lnSpc>
              <a:buNone/>
            </a:pPr>
            <a:r>
              <a:rPr lang="en-US" sz="2030" dirty="0">
                <a:solidFill>
                  <a:srgbClr val="050505"/>
                </a:solidFill>
                <a:latin typeface="思源黑体-思源黑体-Medium" pitchFamily="34" charset="0"/>
                <a:ea typeface="思源黑体-思源黑体-Medium" pitchFamily="34" charset="-122"/>
                <a:cs typeface="思源黑体-思源黑体-Medium" pitchFamily="34" charset="-120"/>
              </a:rPr>
              <a:t>6</a:t>
            </a:r>
            <a:endParaRPr lang="en-US" sz="203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4630400" cy="8238744"/>
          </a:xfrm>
          <a:prstGeom prst="rect">
            <a:avLst/>
          </a:prstGeom>
        </p:spPr>
      </p:pic>
      <p:pic>
        <p:nvPicPr>
          <p:cNvPr id="3" name="Image 1" descr="preencoded.png"/>
          <p:cNvPicPr>
            <a:picLocks noChangeAspect="1"/>
          </p:cNvPicPr>
          <p:nvPr/>
        </p:nvPicPr>
        <p:blipFill>
          <a:blip r:embed="rId4"/>
          <a:stretch>
            <a:fillRect/>
          </a:stretch>
        </p:blipFill>
        <p:spPr>
          <a:xfrm>
            <a:off x="9409176" y="0"/>
            <a:ext cx="5230368" cy="8238744"/>
          </a:xfrm>
          <a:prstGeom prst="rect">
            <a:avLst/>
          </a:prstGeom>
        </p:spPr>
      </p:pic>
      <p:pic>
        <p:nvPicPr>
          <p:cNvPr id="4" name="Image 2" descr="preencoded.png"/>
          <p:cNvPicPr>
            <a:picLocks noChangeAspect="1"/>
          </p:cNvPicPr>
          <p:nvPr/>
        </p:nvPicPr>
        <p:blipFill>
          <a:blip r:embed="rId5"/>
          <a:stretch>
            <a:fillRect/>
          </a:stretch>
        </p:blipFill>
        <p:spPr>
          <a:xfrm>
            <a:off x="896112" y="3108960"/>
            <a:ext cx="2459736" cy="2039112"/>
          </a:xfrm>
          <a:prstGeom prst="rect">
            <a:avLst/>
          </a:prstGeom>
        </p:spPr>
      </p:pic>
      <p:pic>
        <p:nvPicPr>
          <p:cNvPr id="5" name="Image 3" descr="preencoded.png"/>
          <p:cNvPicPr>
            <a:picLocks noChangeAspect="1"/>
          </p:cNvPicPr>
          <p:nvPr/>
        </p:nvPicPr>
        <p:blipFill>
          <a:blip r:embed="rId5"/>
          <a:stretch>
            <a:fillRect/>
          </a:stretch>
        </p:blipFill>
        <p:spPr>
          <a:xfrm>
            <a:off x="3657600" y="3108960"/>
            <a:ext cx="2459736" cy="2039112"/>
          </a:xfrm>
          <a:prstGeom prst="rect">
            <a:avLst/>
          </a:prstGeom>
        </p:spPr>
      </p:pic>
      <p:pic>
        <p:nvPicPr>
          <p:cNvPr id="6" name="Image 4" descr="preencoded.png"/>
          <p:cNvPicPr>
            <a:picLocks noChangeAspect="1"/>
          </p:cNvPicPr>
          <p:nvPr/>
        </p:nvPicPr>
        <p:blipFill>
          <a:blip r:embed="rId6"/>
          <a:stretch>
            <a:fillRect/>
          </a:stretch>
        </p:blipFill>
        <p:spPr>
          <a:xfrm>
            <a:off x="896112" y="5349240"/>
            <a:ext cx="3840480" cy="1344168"/>
          </a:xfrm>
          <a:prstGeom prst="rect">
            <a:avLst/>
          </a:prstGeom>
        </p:spPr>
      </p:pic>
      <p:pic>
        <p:nvPicPr>
          <p:cNvPr id="7" name="Image 5" descr="preencoded.png"/>
          <p:cNvPicPr>
            <a:picLocks noChangeAspect="1"/>
          </p:cNvPicPr>
          <p:nvPr/>
        </p:nvPicPr>
        <p:blipFill>
          <a:blip r:embed="rId5"/>
          <a:stretch>
            <a:fillRect/>
          </a:stretch>
        </p:blipFill>
        <p:spPr>
          <a:xfrm>
            <a:off x="6428232" y="3108960"/>
            <a:ext cx="2459736" cy="2039112"/>
          </a:xfrm>
          <a:prstGeom prst="rect">
            <a:avLst/>
          </a:prstGeom>
        </p:spPr>
      </p:pic>
      <p:pic>
        <p:nvPicPr>
          <p:cNvPr id="8" name="Image 6" descr="preencoded.png"/>
          <p:cNvPicPr>
            <a:picLocks noChangeAspect="1"/>
          </p:cNvPicPr>
          <p:nvPr/>
        </p:nvPicPr>
        <p:blipFill>
          <a:blip r:embed="rId6"/>
          <a:stretch>
            <a:fillRect/>
          </a:stretch>
        </p:blipFill>
        <p:spPr>
          <a:xfrm>
            <a:off x="5047488" y="5349240"/>
            <a:ext cx="3840480" cy="1344168"/>
          </a:xfrm>
          <a:prstGeom prst="rect">
            <a:avLst/>
          </a:prstGeom>
        </p:spPr>
      </p:pic>
      <p:pic>
        <p:nvPicPr>
          <p:cNvPr id="9" name="Image 7" descr="preencoded.png"/>
          <p:cNvPicPr>
            <a:picLocks noChangeAspect="1"/>
          </p:cNvPicPr>
          <p:nvPr/>
        </p:nvPicPr>
        <p:blipFill>
          <a:blip r:embed="rId7"/>
          <a:stretch>
            <a:fillRect/>
          </a:stretch>
        </p:blipFill>
        <p:spPr>
          <a:xfrm>
            <a:off x="786384" y="3108960"/>
            <a:ext cx="146304" cy="2039112"/>
          </a:xfrm>
          <a:prstGeom prst="rect">
            <a:avLst/>
          </a:prstGeom>
        </p:spPr>
      </p:pic>
      <p:pic>
        <p:nvPicPr>
          <p:cNvPr id="10" name="Image 8" descr="preencoded.png"/>
          <p:cNvPicPr>
            <a:picLocks noChangeAspect="1"/>
          </p:cNvPicPr>
          <p:nvPr/>
        </p:nvPicPr>
        <p:blipFill>
          <a:blip r:embed="rId7"/>
          <a:stretch>
            <a:fillRect/>
          </a:stretch>
        </p:blipFill>
        <p:spPr>
          <a:xfrm>
            <a:off x="3547872" y="3108960"/>
            <a:ext cx="146304" cy="2039112"/>
          </a:xfrm>
          <a:prstGeom prst="rect">
            <a:avLst/>
          </a:prstGeom>
        </p:spPr>
      </p:pic>
      <p:pic>
        <p:nvPicPr>
          <p:cNvPr id="11" name="Image 9" descr="preencoded.png"/>
          <p:cNvPicPr>
            <a:picLocks noChangeAspect="1"/>
          </p:cNvPicPr>
          <p:nvPr/>
        </p:nvPicPr>
        <p:blipFill>
          <a:blip r:embed="rId8"/>
          <a:stretch>
            <a:fillRect/>
          </a:stretch>
        </p:blipFill>
        <p:spPr>
          <a:xfrm>
            <a:off x="786384" y="5349240"/>
            <a:ext cx="146304" cy="1344168"/>
          </a:xfrm>
          <a:prstGeom prst="rect">
            <a:avLst/>
          </a:prstGeom>
        </p:spPr>
      </p:pic>
      <p:pic>
        <p:nvPicPr>
          <p:cNvPr id="12" name="Image 10" descr="preencoded.png"/>
          <p:cNvPicPr>
            <a:picLocks noChangeAspect="1"/>
          </p:cNvPicPr>
          <p:nvPr/>
        </p:nvPicPr>
        <p:blipFill>
          <a:blip r:embed="rId7"/>
          <a:stretch>
            <a:fillRect/>
          </a:stretch>
        </p:blipFill>
        <p:spPr>
          <a:xfrm>
            <a:off x="6309360" y="3108960"/>
            <a:ext cx="146304" cy="2039112"/>
          </a:xfrm>
          <a:prstGeom prst="rect">
            <a:avLst/>
          </a:prstGeom>
        </p:spPr>
      </p:pic>
      <p:pic>
        <p:nvPicPr>
          <p:cNvPr id="13" name="Image 11" descr="preencoded.png"/>
          <p:cNvPicPr>
            <a:picLocks noChangeAspect="1"/>
          </p:cNvPicPr>
          <p:nvPr/>
        </p:nvPicPr>
        <p:blipFill>
          <a:blip r:embed="rId8"/>
          <a:stretch>
            <a:fillRect/>
          </a:stretch>
        </p:blipFill>
        <p:spPr>
          <a:xfrm>
            <a:off x="4928616" y="5349240"/>
            <a:ext cx="146304" cy="1344168"/>
          </a:xfrm>
          <a:prstGeom prst="rect">
            <a:avLst/>
          </a:prstGeom>
        </p:spPr>
      </p:pic>
      <p:sp>
        <p:nvSpPr>
          <p:cNvPr id="14" name="Text 0"/>
          <p:cNvSpPr/>
          <p:nvPr/>
        </p:nvSpPr>
        <p:spPr>
          <a:xfrm>
            <a:off x="795528" y="1563624"/>
            <a:ext cx="8074152" cy="713232"/>
          </a:xfrm>
          <a:prstGeom prst="rect">
            <a:avLst/>
          </a:prstGeom>
          <a:noFill/>
          <a:ln/>
        </p:spPr>
        <p:txBody>
          <a:bodyPr wrap="none" lIns="0" tIns="0" rIns="0" bIns="0" rtlCol="0" anchor="ctr"/>
          <a:lstStyle/>
          <a:p>
            <a:pPr marL="0" indent="0" algn="l">
              <a:lnSpc>
                <a:spcPts val="5580"/>
              </a:lnSpc>
              <a:buNone/>
            </a:pPr>
            <a:r>
              <a:rPr lang="en-US" sz="4460" dirty="0">
                <a:solidFill>
                  <a:srgbClr val="77D8F2"/>
                </a:solidFill>
                <a:latin typeface="AlibabaPuHuiTi-Alibaba-PuHuiTi" pitchFamily="34" charset="0"/>
                <a:ea typeface="AlibabaPuHuiTi-Alibaba-PuHuiTi" pitchFamily="34" charset="-122"/>
                <a:cs typeface="AlibabaPuHuiTi-Alibaba-PuHuiTi" pitchFamily="34" charset="-120"/>
              </a:rPr>
              <a:t>5. Triggers and Event Sources</a:t>
            </a:r>
            <a:endParaRPr lang="en-US" sz="4460" dirty="0"/>
          </a:p>
        </p:txBody>
      </p:sp>
      <p:sp>
        <p:nvSpPr>
          <p:cNvPr id="15" name="Text 1"/>
          <p:cNvSpPr/>
          <p:nvPr/>
        </p:nvSpPr>
        <p:spPr>
          <a:xfrm>
            <a:off x="795528" y="2532888"/>
            <a:ext cx="8074152" cy="347472"/>
          </a:xfrm>
          <a:prstGeom prst="rect">
            <a:avLst/>
          </a:prstGeom>
          <a:noFill/>
          <a:ln/>
        </p:spPr>
        <p:txBody>
          <a:bodyPr wrap="none" lIns="0" tIns="0" rIns="0" bIns="0" rtlCol="0" anchor="ctr"/>
          <a:lstStyle/>
          <a:p>
            <a:pPr marL="0" indent="0" algn="l">
              <a:lnSpc>
                <a:spcPts val="2230"/>
              </a:lnSpc>
              <a:buNone/>
            </a:pPr>
            <a:r>
              <a:rPr lang="en-US" sz="1780" dirty="0">
                <a:solidFill>
                  <a:srgbClr val="DBDBDB"/>
                </a:solidFill>
                <a:latin typeface="思源黑体-思源黑体-Medium" pitchFamily="34" charset="0"/>
                <a:ea typeface="思源黑体-思源黑体-Medium" pitchFamily="34" charset="-122"/>
                <a:cs typeface="思源黑体-思源黑体-Medium" pitchFamily="34" charset="-120"/>
              </a:rPr>
              <a:t>Lambda can be triggered by various AWS services:</a:t>
            </a:r>
            <a:endParaRPr lang="en-US" sz="1780" dirty="0"/>
          </a:p>
        </p:txBody>
      </p:sp>
      <p:sp>
        <p:nvSpPr>
          <p:cNvPr id="16" name="Text 2"/>
          <p:cNvSpPr/>
          <p:nvPr/>
        </p:nvSpPr>
        <p:spPr>
          <a:xfrm>
            <a:off x="1133856" y="3364992"/>
            <a:ext cx="1956816" cy="356616"/>
          </a:xfrm>
          <a:prstGeom prst="rect">
            <a:avLst/>
          </a:prstGeom>
          <a:noFill/>
          <a:ln/>
        </p:spPr>
        <p:txBody>
          <a:bodyPr wrap="none" lIns="0" tIns="0" rIns="0" bIns="0" rtlCol="0" anchor="ctr"/>
          <a:lstStyle/>
          <a:p>
            <a:pPr marL="0" indent="0" algn="l">
              <a:lnSpc>
                <a:spcPts val="2790"/>
              </a:lnSpc>
              <a:buNone/>
            </a:pPr>
            <a:r>
              <a:rPr lang="en-US" sz="2230" dirty="0">
                <a:solidFill>
                  <a:srgbClr val="DBDBDB"/>
                </a:solidFill>
                <a:latin typeface="AlibabaPuHuiTi-Alibaba-PuHuiTi" pitchFamily="34" charset="0"/>
                <a:ea typeface="AlibabaPuHuiTi-Alibaba-PuHuiTi" pitchFamily="34" charset="-122"/>
                <a:cs typeface="AlibabaPuHuiTi-Alibaba-PuHuiTi" pitchFamily="34" charset="-120"/>
              </a:rPr>
              <a:t>API Gateway</a:t>
            </a:r>
            <a:endParaRPr lang="en-US" sz="2230" dirty="0"/>
          </a:p>
        </p:txBody>
      </p:sp>
      <p:sp>
        <p:nvSpPr>
          <p:cNvPr id="17" name="Text 3"/>
          <p:cNvSpPr/>
          <p:nvPr/>
        </p:nvSpPr>
        <p:spPr>
          <a:xfrm>
            <a:off x="1133856" y="3858768"/>
            <a:ext cx="1956816" cy="1024128"/>
          </a:xfrm>
          <a:prstGeom prst="rect">
            <a:avLst/>
          </a:prstGeom>
          <a:noFill/>
          <a:ln/>
        </p:spPr>
        <p:txBody>
          <a:bodyPr wrap="square" lIns="0" tIns="0" rIns="0" bIns="0" rtlCol="0" anchor="ctr"/>
          <a:lstStyle/>
          <a:p>
            <a:pPr marL="0" indent="0" algn="l">
              <a:lnSpc>
                <a:spcPts val="2230"/>
              </a:lnSpc>
              <a:buNone/>
            </a:pPr>
            <a:r>
              <a:rPr lang="en-US" sz="1780" dirty="0">
                <a:solidFill>
                  <a:srgbClr val="DBDBDB"/>
                </a:solidFill>
                <a:latin typeface="思源黑体-思源黑体-Medium" pitchFamily="34" charset="0"/>
                <a:ea typeface="思源黑体-思源黑体-Medium" pitchFamily="34" charset="-122"/>
                <a:cs typeface="思源黑体-思源黑体-Medium" pitchFamily="34" charset="-120"/>
              </a:rPr>
              <a:t> Activated when an API request is made.</a:t>
            </a:r>
            <a:endParaRPr lang="en-US" sz="1780" dirty="0"/>
          </a:p>
        </p:txBody>
      </p:sp>
      <p:sp>
        <p:nvSpPr>
          <p:cNvPr id="18" name="Text 4"/>
          <p:cNvSpPr/>
          <p:nvPr/>
        </p:nvSpPr>
        <p:spPr>
          <a:xfrm>
            <a:off x="3904488" y="3364992"/>
            <a:ext cx="1956816" cy="356616"/>
          </a:xfrm>
          <a:prstGeom prst="rect">
            <a:avLst/>
          </a:prstGeom>
          <a:noFill/>
          <a:ln/>
        </p:spPr>
        <p:txBody>
          <a:bodyPr wrap="none" lIns="0" tIns="0" rIns="0" bIns="0" rtlCol="0" anchor="ctr"/>
          <a:lstStyle/>
          <a:p>
            <a:pPr marL="0" indent="0" algn="l">
              <a:lnSpc>
                <a:spcPts val="2790"/>
              </a:lnSpc>
              <a:buNone/>
            </a:pPr>
            <a:r>
              <a:rPr lang="en-US" sz="2230" dirty="0">
                <a:solidFill>
                  <a:srgbClr val="DBDBDB"/>
                </a:solidFill>
                <a:latin typeface="AlibabaPuHuiTi-Alibaba-PuHuiTi" pitchFamily="34" charset="0"/>
                <a:ea typeface="AlibabaPuHuiTi-Alibaba-PuHuiTi" pitchFamily="34" charset="-122"/>
                <a:cs typeface="AlibabaPuHuiTi-Alibaba-PuHuiTi" pitchFamily="34" charset="-120"/>
              </a:rPr>
              <a:t>S3</a:t>
            </a:r>
            <a:endParaRPr lang="en-US" sz="2230" dirty="0"/>
          </a:p>
        </p:txBody>
      </p:sp>
      <p:sp>
        <p:nvSpPr>
          <p:cNvPr id="19" name="Text 5"/>
          <p:cNvSpPr/>
          <p:nvPr/>
        </p:nvSpPr>
        <p:spPr>
          <a:xfrm>
            <a:off x="3904488" y="3858768"/>
            <a:ext cx="1956816" cy="685800"/>
          </a:xfrm>
          <a:prstGeom prst="rect">
            <a:avLst/>
          </a:prstGeom>
          <a:noFill/>
          <a:ln/>
        </p:spPr>
        <p:txBody>
          <a:bodyPr wrap="square" lIns="0" tIns="0" rIns="0" bIns="0" rtlCol="0" anchor="ctr"/>
          <a:lstStyle/>
          <a:p>
            <a:pPr marL="0" indent="0" algn="l">
              <a:lnSpc>
                <a:spcPts val="2230"/>
              </a:lnSpc>
              <a:buNone/>
            </a:pPr>
            <a:r>
              <a:rPr lang="en-US" sz="1780" dirty="0">
                <a:solidFill>
                  <a:srgbClr val="DBDBDB"/>
                </a:solidFill>
                <a:latin typeface="思源黑体-思源黑体-Medium" pitchFamily="34" charset="0"/>
                <a:ea typeface="思源黑体-思源黑体-Medium" pitchFamily="34" charset="-122"/>
                <a:cs typeface="思源黑体-思源黑体-Medium" pitchFamily="34" charset="-120"/>
              </a:rPr>
              <a:t> Triggered during file uploads.</a:t>
            </a:r>
            <a:endParaRPr lang="en-US" sz="1780" dirty="0"/>
          </a:p>
        </p:txBody>
      </p:sp>
      <p:sp>
        <p:nvSpPr>
          <p:cNvPr id="20" name="Text 6"/>
          <p:cNvSpPr/>
          <p:nvPr/>
        </p:nvSpPr>
        <p:spPr>
          <a:xfrm>
            <a:off x="1133856" y="5605272"/>
            <a:ext cx="3346704" cy="356616"/>
          </a:xfrm>
          <a:prstGeom prst="rect">
            <a:avLst/>
          </a:prstGeom>
          <a:noFill/>
          <a:ln/>
        </p:spPr>
        <p:txBody>
          <a:bodyPr wrap="none" lIns="0" tIns="0" rIns="0" bIns="0" rtlCol="0" anchor="ctr"/>
          <a:lstStyle/>
          <a:p>
            <a:pPr marL="0" indent="0" algn="l">
              <a:lnSpc>
                <a:spcPts val="2790"/>
              </a:lnSpc>
              <a:buNone/>
            </a:pPr>
            <a:r>
              <a:rPr lang="en-US" sz="2230" dirty="0">
                <a:solidFill>
                  <a:srgbClr val="DBDBDB"/>
                </a:solidFill>
                <a:latin typeface="AlibabaPuHuiTi-Alibaba-PuHuiTi" pitchFamily="34" charset="0"/>
                <a:ea typeface="AlibabaPuHuiTi-Alibaba-PuHuiTi" pitchFamily="34" charset="-122"/>
                <a:cs typeface="AlibabaPuHuiTi-Alibaba-PuHuiTi" pitchFamily="34" charset="-120"/>
              </a:rPr>
              <a:t>CloudWatch Events</a:t>
            </a:r>
            <a:endParaRPr lang="en-US" sz="2230" dirty="0"/>
          </a:p>
        </p:txBody>
      </p:sp>
      <p:sp>
        <p:nvSpPr>
          <p:cNvPr id="21" name="Text 7"/>
          <p:cNvSpPr/>
          <p:nvPr/>
        </p:nvSpPr>
        <p:spPr>
          <a:xfrm>
            <a:off x="1133856" y="6089904"/>
            <a:ext cx="3346704" cy="347472"/>
          </a:xfrm>
          <a:prstGeom prst="rect">
            <a:avLst/>
          </a:prstGeom>
          <a:noFill/>
          <a:ln/>
        </p:spPr>
        <p:txBody>
          <a:bodyPr wrap="none" lIns="0" tIns="0" rIns="0" bIns="0" rtlCol="0" anchor="ctr"/>
          <a:lstStyle/>
          <a:p>
            <a:pPr marL="0" indent="0" algn="l">
              <a:lnSpc>
                <a:spcPts val="2230"/>
              </a:lnSpc>
              <a:buNone/>
            </a:pPr>
            <a:r>
              <a:rPr lang="en-US" sz="1780" dirty="0">
                <a:solidFill>
                  <a:srgbClr val="DBDBDB"/>
                </a:solidFill>
                <a:latin typeface="思源黑体-思源黑体-Medium" pitchFamily="34" charset="0"/>
                <a:ea typeface="思源黑体-思源黑体-Medium" pitchFamily="34" charset="-122"/>
                <a:cs typeface="思源黑体-思源黑体-Medium" pitchFamily="34" charset="-120"/>
              </a:rPr>
              <a:t> Used for scheduled tasks.</a:t>
            </a:r>
            <a:endParaRPr lang="en-US" sz="1780" dirty="0"/>
          </a:p>
        </p:txBody>
      </p:sp>
      <p:sp>
        <p:nvSpPr>
          <p:cNvPr id="22" name="Text 8"/>
          <p:cNvSpPr/>
          <p:nvPr/>
        </p:nvSpPr>
        <p:spPr>
          <a:xfrm>
            <a:off x="6665976" y="3364992"/>
            <a:ext cx="1956816" cy="713232"/>
          </a:xfrm>
          <a:prstGeom prst="rect">
            <a:avLst/>
          </a:prstGeom>
          <a:noFill/>
          <a:ln/>
        </p:spPr>
        <p:txBody>
          <a:bodyPr wrap="square" lIns="0" tIns="0" rIns="0" bIns="0" rtlCol="0" anchor="ctr"/>
          <a:lstStyle/>
          <a:p>
            <a:pPr marL="0" indent="0" algn="l">
              <a:lnSpc>
                <a:spcPts val="2790"/>
              </a:lnSpc>
              <a:buNone/>
            </a:pPr>
            <a:r>
              <a:rPr lang="en-US" sz="2230" dirty="0">
                <a:solidFill>
                  <a:srgbClr val="DBDBDB"/>
                </a:solidFill>
                <a:latin typeface="AlibabaPuHuiTi-Alibaba-PuHuiTi" pitchFamily="34" charset="0"/>
                <a:ea typeface="AlibabaPuHuiTi-Alibaba-PuHuiTi" pitchFamily="34" charset="-122"/>
                <a:cs typeface="AlibabaPuHuiTi-Alibaba-PuHuiTi" pitchFamily="34" charset="-120"/>
              </a:rPr>
              <a:t>DynamoDB Streams</a:t>
            </a:r>
            <a:endParaRPr lang="en-US" sz="2230" dirty="0"/>
          </a:p>
        </p:txBody>
      </p:sp>
      <p:sp>
        <p:nvSpPr>
          <p:cNvPr id="23" name="Text 9"/>
          <p:cNvSpPr/>
          <p:nvPr/>
        </p:nvSpPr>
        <p:spPr>
          <a:xfrm>
            <a:off x="5285232" y="5605272"/>
            <a:ext cx="3346704" cy="356616"/>
          </a:xfrm>
          <a:prstGeom prst="rect">
            <a:avLst/>
          </a:prstGeom>
          <a:noFill/>
          <a:ln/>
        </p:spPr>
        <p:txBody>
          <a:bodyPr wrap="none" lIns="0" tIns="0" rIns="0" bIns="0" rtlCol="0" anchor="ctr"/>
          <a:lstStyle/>
          <a:p>
            <a:pPr marL="0" indent="0" algn="l">
              <a:lnSpc>
                <a:spcPts val="2790"/>
              </a:lnSpc>
              <a:buNone/>
            </a:pPr>
            <a:r>
              <a:rPr lang="en-US" sz="2230" dirty="0">
                <a:solidFill>
                  <a:srgbClr val="DBDBDB"/>
                </a:solidFill>
                <a:latin typeface="AlibabaPuHuiTi-Alibaba-PuHuiTi" pitchFamily="34" charset="0"/>
                <a:ea typeface="AlibabaPuHuiTi-Alibaba-PuHuiTi" pitchFamily="34" charset="-122"/>
                <a:cs typeface="AlibabaPuHuiTi-Alibaba-PuHuiTi" pitchFamily="34" charset="-120"/>
              </a:rPr>
              <a:t>SNS / SQS</a:t>
            </a:r>
            <a:endParaRPr lang="en-US" sz="2230" dirty="0"/>
          </a:p>
        </p:txBody>
      </p:sp>
      <p:sp>
        <p:nvSpPr>
          <p:cNvPr id="24" name="Text 10"/>
          <p:cNvSpPr/>
          <p:nvPr/>
        </p:nvSpPr>
        <p:spPr>
          <a:xfrm>
            <a:off x="6665976" y="4215384"/>
            <a:ext cx="1956816" cy="685800"/>
          </a:xfrm>
          <a:prstGeom prst="rect">
            <a:avLst/>
          </a:prstGeom>
          <a:noFill/>
          <a:ln/>
        </p:spPr>
        <p:txBody>
          <a:bodyPr wrap="square" lIns="0" tIns="0" rIns="0" bIns="0" rtlCol="0" anchor="ctr"/>
          <a:lstStyle/>
          <a:p>
            <a:pPr marL="0" indent="0" algn="l">
              <a:lnSpc>
                <a:spcPts val="2230"/>
              </a:lnSpc>
              <a:buNone/>
            </a:pPr>
            <a:r>
              <a:rPr lang="en-US" sz="1780" dirty="0">
                <a:solidFill>
                  <a:srgbClr val="DBDBDB"/>
                </a:solidFill>
                <a:latin typeface="思源黑体-思源黑体-Medium" pitchFamily="34" charset="0"/>
                <a:ea typeface="思源黑体-思源黑体-Medium" pitchFamily="34" charset="-122"/>
                <a:cs typeface="思源黑体-思源黑体-Medium" pitchFamily="34" charset="-120"/>
              </a:rPr>
              <a:t> Initiated when data changes.</a:t>
            </a:r>
            <a:endParaRPr lang="en-US" sz="1780" dirty="0"/>
          </a:p>
        </p:txBody>
      </p:sp>
      <p:sp>
        <p:nvSpPr>
          <p:cNvPr id="25" name="Text 11"/>
          <p:cNvSpPr/>
          <p:nvPr/>
        </p:nvSpPr>
        <p:spPr>
          <a:xfrm>
            <a:off x="5285232" y="6089904"/>
            <a:ext cx="3346704" cy="347472"/>
          </a:xfrm>
          <a:prstGeom prst="rect">
            <a:avLst/>
          </a:prstGeom>
          <a:noFill/>
          <a:ln/>
        </p:spPr>
        <p:txBody>
          <a:bodyPr wrap="none" lIns="0" tIns="0" rIns="0" bIns="0" rtlCol="0" anchor="ctr"/>
          <a:lstStyle/>
          <a:p>
            <a:pPr marL="0" indent="0" algn="l">
              <a:lnSpc>
                <a:spcPts val="2230"/>
              </a:lnSpc>
              <a:buNone/>
            </a:pPr>
            <a:r>
              <a:rPr lang="en-US" sz="1780" dirty="0">
                <a:solidFill>
                  <a:srgbClr val="DBDBDB"/>
                </a:solidFill>
                <a:latin typeface="思源黑体-思源黑体-Medium" pitchFamily="34" charset="0"/>
                <a:ea typeface="思源黑体-思源黑体-Medium" pitchFamily="34" charset="-122"/>
                <a:cs typeface="思源黑体-思源黑体-Medium" pitchFamily="34" charset="-120"/>
              </a:rPr>
              <a:t> For messaging events.</a:t>
            </a:r>
            <a:endParaRPr lang="en-US" sz="178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4630400" cy="8238744"/>
          </a:xfrm>
          <a:prstGeom prst="rect">
            <a:avLst/>
          </a:prstGeom>
        </p:spPr>
      </p:pic>
      <p:pic>
        <p:nvPicPr>
          <p:cNvPr id="3" name="Image 1" descr="preencoded.png"/>
          <p:cNvPicPr>
            <a:picLocks noChangeAspect="1"/>
          </p:cNvPicPr>
          <p:nvPr/>
        </p:nvPicPr>
        <p:blipFill>
          <a:blip r:embed="rId4"/>
          <a:stretch>
            <a:fillRect/>
          </a:stretch>
        </p:blipFill>
        <p:spPr>
          <a:xfrm>
            <a:off x="0" y="0"/>
            <a:ext cx="14630400" cy="2624328"/>
          </a:xfrm>
          <a:prstGeom prst="rect">
            <a:avLst/>
          </a:prstGeom>
        </p:spPr>
      </p:pic>
      <p:pic>
        <p:nvPicPr>
          <p:cNvPr id="4" name="Image 2" descr="preencoded.png"/>
          <p:cNvPicPr>
            <a:picLocks noChangeAspect="1"/>
          </p:cNvPicPr>
          <p:nvPr/>
        </p:nvPicPr>
        <p:blipFill>
          <a:blip r:embed="rId5"/>
          <a:stretch>
            <a:fillRect/>
          </a:stretch>
        </p:blipFill>
        <p:spPr>
          <a:xfrm>
            <a:off x="786384" y="4709160"/>
            <a:ext cx="6464808" cy="1225296"/>
          </a:xfrm>
          <a:prstGeom prst="rect">
            <a:avLst/>
          </a:prstGeom>
        </p:spPr>
      </p:pic>
      <p:pic>
        <p:nvPicPr>
          <p:cNvPr id="5" name="Image 3" descr="preencoded.png"/>
          <p:cNvPicPr>
            <a:picLocks noChangeAspect="1"/>
          </p:cNvPicPr>
          <p:nvPr/>
        </p:nvPicPr>
        <p:blipFill>
          <a:blip r:embed="rId5"/>
          <a:stretch>
            <a:fillRect/>
          </a:stretch>
        </p:blipFill>
        <p:spPr>
          <a:xfrm>
            <a:off x="786384" y="6071616"/>
            <a:ext cx="6464808" cy="1225296"/>
          </a:xfrm>
          <a:prstGeom prst="rect">
            <a:avLst/>
          </a:prstGeom>
        </p:spPr>
      </p:pic>
      <p:pic>
        <p:nvPicPr>
          <p:cNvPr id="6" name="Image 4" descr="preencoded.png"/>
          <p:cNvPicPr>
            <a:picLocks noChangeAspect="1"/>
          </p:cNvPicPr>
          <p:nvPr/>
        </p:nvPicPr>
        <p:blipFill>
          <a:blip r:embed="rId5"/>
          <a:stretch>
            <a:fillRect/>
          </a:stretch>
        </p:blipFill>
        <p:spPr>
          <a:xfrm>
            <a:off x="7397496" y="4709160"/>
            <a:ext cx="6464808" cy="1225296"/>
          </a:xfrm>
          <a:prstGeom prst="rect">
            <a:avLst/>
          </a:prstGeom>
        </p:spPr>
      </p:pic>
      <p:pic>
        <p:nvPicPr>
          <p:cNvPr id="7" name="Image 5" descr="preencoded.png"/>
          <p:cNvPicPr>
            <a:picLocks noChangeAspect="1"/>
          </p:cNvPicPr>
          <p:nvPr/>
        </p:nvPicPr>
        <p:blipFill>
          <a:blip r:embed="rId5"/>
          <a:stretch>
            <a:fillRect/>
          </a:stretch>
        </p:blipFill>
        <p:spPr>
          <a:xfrm>
            <a:off x="7397496" y="6071616"/>
            <a:ext cx="6464808" cy="1225296"/>
          </a:xfrm>
          <a:prstGeom prst="rect">
            <a:avLst/>
          </a:prstGeom>
        </p:spPr>
      </p:pic>
      <p:pic>
        <p:nvPicPr>
          <p:cNvPr id="8" name="Image 6" descr="preencoded.png"/>
          <p:cNvPicPr>
            <a:picLocks noChangeAspect="1"/>
          </p:cNvPicPr>
          <p:nvPr/>
        </p:nvPicPr>
        <p:blipFill>
          <a:blip r:embed="rId6"/>
          <a:stretch>
            <a:fillRect/>
          </a:stretch>
        </p:blipFill>
        <p:spPr>
          <a:xfrm>
            <a:off x="813816" y="5257800"/>
            <a:ext cx="6409944" cy="640080"/>
          </a:xfrm>
          <a:prstGeom prst="rect">
            <a:avLst/>
          </a:prstGeom>
        </p:spPr>
      </p:pic>
      <p:pic>
        <p:nvPicPr>
          <p:cNvPr id="9" name="Image 7" descr="preencoded.png"/>
          <p:cNvPicPr>
            <a:picLocks noChangeAspect="1"/>
          </p:cNvPicPr>
          <p:nvPr/>
        </p:nvPicPr>
        <p:blipFill>
          <a:blip r:embed="rId6"/>
          <a:stretch>
            <a:fillRect/>
          </a:stretch>
        </p:blipFill>
        <p:spPr>
          <a:xfrm>
            <a:off x="813816" y="6620256"/>
            <a:ext cx="6409944" cy="640080"/>
          </a:xfrm>
          <a:prstGeom prst="rect">
            <a:avLst/>
          </a:prstGeom>
        </p:spPr>
      </p:pic>
      <p:pic>
        <p:nvPicPr>
          <p:cNvPr id="10" name="Image 8" descr="preencoded.png"/>
          <p:cNvPicPr>
            <a:picLocks noChangeAspect="1"/>
          </p:cNvPicPr>
          <p:nvPr/>
        </p:nvPicPr>
        <p:blipFill>
          <a:blip r:embed="rId6"/>
          <a:stretch>
            <a:fillRect/>
          </a:stretch>
        </p:blipFill>
        <p:spPr>
          <a:xfrm>
            <a:off x="7424928" y="5257800"/>
            <a:ext cx="6409944" cy="640080"/>
          </a:xfrm>
          <a:prstGeom prst="rect">
            <a:avLst/>
          </a:prstGeom>
        </p:spPr>
      </p:pic>
      <p:pic>
        <p:nvPicPr>
          <p:cNvPr id="11" name="Image 9" descr="preencoded.png"/>
          <p:cNvPicPr>
            <a:picLocks noChangeAspect="1"/>
          </p:cNvPicPr>
          <p:nvPr/>
        </p:nvPicPr>
        <p:blipFill>
          <a:blip r:embed="rId6"/>
          <a:stretch>
            <a:fillRect/>
          </a:stretch>
        </p:blipFill>
        <p:spPr>
          <a:xfrm>
            <a:off x="7424928" y="6620256"/>
            <a:ext cx="6409944" cy="640080"/>
          </a:xfrm>
          <a:prstGeom prst="rect">
            <a:avLst/>
          </a:prstGeom>
        </p:spPr>
      </p:pic>
      <p:pic>
        <p:nvPicPr>
          <p:cNvPr id="12" name="Image 10" descr="preencoded.png"/>
          <p:cNvPicPr>
            <a:picLocks noChangeAspect="1"/>
          </p:cNvPicPr>
          <p:nvPr/>
        </p:nvPicPr>
        <p:blipFill>
          <a:blip r:embed="rId7"/>
          <a:stretch>
            <a:fillRect/>
          </a:stretch>
        </p:blipFill>
        <p:spPr>
          <a:xfrm>
            <a:off x="786384" y="4700016"/>
            <a:ext cx="6455664" cy="576072"/>
          </a:xfrm>
          <a:prstGeom prst="rect">
            <a:avLst/>
          </a:prstGeom>
        </p:spPr>
      </p:pic>
      <p:pic>
        <p:nvPicPr>
          <p:cNvPr id="13" name="Image 11" descr="preencoded.png"/>
          <p:cNvPicPr>
            <a:picLocks noChangeAspect="1"/>
          </p:cNvPicPr>
          <p:nvPr/>
        </p:nvPicPr>
        <p:blipFill>
          <a:blip r:embed="rId7"/>
          <a:stretch>
            <a:fillRect/>
          </a:stretch>
        </p:blipFill>
        <p:spPr>
          <a:xfrm>
            <a:off x="786384" y="6062472"/>
            <a:ext cx="6455664" cy="576072"/>
          </a:xfrm>
          <a:prstGeom prst="rect">
            <a:avLst/>
          </a:prstGeom>
        </p:spPr>
      </p:pic>
      <p:pic>
        <p:nvPicPr>
          <p:cNvPr id="14" name="Image 12" descr="preencoded.png"/>
          <p:cNvPicPr>
            <a:picLocks noChangeAspect="1"/>
          </p:cNvPicPr>
          <p:nvPr/>
        </p:nvPicPr>
        <p:blipFill>
          <a:blip r:embed="rId7"/>
          <a:stretch>
            <a:fillRect/>
          </a:stretch>
        </p:blipFill>
        <p:spPr>
          <a:xfrm>
            <a:off x="7397496" y="4700016"/>
            <a:ext cx="6455664" cy="576072"/>
          </a:xfrm>
          <a:prstGeom prst="rect">
            <a:avLst/>
          </a:prstGeom>
        </p:spPr>
      </p:pic>
      <p:pic>
        <p:nvPicPr>
          <p:cNvPr id="15" name="Image 13" descr="preencoded.png"/>
          <p:cNvPicPr>
            <a:picLocks noChangeAspect="1"/>
          </p:cNvPicPr>
          <p:nvPr/>
        </p:nvPicPr>
        <p:blipFill>
          <a:blip r:embed="rId7"/>
          <a:stretch>
            <a:fillRect/>
          </a:stretch>
        </p:blipFill>
        <p:spPr>
          <a:xfrm>
            <a:off x="7397496" y="6062472"/>
            <a:ext cx="6455664" cy="576072"/>
          </a:xfrm>
          <a:prstGeom prst="rect">
            <a:avLst/>
          </a:prstGeom>
        </p:spPr>
      </p:pic>
      <p:sp>
        <p:nvSpPr>
          <p:cNvPr id="16" name="Text 0"/>
          <p:cNvSpPr/>
          <p:nvPr/>
        </p:nvSpPr>
        <p:spPr>
          <a:xfrm>
            <a:off x="795528" y="3291840"/>
            <a:ext cx="13048488" cy="576072"/>
          </a:xfrm>
          <a:prstGeom prst="rect">
            <a:avLst/>
          </a:prstGeom>
          <a:noFill/>
          <a:ln/>
        </p:spPr>
        <p:txBody>
          <a:bodyPr wrap="none" lIns="0" tIns="0" rIns="0" bIns="0" rtlCol="0" anchor="ctr"/>
          <a:lstStyle/>
          <a:p>
            <a:pPr marL="0" indent="0" algn="l">
              <a:lnSpc>
                <a:spcPts val="4460"/>
              </a:lnSpc>
              <a:buNone/>
            </a:pPr>
            <a:r>
              <a:rPr lang="en-US" sz="3570" dirty="0">
                <a:solidFill>
                  <a:srgbClr val="77D8F2"/>
                </a:solidFill>
                <a:latin typeface="AlibabaPuHuiTi-Alibaba-PuHuiTi" pitchFamily="34" charset="0"/>
                <a:ea typeface="AlibabaPuHuiTi-Alibaba-PuHuiTi" pitchFamily="34" charset="-122"/>
                <a:cs typeface="AlibabaPuHuiTi-Alibaba-PuHuiTi" pitchFamily="34" charset="-120"/>
              </a:rPr>
              <a:t>6. AWS Lambda Architecture</a:t>
            </a:r>
            <a:endParaRPr lang="en-US" sz="3570" dirty="0"/>
          </a:p>
        </p:txBody>
      </p:sp>
      <p:sp>
        <p:nvSpPr>
          <p:cNvPr id="17" name="Text 1"/>
          <p:cNvSpPr/>
          <p:nvPr/>
        </p:nvSpPr>
        <p:spPr>
          <a:xfrm>
            <a:off x="795528" y="4059936"/>
            <a:ext cx="13048488" cy="457200"/>
          </a:xfrm>
          <a:prstGeom prst="rect">
            <a:avLst/>
          </a:prstGeom>
          <a:noFill/>
          <a:ln/>
        </p:spPr>
        <p:txBody>
          <a:bodyPr wrap="none" lIns="0" tIns="0" rIns="0" bIns="0" rtlCol="0" anchor="ctr"/>
          <a:lstStyle/>
          <a:p>
            <a:pPr marL="0" indent="0" algn="l">
              <a:lnSpc>
                <a:spcPts val="3570"/>
              </a:lnSpc>
              <a:buNone/>
            </a:pPr>
            <a:r>
              <a:rPr lang="en-US" sz="2850" dirty="0">
                <a:solidFill>
                  <a:srgbClr val="77D8F2"/>
                </a:solidFill>
                <a:latin typeface="AlibabaPuHuiTi-Alibaba-PuHuiTi" pitchFamily="34" charset="0"/>
                <a:ea typeface="AlibabaPuHuiTi-Alibaba-PuHuiTi" pitchFamily="34" charset="-122"/>
                <a:cs typeface="AlibabaPuHuiTi-Alibaba-PuHuiTi" pitchFamily="34" charset="-120"/>
              </a:rPr>
              <a:t>Architectural Overview</a:t>
            </a:r>
            <a:endParaRPr lang="en-US" sz="2850" dirty="0"/>
          </a:p>
        </p:txBody>
      </p:sp>
      <p:sp>
        <p:nvSpPr>
          <p:cNvPr id="18" name="Text 2"/>
          <p:cNvSpPr/>
          <p:nvPr/>
        </p:nvSpPr>
        <p:spPr>
          <a:xfrm>
            <a:off x="996696" y="5440680"/>
            <a:ext cx="6044184" cy="274320"/>
          </a:xfrm>
          <a:prstGeom prst="rect">
            <a:avLst/>
          </a:prstGeom>
          <a:noFill/>
          <a:ln/>
        </p:spPr>
        <p:txBody>
          <a:bodyPr wrap="none" lIns="0" tIns="0" rIns="0" bIns="0" rtlCol="0" anchor="ctr"/>
          <a:lstStyle/>
          <a:p>
            <a:pPr marL="0" indent="0" algn="l">
              <a:lnSpc>
                <a:spcPts val="1780"/>
              </a:lnSpc>
              <a:buNone/>
            </a:pPr>
            <a:r>
              <a:rPr lang="en-US" sz="1420" dirty="0">
                <a:solidFill>
                  <a:srgbClr val="DBDBDB"/>
                </a:solidFill>
                <a:latin typeface="思源黑体-思源黑体-Medium" pitchFamily="34" charset="0"/>
                <a:ea typeface="思源黑体-思源黑体-Medium" pitchFamily="34" charset="-122"/>
                <a:cs typeface="思源黑体-思源黑体-Medium" pitchFamily="34" charset="-120"/>
              </a:rPr>
              <a:t>The event source sends a trigger to Lambda.</a:t>
            </a:r>
            <a:endParaRPr lang="en-US" sz="1420" dirty="0"/>
          </a:p>
        </p:txBody>
      </p:sp>
      <p:sp>
        <p:nvSpPr>
          <p:cNvPr id="19" name="Text 3"/>
          <p:cNvSpPr/>
          <p:nvPr/>
        </p:nvSpPr>
        <p:spPr>
          <a:xfrm>
            <a:off x="3931920" y="4800600"/>
            <a:ext cx="164592" cy="374904"/>
          </a:xfrm>
          <a:prstGeom prst="rect">
            <a:avLst/>
          </a:prstGeom>
          <a:noFill/>
          <a:ln/>
        </p:spPr>
        <p:txBody>
          <a:bodyPr wrap="none" lIns="0" tIns="0" rIns="0" bIns="0" rtlCol="0" anchor="ctr"/>
          <a:lstStyle/>
          <a:p>
            <a:pPr marL="0" indent="0" algn="l">
              <a:lnSpc>
                <a:spcPts val="2570"/>
              </a:lnSpc>
              <a:buNone/>
            </a:pPr>
            <a:r>
              <a:rPr lang="en-US" sz="2140" dirty="0">
                <a:solidFill>
                  <a:srgbClr val="050505"/>
                </a:solidFill>
                <a:latin typeface="思源黑体-思源黑体-Medium" pitchFamily="34" charset="0"/>
                <a:ea typeface="思源黑体-思源黑体-Medium" pitchFamily="34" charset="-122"/>
                <a:cs typeface="思源黑体-思源黑体-Medium" pitchFamily="34" charset="-120"/>
              </a:rPr>
              <a:t>1</a:t>
            </a:r>
            <a:endParaRPr lang="en-US" sz="2140" dirty="0"/>
          </a:p>
        </p:txBody>
      </p:sp>
      <p:sp>
        <p:nvSpPr>
          <p:cNvPr id="20" name="Text 4"/>
          <p:cNvSpPr/>
          <p:nvPr/>
        </p:nvSpPr>
        <p:spPr>
          <a:xfrm>
            <a:off x="996696" y="6803136"/>
            <a:ext cx="6044184" cy="274320"/>
          </a:xfrm>
          <a:prstGeom prst="rect">
            <a:avLst/>
          </a:prstGeom>
          <a:noFill/>
          <a:ln/>
        </p:spPr>
        <p:txBody>
          <a:bodyPr wrap="none" lIns="0" tIns="0" rIns="0" bIns="0" rtlCol="0" anchor="ctr"/>
          <a:lstStyle/>
          <a:p>
            <a:pPr marL="0" indent="0" algn="l">
              <a:lnSpc>
                <a:spcPts val="1780"/>
              </a:lnSpc>
              <a:buNone/>
            </a:pPr>
            <a:r>
              <a:rPr lang="en-US" sz="1420" dirty="0">
                <a:solidFill>
                  <a:srgbClr val="DBDBDB"/>
                </a:solidFill>
                <a:latin typeface="思源黑体-思源黑体-Medium" pitchFamily="34" charset="0"/>
                <a:ea typeface="思源黑体-思源黑体-Medium" pitchFamily="34" charset="-122"/>
                <a:cs typeface="思源黑体-思源黑体-Medium" pitchFamily="34" charset="-120"/>
              </a:rPr>
              <a:t>The Lambda function executes your code.</a:t>
            </a:r>
            <a:endParaRPr lang="en-US" sz="1420" dirty="0"/>
          </a:p>
        </p:txBody>
      </p:sp>
      <p:sp>
        <p:nvSpPr>
          <p:cNvPr id="21" name="Text 5"/>
          <p:cNvSpPr/>
          <p:nvPr/>
        </p:nvSpPr>
        <p:spPr>
          <a:xfrm>
            <a:off x="3931920" y="6163056"/>
            <a:ext cx="164592" cy="374904"/>
          </a:xfrm>
          <a:prstGeom prst="rect">
            <a:avLst/>
          </a:prstGeom>
          <a:noFill/>
          <a:ln/>
        </p:spPr>
        <p:txBody>
          <a:bodyPr wrap="none" lIns="0" tIns="0" rIns="0" bIns="0" rtlCol="0" anchor="ctr"/>
          <a:lstStyle/>
          <a:p>
            <a:pPr marL="0" indent="0" algn="l">
              <a:lnSpc>
                <a:spcPts val="2570"/>
              </a:lnSpc>
              <a:buNone/>
            </a:pPr>
            <a:r>
              <a:rPr lang="en-US" sz="2140" dirty="0">
                <a:solidFill>
                  <a:srgbClr val="050505"/>
                </a:solidFill>
                <a:latin typeface="思源黑体-思源黑体-Medium" pitchFamily="34" charset="0"/>
                <a:ea typeface="思源黑体-思源黑体-Medium" pitchFamily="34" charset="-122"/>
                <a:cs typeface="思源黑体-思源黑体-Medium" pitchFamily="34" charset="-120"/>
              </a:rPr>
              <a:t>3</a:t>
            </a:r>
            <a:endParaRPr lang="en-US" sz="2140" dirty="0"/>
          </a:p>
        </p:txBody>
      </p:sp>
      <p:sp>
        <p:nvSpPr>
          <p:cNvPr id="22" name="Text 6"/>
          <p:cNvSpPr/>
          <p:nvPr/>
        </p:nvSpPr>
        <p:spPr>
          <a:xfrm>
            <a:off x="7607808" y="5440680"/>
            <a:ext cx="6044184" cy="274320"/>
          </a:xfrm>
          <a:prstGeom prst="rect">
            <a:avLst/>
          </a:prstGeom>
          <a:noFill/>
          <a:ln/>
        </p:spPr>
        <p:txBody>
          <a:bodyPr wrap="none" lIns="0" tIns="0" rIns="0" bIns="0" rtlCol="0" anchor="ctr"/>
          <a:lstStyle/>
          <a:p>
            <a:pPr marL="0" indent="0" algn="l">
              <a:lnSpc>
                <a:spcPts val="1780"/>
              </a:lnSpc>
              <a:buNone/>
            </a:pPr>
            <a:r>
              <a:rPr lang="en-US" sz="1420" dirty="0">
                <a:solidFill>
                  <a:srgbClr val="DBDBDB"/>
                </a:solidFill>
                <a:latin typeface="思源黑体-思源黑体-Medium" pitchFamily="34" charset="0"/>
                <a:ea typeface="思源黑体-思源黑体-Medium" pitchFamily="34" charset="-122"/>
                <a:cs typeface="思源黑体-思源黑体-Medium" pitchFamily="34" charset="-120"/>
              </a:rPr>
              <a:t>The Lambda service provisions the environment.</a:t>
            </a:r>
            <a:endParaRPr lang="en-US" sz="1420" dirty="0"/>
          </a:p>
        </p:txBody>
      </p:sp>
      <p:sp>
        <p:nvSpPr>
          <p:cNvPr id="23" name="Text 7"/>
          <p:cNvSpPr/>
          <p:nvPr/>
        </p:nvSpPr>
        <p:spPr>
          <a:xfrm>
            <a:off x="7607808" y="6803136"/>
            <a:ext cx="6044184" cy="274320"/>
          </a:xfrm>
          <a:prstGeom prst="rect">
            <a:avLst/>
          </a:prstGeom>
          <a:noFill/>
          <a:ln/>
        </p:spPr>
        <p:txBody>
          <a:bodyPr wrap="none" lIns="0" tIns="0" rIns="0" bIns="0" rtlCol="0" anchor="ctr"/>
          <a:lstStyle/>
          <a:p>
            <a:pPr marL="0" indent="0" algn="l">
              <a:lnSpc>
                <a:spcPts val="1780"/>
              </a:lnSpc>
              <a:buNone/>
            </a:pPr>
            <a:r>
              <a:rPr lang="en-US" sz="1420" dirty="0">
                <a:solidFill>
                  <a:srgbClr val="DBDBDB"/>
                </a:solidFill>
                <a:latin typeface="思源黑体-思源黑体-Medium" pitchFamily="34" charset="0"/>
                <a:ea typeface="思源黑体-思源黑体-Medium" pitchFamily="34" charset="-122"/>
                <a:cs typeface="思源黑体-思源黑体-Medium" pitchFamily="34" charset="-120"/>
              </a:rPr>
              <a:t>A response is sent back to the user or another service.</a:t>
            </a:r>
            <a:endParaRPr lang="en-US" sz="1420" dirty="0"/>
          </a:p>
        </p:txBody>
      </p:sp>
      <p:sp>
        <p:nvSpPr>
          <p:cNvPr id="24" name="Text 8"/>
          <p:cNvSpPr/>
          <p:nvPr/>
        </p:nvSpPr>
        <p:spPr>
          <a:xfrm>
            <a:off x="10552176" y="4800600"/>
            <a:ext cx="164592" cy="374904"/>
          </a:xfrm>
          <a:prstGeom prst="rect">
            <a:avLst/>
          </a:prstGeom>
          <a:noFill/>
          <a:ln/>
        </p:spPr>
        <p:txBody>
          <a:bodyPr wrap="none" lIns="0" tIns="0" rIns="0" bIns="0" rtlCol="0" anchor="ctr"/>
          <a:lstStyle/>
          <a:p>
            <a:pPr marL="0" indent="0" algn="l">
              <a:lnSpc>
                <a:spcPts val="2570"/>
              </a:lnSpc>
              <a:buNone/>
            </a:pPr>
            <a:r>
              <a:rPr lang="en-US" sz="2140" dirty="0">
                <a:solidFill>
                  <a:srgbClr val="050505"/>
                </a:solidFill>
                <a:latin typeface="思源黑体-思源黑体-Medium" pitchFamily="34" charset="0"/>
                <a:ea typeface="思源黑体-思源黑体-Medium" pitchFamily="34" charset="-122"/>
                <a:cs typeface="思源黑体-思源黑体-Medium" pitchFamily="34" charset="-120"/>
              </a:rPr>
              <a:t>2</a:t>
            </a:r>
            <a:endParaRPr lang="en-US" sz="2140" dirty="0"/>
          </a:p>
        </p:txBody>
      </p:sp>
      <p:sp>
        <p:nvSpPr>
          <p:cNvPr id="25" name="Text 9"/>
          <p:cNvSpPr/>
          <p:nvPr/>
        </p:nvSpPr>
        <p:spPr>
          <a:xfrm>
            <a:off x="10552176" y="6163056"/>
            <a:ext cx="164592" cy="374904"/>
          </a:xfrm>
          <a:prstGeom prst="rect">
            <a:avLst/>
          </a:prstGeom>
          <a:noFill/>
          <a:ln/>
        </p:spPr>
        <p:txBody>
          <a:bodyPr wrap="none" lIns="0" tIns="0" rIns="0" bIns="0" rtlCol="0" anchor="ctr"/>
          <a:lstStyle/>
          <a:p>
            <a:pPr marL="0" indent="0" algn="l">
              <a:lnSpc>
                <a:spcPts val="2570"/>
              </a:lnSpc>
              <a:buNone/>
            </a:pPr>
            <a:r>
              <a:rPr lang="en-US" sz="2140" dirty="0">
                <a:solidFill>
                  <a:srgbClr val="050505"/>
                </a:solidFill>
                <a:latin typeface="思源黑体-思源黑体-Medium" pitchFamily="34" charset="0"/>
                <a:ea typeface="思源黑体-思源黑体-Medium" pitchFamily="34" charset="-122"/>
                <a:cs typeface="思源黑体-思源黑体-Medium" pitchFamily="34" charset="-120"/>
              </a:rPr>
              <a:t>4</a:t>
            </a:r>
            <a:endParaRPr lang="en-US" sz="214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4630400" cy="8238744"/>
          </a:xfrm>
          <a:prstGeom prst="rect">
            <a:avLst/>
          </a:prstGeom>
        </p:spPr>
      </p:pic>
      <p:pic>
        <p:nvPicPr>
          <p:cNvPr id="3" name="Image 1" descr="preencoded.png"/>
          <p:cNvPicPr>
            <a:picLocks noChangeAspect="1"/>
          </p:cNvPicPr>
          <p:nvPr/>
        </p:nvPicPr>
        <p:blipFill>
          <a:blip r:embed="rId4"/>
          <a:stretch>
            <a:fillRect/>
          </a:stretch>
        </p:blipFill>
        <p:spPr>
          <a:xfrm>
            <a:off x="0" y="0"/>
            <a:ext cx="5852160" cy="8238744"/>
          </a:xfrm>
          <a:prstGeom prst="rect">
            <a:avLst/>
          </a:prstGeom>
        </p:spPr>
      </p:pic>
      <p:pic>
        <p:nvPicPr>
          <p:cNvPr id="4" name="Image 2" descr="preencoded.png"/>
          <p:cNvPicPr>
            <a:picLocks noChangeAspect="1"/>
          </p:cNvPicPr>
          <p:nvPr/>
        </p:nvPicPr>
        <p:blipFill>
          <a:blip r:embed="rId5"/>
          <a:stretch>
            <a:fillRect/>
          </a:stretch>
        </p:blipFill>
        <p:spPr>
          <a:xfrm>
            <a:off x="6620256" y="3108960"/>
            <a:ext cx="2313432" cy="2276856"/>
          </a:xfrm>
          <a:prstGeom prst="rect">
            <a:avLst/>
          </a:prstGeom>
        </p:spPr>
      </p:pic>
      <p:pic>
        <p:nvPicPr>
          <p:cNvPr id="5" name="Image 3" descr="preencoded.png"/>
          <p:cNvPicPr>
            <a:picLocks noChangeAspect="1"/>
          </p:cNvPicPr>
          <p:nvPr/>
        </p:nvPicPr>
        <p:blipFill>
          <a:blip r:embed="rId6"/>
          <a:stretch>
            <a:fillRect/>
          </a:stretch>
        </p:blipFill>
        <p:spPr>
          <a:xfrm>
            <a:off x="6620256" y="5550408"/>
            <a:ext cx="3547872" cy="1261872"/>
          </a:xfrm>
          <a:prstGeom prst="rect">
            <a:avLst/>
          </a:prstGeom>
        </p:spPr>
      </p:pic>
      <p:pic>
        <p:nvPicPr>
          <p:cNvPr id="6" name="Image 4" descr="preencoded.png"/>
          <p:cNvPicPr>
            <a:picLocks noChangeAspect="1"/>
          </p:cNvPicPr>
          <p:nvPr/>
        </p:nvPicPr>
        <p:blipFill>
          <a:blip r:embed="rId5"/>
          <a:stretch>
            <a:fillRect/>
          </a:stretch>
        </p:blipFill>
        <p:spPr>
          <a:xfrm>
            <a:off x="9089136" y="3108960"/>
            <a:ext cx="2313432" cy="2276856"/>
          </a:xfrm>
          <a:prstGeom prst="rect">
            <a:avLst/>
          </a:prstGeom>
        </p:spPr>
      </p:pic>
      <p:pic>
        <p:nvPicPr>
          <p:cNvPr id="7" name="Image 5" descr="preencoded.png"/>
          <p:cNvPicPr>
            <a:picLocks noChangeAspect="1"/>
          </p:cNvPicPr>
          <p:nvPr/>
        </p:nvPicPr>
        <p:blipFill>
          <a:blip r:embed="rId6"/>
          <a:stretch>
            <a:fillRect/>
          </a:stretch>
        </p:blipFill>
        <p:spPr>
          <a:xfrm>
            <a:off x="10332720" y="5550408"/>
            <a:ext cx="3547872" cy="1261872"/>
          </a:xfrm>
          <a:prstGeom prst="rect">
            <a:avLst/>
          </a:prstGeom>
        </p:spPr>
      </p:pic>
      <p:pic>
        <p:nvPicPr>
          <p:cNvPr id="8" name="Image 6" descr="preencoded.png"/>
          <p:cNvPicPr>
            <a:picLocks noChangeAspect="1"/>
          </p:cNvPicPr>
          <p:nvPr/>
        </p:nvPicPr>
        <p:blipFill>
          <a:blip r:embed="rId5"/>
          <a:stretch>
            <a:fillRect/>
          </a:stretch>
        </p:blipFill>
        <p:spPr>
          <a:xfrm>
            <a:off x="11567160" y="3108960"/>
            <a:ext cx="2313432" cy="2276856"/>
          </a:xfrm>
          <a:prstGeom prst="rect">
            <a:avLst/>
          </a:prstGeom>
        </p:spPr>
      </p:pic>
      <p:sp>
        <p:nvSpPr>
          <p:cNvPr id="9" name="Text 0"/>
          <p:cNvSpPr/>
          <p:nvPr/>
        </p:nvSpPr>
        <p:spPr>
          <a:xfrm>
            <a:off x="6647688" y="1472184"/>
            <a:ext cx="7196328" cy="1417320"/>
          </a:xfrm>
          <a:prstGeom prst="rect">
            <a:avLst/>
          </a:prstGeom>
          <a:noFill/>
          <a:ln/>
        </p:spPr>
        <p:txBody>
          <a:bodyPr wrap="square" lIns="0" tIns="0" rIns="0" bIns="0" rtlCol="0" anchor="ctr"/>
          <a:lstStyle/>
          <a:p>
            <a:pPr marL="0" indent="0" algn="l">
              <a:lnSpc>
                <a:spcPts val="5580"/>
              </a:lnSpc>
              <a:buNone/>
            </a:pPr>
            <a:r>
              <a:rPr lang="en-US" sz="4460" dirty="0">
                <a:solidFill>
                  <a:srgbClr val="77D8F2"/>
                </a:solidFill>
                <a:latin typeface="AlibabaPuHuiTi-Alibaba-PuHuiTi" pitchFamily="34" charset="0"/>
                <a:ea typeface="AlibabaPuHuiTi-Alibaba-PuHuiTi" pitchFamily="34" charset="-122"/>
                <a:cs typeface="AlibabaPuHuiTi-Alibaba-PuHuiTi" pitchFamily="34" charset="-120"/>
              </a:rPr>
              <a:t>7. Use Cases of AWS Lambda</a:t>
            </a:r>
            <a:endParaRPr lang="en-US" sz="4460" dirty="0"/>
          </a:p>
        </p:txBody>
      </p:sp>
      <p:sp>
        <p:nvSpPr>
          <p:cNvPr id="10" name="Text 1"/>
          <p:cNvSpPr/>
          <p:nvPr/>
        </p:nvSpPr>
        <p:spPr>
          <a:xfrm>
            <a:off x="6903720" y="3392424"/>
            <a:ext cx="1737360" cy="1362456"/>
          </a:xfrm>
          <a:prstGeom prst="rect">
            <a:avLst/>
          </a:prstGeom>
          <a:noFill/>
          <a:ln/>
        </p:spPr>
        <p:txBody>
          <a:bodyPr wrap="square" lIns="0" tIns="0" rIns="0" bIns="0" rtlCol="0" anchor="ctr"/>
          <a:lstStyle/>
          <a:p>
            <a:pPr marL="0" indent="0" algn="l">
              <a:lnSpc>
                <a:spcPts val="2230"/>
              </a:lnSpc>
              <a:buNone/>
            </a:pPr>
            <a:r>
              <a:rPr lang="en-US" sz="1780" dirty="0">
                <a:solidFill>
                  <a:srgbClr val="DBDBDB"/>
                </a:solidFill>
                <a:latin typeface="思源黑体-思源黑体-Medium" pitchFamily="34" charset="0"/>
                <a:ea typeface="思源黑体-思源黑体-Medium" pitchFamily="34" charset="-122"/>
                <a:cs typeface="思源黑体-思源黑体-Medium" pitchFamily="34" charset="-120"/>
              </a:rPr>
              <a:t>Running backend logic for web/mobile apps.</a:t>
            </a:r>
            <a:endParaRPr lang="en-US" sz="1780" dirty="0"/>
          </a:p>
        </p:txBody>
      </p:sp>
      <p:sp>
        <p:nvSpPr>
          <p:cNvPr id="11" name="Text 2"/>
          <p:cNvSpPr/>
          <p:nvPr/>
        </p:nvSpPr>
        <p:spPr>
          <a:xfrm>
            <a:off x="6903720" y="5833872"/>
            <a:ext cx="2971800" cy="685800"/>
          </a:xfrm>
          <a:prstGeom prst="rect">
            <a:avLst/>
          </a:prstGeom>
          <a:noFill/>
          <a:ln/>
        </p:spPr>
        <p:txBody>
          <a:bodyPr wrap="square" lIns="0" tIns="0" rIns="0" bIns="0" rtlCol="0" anchor="ctr"/>
          <a:lstStyle/>
          <a:p>
            <a:pPr marL="0" indent="0" algn="l">
              <a:lnSpc>
                <a:spcPts val="2230"/>
              </a:lnSpc>
              <a:buNone/>
            </a:pPr>
            <a:r>
              <a:rPr lang="en-US" sz="1780" dirty="0">
                <a:solidFill>
                  <a:srgbClr val="DBDBDB"/>
                </a:solidFill>
                <a:latin typeface="思源黑体-思源黑体-Medium" pitchFamily="34" charset="0"/>
                <a:ea typeface="思源黑体-思源黑体-Medium" pitchFamily="34" charset="-122"/>
                <a:cs typeface="思源黑体-思源黑体-Medium" pitchFamily="34" charset="-120"/>
              </a:rPr>
              <a:t>Executing scheduled tasks (e.g., nightly backups).</a:t>
            </a:r>
            <a:endParaRPr lang="en-US" sz="1780" dirty="0"/>
          </a:p>
        </p:txBody>
      </p:sp>
      <p:sp>
        <p:nvSpPr>
          <p:cNvPr id="12" name="Text 3"/>
          <p:cNvSpPr/>
          <p:nvPr/>
        </p:nvSpPr>
        <p:spPr>
          <a:xfrm>
            <a:off x="9381744" y="3392424"/>
            <a:ext cx="1737360" cy="1700784"/>
          </a:xfrm>
          <a:prstGeom prst="rect">
            <a:avLst/>
          </a:prstGeom>
          <a:noFill/>
          <a:ln/>
        </p:spPr>
        <p:txBody>
          <a:bodyPr wrap="square" lIns="0" tIns="0" rIns="0" bIns="0" rtlCol="0" anchor="ctr"/>
          <a:lstStyle/>
          <a:p>
            <a:pPr marL="0" indent="0" algn="l">
              <a:lnSpc>
                <a:spcPts val="2230"/>
              </a:lnSpc>
              <a:buNone/>
            </a:pPr>
            <a:r>
              <a:rPr lang="en-US" sz="1780" dirty="0">
                <a:solidFill>
                  <a:srgbClr val="DBDBDB"/>
                </a:solidFill>
                <a:latin typeface="思源黑体-思源黑体-Medium" pitchFamily="34" charset="0"/>
                <a:ea typeface="思源黑体-思源黑体-Medium" pitchFamily="34" charset="-122"/>
                <a:cs typeface="思源黑体-思源黑体-Medium" pitchFamily="34" charset="-120"/>
              </a:rPr>
              <a:t>Processing files uploaded to S3 (e.g., resizing images, validating data).</a:t>
            </a:r>
            <a:endParaRPr lang="en-US" sz="1780" dirty="0"/>
          </a:p>
        </p:txBody>
      </p:sp>
      <p:sp>
        <p:nvSpPr>
          <p:cNvPr id="13" name="Text 4"/>
          <p:cNvSpPr/>
          <p:nvPr/>
        </p:nvSpPr>
        <p:spPr>
          <a:xfrm>
            <a:off x="10616184" y="5833872"/>
            <a:ext cx="2971800" cy="685800"/>
          </a:xfrm>
          <a:prstGeom prst="rect">
            <a:avLst/>
          </a:prstGeom>
          <a:noFill/>
          <a:ln/>
        </p:spPr>
        <p:txBody>
          <a:bodyPr wrap="square" lIns="0" tIns="0" rIns="0" bIns="0" rtlCol="0" anchor="ctr"/>
          <a:lstStyle/>
          <a:p>
            <a:pPr marL="0" indent="0" algn="l">
              <a:lnSpc>
                <a:spcPts val="2230"/>
              </a:lnSpc>
              <a:buNone/>
            </a:pPr>
            <a:r>
              <a:rPr lang="en-US" sz="1780" dirty="0">
                <a:solidFill>
                  <a:srgbClr val="DBDBDB"/>
                </a:solidFill>
                <a:latin typeface="思源黑体-思源黑体-Medium" pitchFamily="34" charset="0"/>
                <a:ea typeface="思源黑体-思源黑体-Medium" pitchFamily="34" charset="-122"/>
                <a:cs typeface="思源黑体-思源黑体-Medium" pitchFamily="34" charset="-120"/>
              </a:rPr>
              <a:t>Automating chatbots and notifications.</a:t>
            </a:r>
            <a:endParaRPr lang="en-US" sz="1780" dirty="0"/>
          </a:p>
        </p:txBody>
      </p:sp>
      <p:sp>
        <p:nvSpPr>
          <p:cNvPr id="14" name="Text 5"/>
          <p:cNvSpPr/>
          <p:nvPr/>
        </p:nvSpPr>
        <p:spPr>
          <a:xfrm>
            <a:off x="11850624" y="3392424"/>
            <a:ext cx="1737360" cy="1024128"/>
          </a:xfrm>
          <a:prstGeom prst="rect">
            <a:avLst/>
          </a:prstGeom>
          <a:noFill/>
          <a:ln/>
        </p:spPr>
        <p:txBody>
          <a:bodyPr wrap="square" lIns="0" tIns="0" rIns="0" bIns="0" rtlCol="0" anchor="ctr"/>
          <a:lstStyle/>
          <a:p>
            <a:pPr marL="0" indent="0" algn="l">
              <a:lnSpc>
                <a:spcPts val="2230"/>
              </a:lnSpc>
              <a:buNone/>
            </a:pPr>
            <a:r>
              <a:rPr lang="en-US" sz="1780" dirty="0">
                <a:solidFill>
                  <a:srgbClr val="DBDBDB"/>
                </a:solidFill>
                <a:latin typeface="思源黑体-思源黑体-Medium" pitchFamily="34" charset="0"/>
                <a:ea typeface="思源黑体-思源黑体-Medium" pitchFamily="34" charset="-122"/>
                <a:cs typeface="思源黑体-思源黑体-Medium" pitchFamily="34" charset="-120"/>
              </a:rPr>
              <a:t>Performing ETL operations on data pipelines.</a:t>
            </a:r>
            <a:endParaRPr lang="en-US" sz="178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4630400" cy="8238744"/>
          </a:xfrm>
          <a:prstGeom prst="rect">
            <a:avLst/>
          </a:prstGeom>
        </p:spPr>
      </p:pic>
      <p:pic>
        <p:nvPicPr>
          <p:cNvPr id="3" name="Image 1" descr="preencoded.png"/>
          <p:cNvPicPr>
            <a:picLocks noChangeAspect="1"/>
          </p:cNvPicPr>
          <p:nvPr/>
        </p:nvPicPr>
        <p:blipFill>
          <a:blip r:embed="rId4"/>
          <a:stretch>
            <a:fillRect/>
          </a:stretch>
        </p:blipFill>
        <p:spPr>
          <a:xfrm>
            <a:off x="0" y="0"/>
            <a:ext cx="5852160" cy="8238744"/>
          </a:xfrm>
          <a:prstGeom prst="rect">
            <a:avLst/>
          </a:prstGeom>
        </p:spPr>
      </p:pic>
      <p:pic>
        <p:nvPicPr>
          <p:cNvPr id="4" name="Image 2" descr="preencoded.png"/>
          <p:cNvPicPr>
            <a:picLocks noChangeAspect="1"/>
          </p:cNvPicPr>
          <p:nvPr/>
        </p:nvPicPr>
        <p:blipFill>
          <a:blip r:embed="rId5"/>
          <a:stretch>
            <a:fillRect/>
          </a:stretch>
        </p:blipFill>
        <p:spPr>
          <a:xfrm>
            <a:off x="6647688" y="3108960"/>
            <a:ext cx="2258568" cy="1664208"/>
          </a:xfrm>
          <a:prstGeom prst="rect">
            <a:avLst/>
          </a:prstGeom>
        </p:spPr>
      </p:pic>
      <p:pic>
        <p:nvPicPr>
          <p:cNvPr id="5" name="Image 3" descr="preencoded.png"/>
          <p:cNvPicPr>
            <a:picLocks noChangeAspect="1"/>
          </p:cNvPicPr>
          <p:nvPr/>
        </p:nvPicPr>
        <p:blipFill>
          <a:blip r:embed="rId6"/>
          <a:stretch>
            <a:fillRect/>
          </a:stretch>
        </p:blipFill>
        <p:spPr>
          <a:xfrm>
            <a:off x="6647688" y="4983480"/>
            <a:ext cx="2258568" cy="2313432"/>
          </a:xfrm>
          <a:prstGeom prst="rect">
            <a:avLst/>
          </a:prstGeom>
        </p:spPr>
      </p:pic>
      <p:pic>
        <p:nvPicPr>
          <p:cNvPr id="6" name="Image 4" descr="preencoded.png"/>
          <p:cNvPicPr>
            <a:picLocks noChangeAspect="1"/>
          </p:cNvPicPr>
          <p:nvPr/>
        </p:nvPicPr>
        <p:blipFill>
          <a:blip r:embed="rId5"/>
          <a:stretch>
            <a:fillRect/>
          </a:stretch>
        </p:blipFill>
        <p:spPr>
          <a:xfrm>
            <a:off x="9116568" y="3108960"/>
            <a:ext cx="2258568" cy="1664208"/>
          </a:xfrm>
          <a:prstGeom prst="rect">
            <a:avLst/>
          </a:prstGeom>
        </p:spPr>
      </p:pic>
      <p:pic>
        <p:nvPicPr>
          <p:cNvPr id="7" name="Image 5" descr="preencoded.png"/>
          <p:cNvPicPr>
            <a:picLocks noChangeAspect="1"/>
          </p:cNvPicPr>
          <p:nvPr/>
        </p:nvPicPr>
        <p:blipFill>
          <a:blip r:embed="rId6"/>
          <a:stretch>
            <a:fillRect/>
          </a:stretch>
        </p:blipFill>
        <p:spPr>
          <a:xfrm>
            <a:off x="9116568" y="4983480"/>
            <a:ext cx="2258568" cy="2313432"/>
          </a:xfrm>
          <a:prstGeom prst="rect">
            <a:avLst/>
          </a:prstGeom>
        </p:spPr>
      </p:pic>
      <p:pic>
        <p:nvPicPr>
          <p:cNvPr id="8" name="Image 6" descr="preencoded.png"/>
          <p:cNvPicPr>
            <a:picLocks noChangeAspect="1"/>
          </p:cNvPicPr>
          <p:nvPr/>
        </p:nvPicPr>
        <p:blipFill>
          <a:blip r:embed="rId5"/>
          <a:stretch>
            <a:fillRect/>
          </a:stretch>
        </p:blipFill>
        <p:spPr>
          <a:xfrm>
            <a:off x="11585448" y="3108960"/>
            <a:ext cx="2258568" cy="1664208"/>
          </a:xfrm>
          <a:prstGeom prst="rect">
            <a:avLst/>
          </a:prstGeom>
        </p:spPr>
      </p:pic>
      <p:pic>
        <p:nvPicPr>
          <p:cNvPr id="9" name="Image 7" descr="preencoded.png"/>
          <p:cNvPicPr>
            <a:picLocks noChangeAspect="1"/>
          </p:cNvPicPr>
          <p:nvPr/>
        </p:nvPicPr>
        <p:blipFill>
          <a:blip r:embed="rId7"/>
          <a:stretch>
            <a:fillRect/>
          </a:stretch>
        </p:blipFill>
        <p:spPr>
          <a:xfrm>
            <a:off x="7351776" y="3182112"/>
            <a:ext cx="1554480" cy="1664208"/>
          </a:xfrm>
          <a:prstGeom prst="rect">
            <a:avLst/>
          </a:prstGeom>
        </p:spPr>
      </p:pic>
      <p:pic>
        <p:nvPicPr>
          <p:cNvPr id="10" name="Image 8" descr="preencoded.png"/>
          <p:cNvPicPr>
            <a:picLocks noChangeAspect="1"/>
          </p:cNvPicPr>
          <p:nvPr/>
        </p:nvPicPr>
        <p:blipFill>
          <a:blip r:embed="rId8"/>
          <a:stretch>
            <a:fillRect/>
          </a:stretch>
        </p:blipFill>
        <p:spPr>
          <a:xfrm>
            <a:off x="7351776" y="5056632"/>
            <a:ext cx="1554480" cy="2313432"/>
          </a:xfrm>
          <a:prstGeom prst="rect">
            <a:avLst/>
          </a:prstGeom>
        </p:spPr>
      </p:pic>
      <p:pic>
        <p:nvPicPr>
          <p:cNvPr id="11" name="Image 9" descr="preencoded.png"/>
          <p:cNvPicPr>
            <a:picLocks noChangeAspect="1"/>
          </p:cNvPicPr>
          <p:nvPr/>
        </p:nvPicPr>
        <p:blipFill>
          <a:blip r:embed="rId7"/>
          <a:stretch>
            <a:fillRect/>
          </a:stretch>
        </p:blipFill>
        <p:spPr>
          <a:xfrm>
            <a:off x="9820656" y="3182112"/>
            <a:ext cx="1554480" cy="1664208"/>
          </a:xfrm>
          <a:prstGeom prst="rect">
            <a:avLst/>
          </a:prstGeom>
        </p:spPr>
      </p:pic>
      <p:pic>
        <p:nvPicPr>
          <p:cNvPr id="12" name="Image 10" descr="preencoded.png"/>
          <p:cNvPicPr>
            <a:picLocks noChangeAspect="1"/>
          </p:cNvPicPr>
          <p:nvPr/>
        </p:nvPicPr>
        <p:blipFill>
          <a:blip r:embed="rId8"/>
          <a:stretch>
            <a:fillRect/>
          </a:stretch>
        </p:blipFill>
        <p:spPr>
          <a:xfrm>
            <a:off x="9820656" y="5056632"/>
            <a:ext cx="1554480" cy="2313432"/>
          </a:xfrm>
          <a:prstGeom prst="rect">
            <a:avLst/>
          </a:prstGeom>
        </p:spPr>
      </p:pic>
      <p:pic>
        <p:nvPicPr>
          <p:cNvPr id="13" name="Image 11" descr="preencoded.png"/>
          <p:cNvPicPr>
            <a:picLocks noChangeAspect="1"/>
          </p:cNvPicPr>
          <p:nvPr/>
        </p:nvPicPr>
        <p:blipFill>
          <a:blip r:embed="rId7"/>
          <a:stretch>
            <a:fillRect/>
          </a:stretch>
        </p:blipFill>
        <p:spPr>
          <a:xfrm>
            <a:off x="12289536" y="3182112"/>
            <a:ext cx="1554480" cy="1664208"/>
          </a:xfrm>
          <a:prstGeom prst="rect">
            <a:avLst/>
          </a:prstGeom>
        </p:spPr>
      </p:pic>
      <p:pic>
        <p:nvPicPr>
          <p:cNvPr id="14" name="Image 12" descr="preencoded.png"/>
          <p:cNvPicPr>
            <a:picLocks noChangeAspect="1"/>
          </p:cNvPicPr>
          <p:nvPr/>
        </p:nvPicPr>
        <p:blipFill>
          <a:blip r:embed="rId9"/>
          <a:stretch>
            <a:fillRect/>
          </a:stretch>
        </p:blipFill>
        <p:spPr>
          <a:xfrm>
            <a:off x="6638544" y="3090672"/>
            <a:ext cx="521208" cy="521208"/>
          </a:xfrm>
          <a:prstGeom prst="rect">
            <a:avLst/>
          </a:prstGeom>
        </p:spPr>
      </p:pic>
      <p:pic>
        <p:nvPicPr>
          <p:cNvPr id="15" name="Image 13" descr="preencoded.png"/>
          <p:cNvPicPr>
            <a:picLocks noChangeAspect="1"/>
          </p:cNvPicPr>
          <p:nvPr/>
        </p:nvPicPr>
        <p:blipFill>
          <a:blip r:embed="rId9"/>
          <a:stretch>
            <a:fillRect/>
          </a:stretch>
        </p:blipFill>
        <p:spPr>
          <a:xfrm>
            <a:off x="6638544" y="4965192"/>
            <a:ext cx="521208" cy="521208"/>
          </a:xfrm>
          <a:prstGeom prst="rect">
            <a:avLst/>
          </a:prstGeom>
        </p:spPr>
      </p:pic>
      <p:pic>
        <p:nvPicPr>
          <p:cNvPr id="16" name="Image 14" descr="preencoded.png"/>
          <p:cNvPicPr>
            <a:picLocks noChangeAspect="1"/>
          </p:cNvPicPr>
          <p:nvPr/>
        </p:nvPicPr>
        <p:blipFill>
          <a:blip r:embed="rId9"/>
          <a:stretch>
            <a:fillRect/>
          </a:stretch>
        </p:blipFill>
        <p:spPr>
          <a:xfrm>
            <a:off x="9107424" y="3090672"/>
            <a:ext cx="521208" cy="521208"/>
          </a:xfrm>
          <a:prstGeom prst="rect">
            <a:avLst/>
          </a:prstGeom>
        </p:spPr>
      </p:pic>
      <p:pic>
        <p:nvPicPr>
          <p:cNvPr id="17" name="Image 15" descr="preencoded.png"/>
          <p:cNvPicPr>
            <a:picLocks noChangeAspect="1"/>
          </p:cNvPicPr>
          <p:nvPr/>
        </p:nvPicPr>
        <p:blipFill>
          <a:blip r:embed="rId9"/>
          <a:stretch>
            <a:fillRect/>
          </a:stretch>
        </p:blipFill>
        <p:spPr>
          <a:xfrm>
            <a:off x="9107424" y="4965192"/>
            <a:ext cx="521208" cy="521208"/>
          </a:xfrm>
          <a:prstGeom prst="rect">
            <a:avLst/>
          </a:prstGeom>
        </p:spPr>
      </p:pic>
      <p:pic>
        <p:nvPicPr>
          <p:cNvPr id="18" name="Image 16" descr="preencoded.png"/>
          <p:cNvPicPr>
            <a:picLocks noChangeAspect="1"/>
          </p:cNvPicPr>
          <p:nvPr/>
        </p:nvPicPr>
        <p:blipFill>
          <a:blip r:embed="rId9"/>
          <a:stretch>
            <a:fillRect/>
          </a:stretch>
        </p:blipFill>
        <p:spPr>
          <a:xfrm>
            <a:off x="11576304" y="3090672"/>
            <a:ext cx="521208" cy="521208"/>
          </a:xfrm>
          <a:prstGeom prst="rect">
            <a:avLst/>
          </a:prstGeom>
        </p:spPr>
      </p:pic>
      <p:sp>
        <p:nvSpPr>
          <p:cNvPr id="19" name="Text 0"/>
          <p:cNvSpPr/>
          <p:nvPr/>
        </p:nvSpPr>
        <p:spPr>
          <a:xfrm>
            <a:off x="6647688" y="950976"/>
            <a:ext cx="7196328" cy="1353312"/>
          </a:xfrm>
          <a:prstGeom prst="rect">
            <a:avLst/>
          </a:prstGeom>
          <a:noFill/>
          <a:ln/>
        </p:spPr>
        <p:txBody>
          <a:bodyPr wrap="square" lIns="0" tIns="0" rIns="0" bIns="0" rtlCol="0" anchor="ctr"/>
          <a:lstStyle/>
          <a:p>
            <a:pPr marL="0" indent="0" algn="l">
              <a:lnSpc>
                <a:spcPts val="5300"/>
              </a:lnSpc>
              <a:buNone/>
            </a:pPr>
            <a:r>
              <a:rPr lang="en-US" sz="4240" dirty="0">
                <a:solidFill>
                  <a:srgbClr val="77D8F2"/>
                </a:solidFill>
                <a:latin typeface="AlibabaPuHuiTi-Alibaba-PuHuiTi" pitchFamily="34" charset="0"/>
                <a:ea typeface="AlibabaPuHuiTi-Alibaba-PuHuiTi" pitchFamily="34" charset="-122"/>
                <a:cs typeface="AlibabaPuHuiTi-Alibaba-PuHuiTi" pitchFamily="34" charset="-120"/>
              </a:rPr>
              <a:t>8. AWS Lambda with Other AWS Services</a:t>
            </a:r>
            <a:endParaRPr lang="en-US" sz="4240" dirty="0"/>
          </a:p>
        </p:txBody>
      </p:sp>
      <p:sp>
        <p:nvSpPr>
          <p:cNvPr id="20" name="Text 1"/>
          <p:cNvSpPr/>
          <p:nvPr/>
        </p:nvSpPr>
        <p:spPr>
          <a:xfrm>
            <a:off x="6647688" y="2542032"/>
            <a:ext cx="7196328" cy="329184"/>
          </a:xfrm>
          <a:prstGeom prst="rect">
            <a:avLst/>
          </a:prstGeom>
          <a:noFill/>
          <a:ln/>
        </p:spPr>
        <p:txBody>
          <a:bodyPr wrap="none" lIns="0" tIns="0" rIns="0" bIns="0" rtlCol="0" anchor="ctr"/>
          <a:lstStyle/>
          <a:p>
            <a:pPr marL="0" indent="0" algn="l">
              <a:lnSpc>
                <a:spcPts val="2120"/>
              </a:lnSpc>
              <a:buNone/>
            </a:pPr>
            <a:r>
              <a:rPr lang="en-US" sz="1690" dirty="0">
                <a:solidFill>
                  <a:srgbClr val="DBDBDB"/>
                </a:solidFill>
                <a:latin typeface="思源黑体-思源黑体-Medium" pitchFamily="34" charset="0"/>
                <a:ea typeface="思源黑体-思源黑体-Medium" pitchFamily="34" charset="-122"/>
                <a:cs typeface="思源黑体-思源黑体-Medium" pitchFamily="34" charset="-120"/>
              </a:rPr>
              <a:t>AWS Lambda is often used with:</a:t>
            </a:r>
            <a:endParaRPr lang="en-US" sz="1690" dirty="0"/>
          </a:p>
        </p:txBody>
      </p:sp>
      <p:sp>
        <p:nvSpPr>
          <p:cNvPr id="21" name="Text 2"/>
          <p:cNvSpPr/>
          <p:nvPr/>
        </p:nvSpPr>
        <p:spPr>
          <a:xfrm>
            <a:off x="6803136" y="3127248"/>
            <a:ext cx="192024" cy="448056"/>
          </a:xfrm>
          <a:prstGeom prst="rect">
            <a:avLst/>
          </a:prstGeom>
          <a:noFill/>
          <a:ln/>
        </p:spPr>
        <p:txBody>
          <a:bodyPr wrap="none" lIns="0" tIns="0" rIns="0" bIns="0" rtlCol="0" anchor="ctr"/>
          <a:lstStyle/>
          <a:p>
            <a:pPr marL="0" indent="0" algn="l">
              <a:lnSpc>
                <a:spcPts val="3050"/>
              </a:lnSpc>
              <a:buNone/>
            </a:pPr>
            <a:r>
              <a:rPr lang="en-US" sz="2540" dirty="0">
                <a:solidFill>
                  <a:srgbClr val="050505"/>
                </a:solidFill>
                <a:latin typeface="思源黑体-思源黑体-Medium" pitchFamily="34" charset="0"/>
                <a:ea typeface="思源黑体-思源黑体-Medium" pitchFamily="34" charset="-122"/>
                <a:cs typeface="思源黑体-思源黑体-Medium" pitchFamily="34" charset="-120"/>
              </a:rPr>
              <a:t>1</a:t>
            </a:r>
            <a:endParaRPr lang="en-US" sz="2540" dirty="0"/>
          </a:p>
        </p:txBody>
      </p:sp>
      <p:sp>
        <p:nvSpPr>
          <p:cNvPr id="22" name="Text 3"/>
          <p:cNvSpPr/>
          <p:nvPr/>
        </p:nvSpPr>
        <p:spPr>
          <a:xfrm>
            <a:off x="7351776" y="3182112"/>
            <a:ext cx="1554480" cy="676656"/>
          </a:xfrm>
          <a:prstGeom prst="rect">
            <a:avLst/>
          </a:prstGeom>
          <a:noFill/>
          <a:ln/>
        </p:spPr>
        <p:txBody>
          <a:bodyPr wrap="square" lIns="0" tIns="0" rIns="0" bIns="0" rtlCol="0" anchor="ctr"/>
          <a:lstStyle/>
          <a:p>
            <a:pPr marL="0" indent="0" algn="l">
              <a:lnSpc>
                <a:spcPts val="2650"/>
              </a:lnSpc>
              <a:buNone/>
            </a:pPr>
            <a:r>
              <a:rPr lang="en-US" sz="2120" dirty="0">
                <a:solidFill>
                  <a:srgbClr val="DBDBDB"/>
                </a:solidFill>
                <a:latin typeface="AlibabaPuHuiTi-Alibaba-PuHuiTi" pitchFamily="34" charset="0"/>
                <a:ea typeface="AlibabaPuHuiTi-Alibaba-PuHuiTi" pitchFamily="34" charset="-122"/>
                <a:cs typeface="AlibabaPuHuiTi-Alibaba-PuHuiTi" pitchFamily="34" charset="-120"/>
              </a:rPr>
              <a:t>API Gateway</a:t>
            </a:r>
            <a:endParaRPr lang="en-US" sz="2120" dirty="0"/>
          </a:p>
        </p:txBody>
      </p:sp>
      <p:sp>
        <p:nvSpPr>
          <p:cNvPr id="23" name="Text 4"/>
          <p:cNvSpPr/>
          <p:nvPr/>
        </p:nvSpPr>
        <p:spPr>
          <a:xfrm>
            <a:off x="7351776" y="4050792"/>
            <a:ext cx="1554480" cy="649224"/>
          </a:xfrm>
          <a:prstGeom prst="rect">
            <a:avLst/>
          </a:prstGeom>
          <a:noFill/>
          <a:ln/>
        </p:spPr>
        <p:txBody>
          <a:bodyPr wrap="square" lIns="0" tIns="0" rIns="0" bIns="0" rtlCol="0" anchor="ctr"/>
          <a:lstStyle/>
          <a:p>
            <a:pPr marL="0" indent="0" algn="l">
              <a:lnSpc>
                <a:spcPts val="2120"/>
              </a:lnSpc>
              <a:buNone/>
            </a:pPr>
            <a:r>
              <a:rPr lang="en-US" sz="1690" dirty="0">
                <a:solidFill>
                  <a:srgbClr val="DBDBDB"/>
                </a:solidFill>
                <a:latin typeface="思源黑体-思源黑体-Medium" pitchFamily="34" charset="0"/>
                <a:ea typeface="思源黑体-思源黑体-Medium" pitchFamily="34" charset="-122"/>
                <a:cs typeface="思源黑体-思源黑体-Medium" pitchFamily="34" charset="-120"/>
              </a:rPr>
              <a:t> To expose APIs.</a:t>
            </a:r>
            <a:endParaRPr lang="en-US" sz="1690" dirty="0"/>
          </a:p>
        </p:txBody>
      </p:sp>
      <p:sp>
        <p:nvSpPr>
          <p:cNvPr id="24" name="Text 5"/>
          <p:cNvSpPr/>
          <p:nvPr/>
        </p:nvSpPr>
        <p:spPr>
          <a:xfrm>
            <a:off x="6803136" y="5001768"/>
            <a:ext cx="192024" cy="448056"/>
          </a:xfrm>
          <a:prstGeom prst="rect">
            <a:avLst/>
          </a:prstGeom>
          <a:noFill/>
          <a:ln/>
        </p:spPr>
        <p:txBody>
          <a:bodyPr wrap="none" lIns="0" tIns="0" rIns="0" bIns="0" rtlCol="0" anchor="ctr"/>
          <a:lstStyle/>
          <a:p>
            <a:pPr marL="0" indent="0" algn="l">
              <a:lnSpc>
                <a:spcPts val="3050"/>
              </a:lnSpc>
              <a:buNone/>
            </a:pPr>
            <a:r>
              <a:rPr lang="en-US" sz="2540" dirty="0">
                <a:solidFill>
                  <a:srgbClr val="050505"/>
                </a:solidFill>
                <a:latin typeface="思源黑体-思源黑体-Medium" pitchFamily="34" charset="0"/>
                <a:ea typeface="思源黑体-思源黑体-Medium" pitchFamily="34" charset="-122"/>
                <a:cs typeface="思源黑体-思源黑体-Medium" pitchFamily="34" charset="-120"/>
              </a:rPr>
              <a:t>4</a:t>
            </a:r>
            <a:endParaRPr lang="en-US" sz="2540" dirty="0"/>
          </a:p>
        </p:txBody>
      </p:sp>
      <p:sp>
        <p:nvSpPr>
          <p:cNvPr id="25" name="Text 6"/>
          <p:cNvSpPr/>
          <p:nvPr/>
        </p:nvSpPr>
        <p:spPr>
          <a:xfrm>
            <a:off x="7351776" y="5056632"/>
            <a:ext cx="1554480" cy="338328"/>
          </a:xfrm>
          <a:prstGeom prst="rect">
            <a:avLst/>
          </a:prstGeom>
          <a:noFill/>
          <a:ln/>
        </p:spPr>
        <p:txBody>
          <a:bodyPr wrap="none" lIns="0" tIns="0" rIns="0" bIns="0" rtlCol="0" anchor="ctr"/>
          <a:lstStyle/>
          <a:p>
            <a:pPr marL="0" indent="0" algn="l">
              <a:lnSpc>
                <a:spcPts val="2650"/>
              </a:lnSpc>
              <a:buNone/>
            </a:pPr>
            <a:r>
              <a:rPr lang="en-US" sz="2120" dirty="0">
                <a:solidFill>
                  <a:srgbClr val="DBDBDB"/>
                </a:solidFill>
                <a:latin typeface="AlibabaPuHuiTi-Alibaba-PuHuiTi" pitchFamily="34" charset="0"/>
                <a:ea typeface="AlibabaPuHuiTi-Alibaba-PuHuiTi" pitchFamily="34" charset="-122"/>
                <a:cs typeface="AlibabaPuHuiTi-Alibaba-PuHuiTi" pitchFamily="34" charset="-120"/>
              </a:rPr>
              <a:t>CloudWatch</a:t>
            </a:r>
            <a:endParaRPr lang="en-US" sz="2120" dirty="0"/>
          </a:p>
        </p:txBody>
      </p:sp>
      <p:sp>
        <p:nvSpPr>
          <p:cNvPr id="26" name="Text 7"/>
          <p:cNvSpPr/>
          <p:nvPr/>
        </p:nvSpPr>
        <p:spPr>
          <a:xfrm>
            <a:off x="7351776" y="5586984"/>
            <a:ext cx="1554480" cy="978408"/>
          </a:xfrm>
          <a:prstGeom prst="rect">
            <a:avLst/>
          </a:prstGeom>
          <a:noFill/>
          <a:ln/>
        </p:spPr>
        <p:txBody>
          <a:bodyPr wrap="square" lIns="0" tIns="0" rIns="0" bIns="0" rtlCol="0" anchor="ctr"/>
          <a:lstStyle/>
          <a:p>
            <a:pPr marL="0" indent="0" algn="l">
              <a:lnSpc>
                <a:spcPts val="2120"/>
              </a:lnSpc>
              <a:buNone/>
            </a:pPr>
            <a:r>
              <a:rPr lang="en-US" sz="1690" dirty="0">
                <a:solidFill>
                  <a:srgbClr val="DBDBDB"/>
                </a:solidFill>
                <a:latin typeface="思源黑体-思源黑体-Medium" pitchFamily="34" charset="0"/>
                <a:ea typeface="思源黑体-思源黑体-Medium" pitchFamily="34" charset="-122"/>
                <a:cs typeface="思源黑体-思源黑体-Medium" pitchFamily="34" charset="-120"/>
              </a:rPr>
              <a:t> For logging and scheduling.</a:t>
            </a:r>
            <a:endParaRPr lang="en-US" sz="1690" dirty="0"/>
          </a:p>
        </p:txBody>
      </p:sp>
      <p:sp>
        <p:nvSpPr>
          <p:cNvPr id="27" name="Text 8"/>
          <p:cNvSpPr/>
          <p:nvPr/>
        </p:nvSpPr>
        <p:spPr>
          <a:xfrm>
            <a:off x="9272016" y="3127248"/>
            <a:ext cx="192024" cy="448056"/>
          </a:xfrm>
          <a:prstGeom prst="rect">
            <a:avLst/>
          </a:prstGeom>
          <a:noFill/>
          <a:ln/>
        </p:spPr>
        <p:txBody>
          <a:bodyPr wrap="none" lIns="0" tIns="0" rIns="0" bIns="0" rtlCol="0" anchor="ctr"/>
          <a:lstStyle/>
          <a:p>
            <a:pPr marL="0" indent="0" algn="l">
              <a:lnSpc>
                <a:spcPts val="3050"/>
              </a:lnSpc>
              <a:buNone/>
            </a:pPr>
            <a:r>
              <a:rPr lang="en-US" sz="2540" dirty="0">
                <a:solidFill>
                  <a:srgbClr val="050505"/>
                </a:solidFill>
                <a:latin typeface="思源黑体-思源黑体-Medium" pitchFamily="34" charset="0"/>
                <a:ea typeface="思源黑体-思源黑体-Medium" pitchFamily="34" charset="-122"/>
                <a:cs typeface="思源黑体-思源黑体-Medium" pitchFamily="34" charset="-120"/>
              </a:rPr>
              <a:t>2</a:t>
            </a:r>
            <a:endParaRPr lang="en-US" sz="2540" dirty="0"/>
          </a:p>
        </p:txBody>
      </p:sp>
      <p:sp>
        <p:nvSpPr>
          <p:cNvPr id="28" name="Text 9"/>
          <p:cNvSpPr/>
          <p:nvPr/>
        </p:nvSpPr>
        <p:spPr>
          <a:xfrm>
            <a:off x="9820656" y="3182112"/>
            <a:ext cx="1554480" cy="338328"/>
          </a:xfrm>
          <a:prstGeom prst="rect">
            <a:avLst/>
          </a:prstGeom>
          <a:noFill/>
          <a:ln/>
        </p:spPr>
        <p:txBody>
          <a:bodyPr wrap="none" lIns="0" tIns="0" rIns="0" bIns="0" rtlCol="0" anchor="ctr"/>
          <a:lstStyle/>
          <a:p>
            <a:pPr marL="0" indent="0" algn="l">
              <a:lnSpc>
                <a:spcPts val="2650"/>
              </a:lnSpc>
              <a:buNone/>
            </a:pPr>
            <a:r>
              <a:rPr lang="en-US" sz="2120" dirty="0">
                <a:solidFill>
                  <a:srgbClr val="DBDBDB"/>
                </a:solidFill>
                <a:latin typeface="AlibabaPuHuiTi-Alibaba-PuHuiTi" pitchFamily="34" charset="0"/>
                <a:ea typeface="AlibabaPuHuiTi-Alibaba-PuHuiTi" pitchFamily="34" charset="-122"/>
                <a:cs typeface="AlibabaPuHuiTi-Alibaba-PuHuiTi" pitchFamily="34" charset="-120"/>
              </a:rPr>
              <a:t>S3</a:t>
            </a:r>
            <a:endParaRPr lang="en-US" sz="2120" dirty="0"/>
          </a:p>
        </p:txBody>
      </p:sp>
      <p:sp>
        <p:nvSpPr>
          <p:cNvPr id="29" name="Text 10"/>
          <p:cNvSpPr/>
          <p:nvPr/>
        </p:nvSpPr>
        <p:spPr>
          <a:xfrm>
            <a:off x="9820656" y="3712464"/>
            <a:ext cx="1554480" cy="978408"/>
          </a:xfrm>
          <a:prstGeom prst="rect">
            <a:avLst/>
          </a:prstGeom>
          <a:noFill/>
          <a:ln/>
        </p:spPr>
        <p:txBody>
          <a:bodyPr wrap="square" lIns="0" tIns="0" rIns="0" bIns="0" rtlCol="0" anchor="ctr"/>
          <a:lstStyle/>
          <a:p>
            <a:pPr marL="0" indent="0" algn="l">
              <a:lnSpc>
                <a:spcPts val="2120"/>
              </a:lnSpc>
              <a:buNone/>
            </a:pPr>
            <a:r>
              <a:rPr lang="en-US" sz="1690" dirty="0">
                <a:solidFill>
                  <a:srgbClr val="DBDBDB"/>
                </a:solidFill>
                <a:latin typeface="思源黑体-思源黑体-Medium" pitchFamily="34" charset="0"/>
                <a:ea typeface="思源黑体-思源黑体-Medium" pitchFamily="34" charset="-122"/>
                <a:cs typeface="思源黑体-思源黑体-Medium" pitchFamily="34" charset="-120"/>
              </a:rPr>
              <a:t> To trigger code upon file uploads.</a:t>
            </a:r>
            <a:endParaRPr lang="en-US" sz="1690" dirty="0"/>
          </a:p>
        </p:txBody>
      </p:sp>
      <p:sp>
        <p:nvSpPr>
          <p:cNvPr id="30" name="Text 11"/>
          <p:cNvSpPr/>
          <p:nvPr/>
        </p:nvSpPr>
        <p:spPr>
          <a:xfrm>
            <a:off x="9272016" y="5001768"/>
            <a:ext cx="192024" cy="448056"/>
          </a:xfrm>
          <a:prstGeom prst="rect">
            <a:avLst/>
          </a:prstGeom>
          <a:noFill/>
          <a:ln/>
        </p:spPr>
        <p:txBody>
          <a:bodyPr wrap="none" lIns="0" tIns="0" rIns="0" bIns="0" rtlCol="0" anchor="ctr"/>
          <a:lstStyle/>
          <a:p>
            <a:pPr marL="0" indent="0" algn="l">
              <a:lnSpc>
                <a:spcPts val="3050"/>
              </a:lnSpc>
              <a:buNone/>
            </a:pPr>
            <a:r>
              <a:rPr lang="en-US" sz="2540" dirty="0">
                <a:solidFill>
                  <a:srgbClr val="050505"/>
                </a:solidFill>
                <a:latin typeface="思源黑体-思源黑体-Medium" pitchFamily="34" charset="0"/>
                <a:ea typeface="思源黑体-思源黑体-Medium" pitchFamily="34" charset="-122"/>
                <a:cs typeface="思源黑体-思源黑体-Medium" pitchFamily="34" charset="-120"/>
              </a:rPr>
              <a:t>5</a:t>
            </a:r>
            <a:endParaRPr lang="en-US" sz="2540" dirty="0"/>
          </a:p>
        </p:txBody>
      </p:sp>
      <p:sp>
        <p:nvSpPr>
          <p:cNvPr id="31" name="Text 12"/>
          <p:cNvSpPr/>
          <p:nvPr/>
        </p:nvSpPr>
        <p:spPr>
          <a:xfrm>
            <a:off x="9820656" y="5056632"/>
            <a:ext cx="1554480" cy="676656"/>
          </a:xfrm>
          <a:prstGeom prst="rect">
            <a:avLst/>
          </a:prstGeom>
          <a:noFill/>
          <a:ln/>
        </p:spPr>
        <p:txBody>
          <a:bodyPr wrap="square" lIns="0" tIns="0" rIns="0" bIns="0" rtlCol="0" anchor="ctr"/>
          <a:lstStyle/>
          <a:p>
            <a:pPr marL="0" indent="0" algn="l">
              <a:lnSpc>
                <a:spcPts val="2650"/>
              </a:lnSpc>
              <a:buNone/>
            </a:pPr>
            <a:r>
              <a:rPr lang="en-US" sz="2120" dirty="0">
                <a:solidFill>
                  <a:srgbClr val="DBDBDB"/>
                </a:solidFill>
                <a:latin typeface="AlibabaPuHuiTi-Alibaba-PuHuiTi" pitchFamily="34" charset="0"/>
                <a:ea typeface="AlibabaPuHuiTi-Alibaba-PuHuiTi" pitchFamily="34" charset="-122"/>
                <a:cs typeface="AlibabaPuHuiTi-Alibaba-PuHuiTi" pitchFamily="34" charset="-120"/>
              </a:rPr>
              <a:t>Step Functions</a:t>
            </a:r>
            <a:endParaRPr lang="en-US" sz="2120" dirty="0"/>
          </a:p>
        </p:txBody>
      </p:sp>
      <p:sp>
        <p:nvSpPr>
          <p:cNvPr id="32" name="Text 13"/>
          <p:cNvSpPr/>
          <p:nvPr/>
        </p:nvSpPr>
        <p:spPr>
          <a:xfrm>
            <a:off x="9820656" y="5925312"/>
            <a:ext cx="1554480" cy="1298448"/>
          </a:xfrm>
          <a:prstGeom prst="rect">
            <a:avLst/>
          </a:prstGeom>
          <a:noFill/>
          <a:ln/>
        </p:spPr>
        <p:txBody>
          <a:bodyPr wrap="square" lIns="0" tIns="0" rIns="0" bIns="0" rtlCol="0" anchor="ctr"/>
          <a:lstStyle/>
          <a:p>
            <a:pPr marL="0" indent="0" algn="l">
              <a:lnSpc>
                <a:spcPts val="2120"/>
              </a:lnSpc>
              <a:buNone/>
            </a:pPr>
            <a:r>
              <a:rPr lang="en-US" sz="1690" dirty="0">
                <a:solidFill>
                  <a:srgbClr val="DBDBDB"/>
                </a:solidFill>
                <a:latin typeface="思源黑体-思源黑体-Medium" pitchFamily="34" charset="0"/>
                <a:ea typeface="思源黑体-思源黑体-Medium" pitchFamily="34" charset="-122"/>
                <a:cs typeface="思源黑体-思源黑体-Medium" pitchFamily="34" charset="-120"/>
              </a:rPr>
              <a:t> To chain multiple Lambda workflows.</a:t>
            </a:r>
            <a:endParaRPr lang="en-US" sz="1690" dirty="0"/>
          </a:p>
        </p:txBody>
      </p:sp>
      <p:sp>
        <p:nvSpPr>
          <p:cNvPr id="33" name="Text 14"/>
          <p:cNvSpPr/>
          <p:nvPr/>
        </p:nvSpPr>
        <p:spPr>
          <a:xfrm>
            <a:off x="11740896" y="3127248"/>
            <a:ext cx="192024" cy="448056"/>
          </a:xfrm>
          <a:prstGeom prst="rect">
            <a:avLst/>
          </a:prstGeom>
          <a:noFill/>
          <a:ln/>
        </p:spPr>
        <p:txBody>
          <a:bodyPr wrap="none" lIns="0" tIns="0" rIns="0" bIns="0" rtlCol="0" anchor="ctr"/>
          <a:lstStyle/>
          <a:p>
            <a:pPr marL="0" indent="0" algn="l">
              <a:lnSpc>
                <a:spcPts val="3050"/>
              </a:lnSpc>
              <a:buNone/>
            </a:pPr>
            <a:r>
              <a:rPr lang="en-US" sz="2540" dirty="0">
                <a:solidFill>
                  <a:srgbClr val="050505"/>
                </a:solidFill>
                <a:latin typeface="思源黑体-思源黑体-Medium" pitchFamily="34" charset="0"/>
                <a:ea typeface="思源黑体-思源黑体-Medium" pitchFamily="34" charset="-122"/>
                <a:cs typeface="思源黑体-思源黑体-Medium" pitchFamily="34" charset="-120"/>
              </a:rPr>
              <a:t>3</a:t>
            </a:r>
            <a:endParaRPr lang="en-US" sz="2540" dirty="0"/>
          </a:p>
        </p:txBody>
      </p:sp>
      <p:sp>
        <p:nvSpPr>
          <p:cNvPr id="34" name="Text 15"/>
          <p:cNvSpPr/>
          <p:nvPr/>
        </p:nvSpPr>
        <p:spPr>
          <a:xfrm>
            <a:off x="12289536" y="3182112"/>
            <a:ext cx="1554480" cy="338328"/>
          </a:xfrm>
          <a:prstGeom prst="rect">
            <a:avLst/>
          </a:prstGeom>
          <a:noFill/>
          <a:ln/>
        </p:spPr>
        <p:txBody>
          <a:bodyPr wrap="none" lIns="0" tIns="0" rIns="0" bIns="0" rtlCol="0" anchor="ctr"/>
          <a:lstStyle/>
          <a:p>
            <a:pPr marL="0" indent="0" algn="l">
              <a:lnSpc>
                <a:spcPts val="2650"/>
              </a:lnSpc>
              <a:buNone/>
            </a:pPr>
            <a:r>
              <a:rPr lang="en-US" sz="2120" dirty="0">
                <a:solidFill>
                  <a:srgbClr val="DBDBDB"/>
                </a:solidFill>
                <a:latin typeface="AlibabaPuHuiTi-Alibaba-PuHuiTi" pitchFamily="34" charset="0"/>
                <a:ea typeface="AlibabaPuHuiTi-Alibaba-PuHuiTi" pitchFamily="34" charset="-122"/>
                <a:cs typeface="AlibabaPuHuiTi-Alibaba-PuHuiTi" pitchFamily="34" charset="-120"/>
              </a:rPr>
              <a:t>DynamoDB</a:t>
            </a:r>
            <a:endParaRPr lang="en-US" sz="2120" dirty="0"/>
          </a:p>
        </p:txBody>
      </p:sp>
      <p:sp>
        <p:nvSpPr>
          <p:cNvPr id="35" name="Text 16"/>
          <p:cNvSpPr/>
          <p:nvPr/>
        </p:nvSpPr>
        <p:spPr>
          <a:xfrm>
            <a:off x="12289536" y="3712464"/>
            <a:ext cx="1554480" cy="978408"/>
          </a:xfrm>
          <a:prstGeom prst="rect">
            <a:avLst/>
          </a:prstGeom>
          <a:noFill/>
          <a:ln/>
        </p:spPr>
        <p:txBody>
          <a:bodyPr wrap="square" lIns="0" tIns="0" rIns="0" bIns="0" rtlCol="0" anchor="ctr"/>
          <a:lstStyle/>
          <a:p>
            <a:pPr marL="0" indent="0" algn="l">
              <a:lnSpc>
                <a:spcPts val="2120"/>
              </a:lnSpc>
              <a:buNone/>
            </a:pPr>
            <a:r>
              <a:rPr lang="en-US" sz="1690" dirty="0">
                <a:solidFill>
                  <a:srgbClr val="DBDBDB"/>
                </a:solidFill>
                <a:latin typeface="思源黑体-思源黑体-Medium" pitchFamily="34" charset="0"/>
                <a:ea typeface="思源黑体-思源黑体-Medium" pitchFamily="34" charset="-122"/>
                <a:cs typeface="思源黑体-思源黑体-Medium" pitchFamily="34" charset="-120"/>
              </a:rPr>
              <a:t> For processing database events.</a:t>
            </a:r>
            <a:endParaRPr lang="en-US" sz="169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4630400" cy="8238744"/>
          </a:xfrm>
          <a:prstGeom prst="rect">
            <a:avLst/>
          </a:prstGeom>
        </p:spPr>
      </p:pic>
      <p:pic>
        <p:nvPicPr>
          <p:cNvPr id="3" name="Image 1" descr="preencoded.png"/>
          <p:cNvPicPr>
            <a:picLocks noChangeAspect="1"/>
          </p:cNvPicPr>
          <p:nvPr/>
        </p:nvPicPr>
        <p:blipFill>
          <a:blip r:embed="rId4"/>
          <a:stretch>
            <a:fillRect/>
          </a:stretch>
        </p:blipFill>
        <p:spPr>
          <a:xfrm>
            <a:off x="9409176" y="0"/>
            <a:ext cx="5230368" cy="8238744"/>
          </a:xfrm>
          <a:prstGeom prst="rect">
            <a:avLst/>
          </a:prstGeom>
        </p:spPr>
      </p:pic>
      <p:pic>
        <p:nvPicPr>
          <p:cNvPr id="4" name="Image 2" descr="preencoded.png"/>
          <p:cNvPicPr>
            <a:picLocks noChangeAspect="1"/>
          </p:cNvPicPr>
          <p:nvPr/>
        </p:nvPicPr>
        <p:blipFill>
          <a:blip r:embed="rId5"/>
          <a:stretch>
            <a:fillRect/>
          </a:stretch>
        </p:blipFill>
        <p:spPr>
          <a:xfrm>
            <a:off x="786384" y="2066544"/>
            <a:ext cx="8101584" cy="1088136"/>
          </a:xfrm>
          <a:prstGeom prst="rect">
            <a:avLst/>
          </a:prstGeom>
        </p:spPr>
      </p:pic>
      <p:pic>
        <p:nvPicPr>
          <p:cNvPr id="5" name="Image 3" descr="preencoded.png"/>
          <p:cNvPicPr>
            <a:picLocks noChangeAspect="1"/>
          </p:cNvPicPr>
          <p:nvPr/>
        </p:nvPicPr>
        <p:blipFill>
          <a:blip r:embed="rId5"/>
          <a:stretch>
            <a:fillRect/>
          </a:stretch>
        </p:blipFill>
        <p:spPr>
          <a:xfrm>
            <a:off x="786384" y="3300984"/>
            <a:ext cx="8101584" cy="1088136"/>
          </a:xfrm>
          <a:prstGeom prst="rect">
            <a:avLst/>
          </a:prstGeom>
        </p:spPr>
      </p:pic>
      <p:pic>
        <p:nvPicPr>
          <p:cNvPr id="6" name="Image 4" descr="preencoded.png"/>
          <p:cNvPicPr>
            <a:picLocks noChangeAspect="1"/>
          </p:cNvPicPr>
          <p:nvPr/>
        </p:nvPicPr>
        <p:blipFill>
          <a:blip r:embed="rId6"/>
          <a:stretch>
            <a:fillRect/>
          </a:stretch>
        </p:blipFill>
        <p:spPr>
          <a:xfrm>
            <a:off x="786384" y="5038344"/>
            <a:ext cx="8101584" cy="694944"/>
          </a:xfrm>
          <a:prstGeom prst="rect">
            <a:avLst/>
          </a:prstGeom>
        </p:spPr>
      </p:pic>
      <p:pic>
        <p:nvPicPr>
          <p:cNvPr id="7" name="Image 5" descr="preencoded.png"/>
          <p:cNvPicPr>
            <a:picLocks noChangeAspect="1"/>
          </p:cNvPicPr>
          <p:nvPr/>
        </p:nvPicPr>
        <p:blipFill>
          <a:blip r:embed="rId6"/>
          <a:stretch>
            <a:fillRect/>
          </a:stretch>
        </p:blipFill>
        <p:spPr>
          <a:xfrm>
            <a:off x="786384" y="5888736"/>
            <a:ext cx="8101584" cy="694944"/>
          </a:xfrm>
          <a:prstGeom prst="rect">
            <a:avLst/>
          </a:prstGeom>
        </p:spPr>
      </p:pic>
      <p:pic>
        <p:nvPicPr>
          <p:cNvPr id="8" name="Image 6" descr="preencoded.png"/>
          <p:cNvPicPr>
            <a:picLocks noChangeAspect="1"/>
          </p:cNvPicPr>
          <p:nvPr/>
        </p:nvPicPr>
        <p:blipFill>
          <a:blip r:embed="rId6"/>
          <a:stretch>
            <a:fillRect/>
          </a:stretch>
        </p:blipFill>
        <p:spPr>
          <a:xfrm>
            <a:off x="786384" y="6729984"/>
            <a:ext cx="8101584" cy="694944"/>
          </a:xfrm>
          <a:prstGeom prst="rect">
            <a:avLst/>
          </a:prstGeom>
        </p:spPr>
      </p:pic>
      <p:sp>
        <p:nvSpPr>
          <p:cNvPr id="9" name="Text 0"/>
          <p:cNvSpPr/>
          <p:nvPr/>
        </p:nvSpPr>
        <p:spPr>
          <a:xfrm>
            <a:off x="795528" y="832104"/>
            <a:ext cx="8074152" cy="576072"/>
          </a:xfrm>
          <a:prstGeom prst="rect">
            <a:avLst/>
          </a:prstGeom>
          <a:noFill/>
          <a:ln/>
        </p:spPr>
        <p:txBody>
          <a:bodyPr wrap="none" lIns="0" tIns="0" rIns="0" bIns="0" rtlCol="0" anchor="ctr"/>
          <a:lstStyle/>
          <a:p>
            <a:pPr marL="0" indent="0" algn="l">
              <a:lnSpc>
                <a:spcPts val="4460"/>
              </a:lnSpc>
              <a:buNone/>
            </a:pPr>
            <a:r>
              <a:rPr lang="en-US" sz="3570" dirty="0">
                <a:solidFill>
                  <a:srgbClr val="77D8F2"/>
                </a:solidFill>
                <a:latin typeface="AlibabaPuHuiTi-Alibaba-PuHuiTi" pitchFamily="34" charset="0"/>
                <a:ea typeface="AlibabaPuHuiTi-Alibaba-PuHuiTi" pitchFamily="34" charset="-122"/>
                <a:cs typeface="AlibabaPuHuiTi-Alibaba-PuHuiTi" pitchFamily="34" charset="-120"/>
              </a:rPr>
              <a:t>9. Monitoring and Logging</a:t>
            </a:r>
            <a:endParaRPr lang="en-US" sz="3570" dirty="0"/>
          </a:p>
        </p:txBody>
      </p:sp>
      <p:sp>
        <p:nvSpPr>
          <p:cNvPr id="10" name="Text 1"/>
          <p:cNvSpPr/>
          <p:nvPr/>
        </p:nvSpPr>
        <p:spPr>
          <a:xfrm>
            <a:off x="795528" y="1600200"/>
            <a:ext cx="8074152" cy="274320"/>
          </a:xfrm>
          <a:prstGeom prst="rect">
            <a:avLst/>
          </a:prstGeom>
          <a:noFill/>
          <a:ln/>
        </p:spPr>
        <p:txBody>
          <a:bodyPr wrap="none" lIns="0" tIns="0" rIns="0" bIns="0" rtlCol="0" anchor="ctr"/>
          <a:lstStyle/>
          <a:p>
            <a:pPr marL="0" indent="0" algn="l">
              <a:lnSpc>
                <a:spcPts val="1780"/>
              </a:lnSpc>
              <a:buNone/>
            </a:pPr>
            <a:r>
              <a:rPr lang="en-US" sz="1420" dirty="0">
                <a:solidFill>
                  <a:srgbClr val="DBDBDB"/>
                </a:solidFill>
                <a:latin typeface="思源黑体-思源黑体-Medium" pitchFamily="34" charset="0"/>
                <a:ea typeface="思源黑体-思源黑体-Medium" pitchFamily="34" charset="-122"/>
                <a:cs typeface="思源黑体-思源黑体-Medium" pitchFamily="34" charset="-120"/>
              </a:rPr>
              <a:t>AWS Lambda integrates with:</a:t>
            </a:r>
            <a:endParaRPr lang="en-US" sz="1420" dirty="0"/>
          </a:p>
        </p:txBody>
      </p:sp>
      <p:sp>
        <p:nvSpPr>
          <p:cNvPr id="11" name="Text 2"/>
          <p:cNvSpPr/>
          <p:nvPr/>
        </p:nvSpPr>
        <p:spPr>
          <a:xfrm>
            <a:off x="996696" y="2276856"/>
            <a:ext cx="7680960" cy="283464"/>
          </a:xfrm>
          <a:prstGeom prst="rect">
            <a:avLst/>
          </a:prstGeom>
          <a:noFill/>
          <a:ln/>
        </p:spPr>
        <p:txBody>
          <a:bodyPr wrap="none" lIns="0" tIns="0" rIns="0" bIns="0" rtlCol="0" anchor="ctr"/>
          <a:lstStyle/>
          <a:p>
            <a:pPr marL="0" indent="0" algn="l">
              <a:lnSpc>
                <a:spcPts val="2230"/>
              </a:lnSpc>
              <a:buNone/>
            </a:pPr>
            <a:r>
              <a:rPr lang="en-US" sz="1780" dirty="0">
                <a:solidFill>
                  <a:srgbClr val="2E2E2E"/>
                </a:solidFill>
                <a:latin typeface="AlibabaPuHuiTi-Alibaba-PuHuiTi" pitchFamily="34" charset="0"/>
                <a:ea typeface="AlibabaPuHuiTi-Alibaba-PuHuiTi" pitchFamily="34" charset="-122"/>
                <a:cs typeface="AlibabaPuHuiTi-Alibaba-PuHuiTi" pitchFamily="34" charset="-120"/>
              </a:rPr>
              <a:t>Amazon CloudWatch</a:t>
            </a:r>
            <a:endParaRPr lang="en-US" sz="1780" dirty="0"/>
          </a:p>
        </p:txBody>
      </p:sp>
      <p:sp>
        <p:nvSpPr>
          <p:cNvPr id="12" name="Text 3"/>
          <p:cNvSpPr/>
          <p:nvPr/>
        </p:nvSpPr>
        <p:spPr>
          <a:xfrm>
            <a:off x="996696" y="2670048"/>
            <a:ext cx="7680960" cy="274320"/>
          </a:xfrm>
          <a:prstGeom prst="rect">
            <a:avLst/>
          </a:prstGeom>
          <a:noFill/>
          <a:ln/>
        </p:spPr>
        <p:txBody>
          <a:bodyPr wrap="none" lIns="0" tIns="0" rIns="0" bIns="0" rtlCol="0" anchor="ctr"/>
          <a:lstStyle/>
          <a:p>
            <a:pPr marL="0" indent="0" algn="l">
              <a:lnSpc>
                <a:spcPts val="1780"/>
              </a:lnSpc>
              <a:buNone/>
            </a:pPr>
            <a:r>
              <a:rPr lang="en-US" sz="1420" dirty="0">
                <a:solidFill>
                  <a:srgbClr val="2E2E2E"/>
                </a:solidFill>
                <a:latin typeface="思源黑体-思源黑体-Medium" pitchFamily="34" charset="0"/>
                <a:ea typeface="思源黑体-思源黑体-Medium" pitchFamily="34" charset="-122"/>
                <a:cs typeface="思源黑体-思源黑体-Medium" pitchFamily="34" charset="-120"/>
              </a:rPr>
              <a:t> For metrics and logs.</a:t>
            </a:r>
            <a:endParaRPr lang="en-US" sz="1420" dirty="0"/>
          </a:p>
        </p:txBody>
      </p:sp>
      <p:sp>
        <p:nvSpPr>
          <p:cNvPr id="13" name="Text 4"/>
          <p:cNvSpPr/>
          <p:nvPr/>
        </p:nvSpPr>
        <p:spPr>
          <a:xfrm>
            <a:off x="996696" y="3511296"/>
            <a:ext cx="7680960" cy="283464"/>
          </a:xfrm>
          <a:prstGeom prst="rect">
            <a:avLst/>
          </a:prstGeom>
          <a:noFill/>
          <a:ln/>
        </p:spPr>
        <p:txBody>
          <a:bodyPr wrap="none" lIns="0" tIns="0" rIns="0" bIns="0" rtlCol="0" anchor="ctr"/>
          <a:lstStyle/>
          <a:p>
            <a:pPr marL="0" indent="0" algn="l">
              <a:lnSpc>
                <a:spcPts val="2230"/>
              </a:lnSpc>
              <a:buNone/>
            </a:pPr>
            <a:r>
              <a:rPr lang="en-US" sz="1780" dirty="0">
                <a:solidFill>
                  <a:srgbClr val="2E2E2E"/>
                </a:solidFill>
                <a:latin typeface="AlibabaPuHuiTi-Alibaba-PuHuiTi" pitchFamily="34" charset="0"/>
                <a:ea typeface="AlibabaPuHuiTi-Alibaba-PuHuiTi" pitchFamily="34" charset="-122"/>
                <a:cs typeface="AlibabaPuHuiTi-Alibaba-PuHuiTi" pitchFamily="34" charset="-120"/>
              </a:rPr>
              <a:t>AWS X-Ray</a:t>
            </a:r>
            <a:endParaRPr lang="en-US" sz="1780" dirty="0"/>
          </a:p>
        </p:txBody>
      </p:sp>
      <p:sp>
        <p:nvSpPr>
          <p:cNvPr id="14" name="Text 5"/>
          <p:cNvSpPr/>
          <p:nvPr/>
        </p:nvSpPr>
        <p:spPr>
          <a:xfrm>
            <a:off x="996696" y="3904488"/>
            <a:ext cx="7680960" cy="274320"/>
          </a:xfrm>
          <a:prstGeom prst="rect">
            <a:avLst/>
          </a:prstGeom>
          <a:noFill/>
          <a:ln/>
        </p:spPr>
        <p:txBody>
          <a:bodyPr wrap="none" lIns="0" tIns="0" rIns="0" bIns="0" rtlCol="0" anchor="ctr"/>
          <a:lstStyle/>
          <a:p>
            <a:pPr marL="0" indent="0" algn="l">
              <a:lnSpc>
                <a:spcPts val="1780"/>
              </a:lnSpc>
              <a:buNone/>
            </a:pPr>
            <a:r>
              <a:rPr lang="en-US" sz="1420" dirty="0">
                <a:solidFill>
                  <a:srgbClr val="2E2E2E"/>
                </a:solidFill>
                <a:latin typeface="思源黑体-思源黑体-Medium" pitchFamily="34" charset="0"/>
                <a:ea typeface="思源黑体-思源黑体-Medium" pitchFamily="34" charset="-122"/>
                <a:cs typeface="思源黑体-思源黑体-Medium" pitchFamily="34" charset="-120"/>
              </a:rPr>
              <a:t> For tracing and debugging.</a:t>
            </a:r>
            <a:endParaRPr lang="en-US" sz="1420" dirty="0"/>
          </a:p>
        </p:txBody>
      </p:sp>
      <p:sp>
        <p:nvSpPr>
          <p:cNvPr id="15" name="Text 6"/>
          <p:cNvSpPr/>
          <p:nvPr/>
        </p:nvSpPr>
        <p:spPr>
          <a:xfrm>
            <a:off x="795528" y="4581144"/>
            <a:ext cx="8074152" cy="274320"/>
          </a:xfrm>
          <a:prstGeom prst="rect">
            <a:avLst/>
          </a:prstGeom>
          <a:noFill/>
          <a:ln/>
        </p:spPr>
        <p:txBody>
          <a:bodyPr wrap="none" lIns="0" tIns="0" rIns="0" bIns="0" rtlCol="0" anchor="ctr"/>
          <a:lstStyle/>
          <a:p>
            <a:pPr marL="0" indent="0" algn="l">
              <a:lnSpc>
                <a:spcPts val="1780"/>
              </a:lnSpc>
              <a:buNone/>
            </a:pPr>
            <a:r>
              <a:rPr lang="en-US" sz="1420" dirty="0">
                <a:solidFill>
                  <a:srgbClr val="DBDBDB"/>
                </a:solidFill>
                <a:latin typeface="思源黑体-思源黑体-Medium" pitchFamily="34" charset="0"/>
                <a:ea typeface="思源黑体-思源黑体-Medium" pitchFamily="34" charset="-122"/>
                <a:cs typeface="思源黑体-思源黑体-Medium" pitchFamily="34" charset="-120"/>
              </a:rPr>
              <a:t>You can track:</a:t>
            </a:r>
            <a:endParaRPr lang="en-US" sz="1420" dirty="0"/>
          </a:p>
        </p:txBody>
      </p:sp>
      <p:sp>
        <p:nvSpPr>
          <p:cNvPr id="16" name="Text 7"/>
          <p:cNvSpPr/>
          <p:nvPr/>
        </p:nvSpPr>
        <p:spPr>
          <a:xfrm>
            <a:off x="996696" y="5248656"/>
            <a:ext cx="7680960" cy="274320"/>
          </a:xfrm>
          <a:prstGeom prst="rect">
            <a:avLst/>
          </a:prstGeom>
          <a:noFill/>
          <a:ln/>
        </p:spPr>
        <p:txBody>
          <a:bodyPr wrap="none" lIns="0" tIns="0" rIns="0" bIns="0" rtlCol="0" anchor="ctr"/>
          <a:lstStyle/>
          <a:p>
            <a:pPr marL="0" indent="0" algn="l">
              <a:lnSpc>
                <a:spcPts val="1780"/>
              </a:lnSpc>
              <a:buNone/>
            </a:pPr>
            <a:r>
              <a:rPr lang="en-US" sz="1420" dirty="0">
                <a:solidFill>
                  <a:srgbClr val="2E2E2E"/>
                </a:solidFill>
                <a:latin typeface="思源黑体-思源黑体-Medium" pitchFamily="34" charset="0"/>
                <a:ea typeface="思源黑体-思源黑体-Medium" pitchFamily="34" charset="-122"/>
                <a:cs typeface="思源黑体-思源黑体-Medium" pitchFamily="34" charset="-120"/>
              </a:rPr>
              <a:t>Number of invocations.</a:t>
            </a:r>
            <a:endParaRPr lang="en-US" sz="1420" dirty="0"/>
          </a:p>
        </p:txBody>
      </p:sp>
      <p:sp>
        <p:nvSpPr>
          <p:cNvPr id="17" name="Text 8"/>
          <p:cNvSpPr/>
          <p:nvPr/>
        </p:nvSpPr>
        <p:spPr>
          <a:xfrm>
            <a:off x="996696" y="6099048"/>
            <a:ext cx="7680960" cy="274320"/>
          </a:xfrm>
          <a:prstGeom prst="rect">
            <a:avLst/>
          </a:prstGeom>
          <a:noFill/>
          <a:ln/>
        </p:spPr>
        <p:txBody>
          <a:bodyPr wrap="none" lIns="0" tIns="0" rIns="0" bIns="0" rtlCol="0" anchor="ctr"/>
          <a:lstStyle/>
          <a:p>
            <a:pPr marL="0" indent="0" algn="l">
              <a:lnSpc>
                <a:spcPts val="1780"/>
              </a:lnSpc>
              <a:buNone/>
            </a:pPr>
            <a:r>
              <a:rPr lang="en-US" sz="1420" dirty="0">
                <a:solidFill>
                  <a:srgbClr val="2E2E2E"/>
                </a:solidFill>
                <a:latin typeface="思源黑体-思源黑体-Medium" pitchFamily="34" charset="0"/>
                <a:ea typeface="思源黑体-思源黑体-Medium" pitchFamily="34" charset="-122"/>
                <a:cs typeface="思源黑体-思源黑体-Medium" pitchFamily="34" charset="-120"/>
              </a:rPr>
              <a:t>Duration of execution.</a:t>
            </a:r>
            <a:endParaRPr lang="en-US" sz="1420" dirty="0"/>
          </a:p>
        </p:txBody>
      </p:sp>
      <p:sp>
        <p:nvSpPr>
          <p:cNvPr id="18" name="Text 9"/>
          <p:cNvSpPr/>
          <p:nvPr/>
        </p:nvSpPr>
        <p:spPr>
          <a:xfrm>
            <a:off x="996696" y="6940296"/>
            <a:ext cx="7680960" cy="274320"/>
          </a:xfrm>
          <a:prstGeom prst="rect">
            <a:avLst/>
          </a:prstGeom>
          <a:noFill/>
          <a:ln/>
        </p:spPr>
        <p:txBody>
          <a:bodyPr wrap="none" lIns="0" tIns="0" rIns="0" bIns="0" rtlCol="0" anchor="ctr"/>
          <a:lstStyle/>
          <a:p>
            <a:pPr marL="0" indent="0" algn="l">
              <a:lnSpc>
                <a:spcPts val="1780"/>
              </a:lnSpc>
              <a:buNone/>
            </a:pPr>
            <a:r>
              <a:rPr lang="en-US" sz="1420" dirty="0">
                <a:solidFill>
                  <a:srgbClr val="2E2E2E"/>
                </a:solidFill>
                <a:latin typeface="思源黑体-思源黑体-Medium" pitchFamily="34" charset="0"/>
                <a:ea typeface="思源黑体-思源黑体-Medium" pitchFamily="34" charset="-122"/>
                <a:cs typeface="思源黑体-思源黑体-Medium" pitchFamily="34" charset="-120"/>
              </a:rPr>
              <a:t>Error rates.</a:t>
            </a:r>
            <a:endParaRPr lang="en-US" sz="142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4630400" cy="8238744"/>
          </a:xfrm>
          <a:prstGeom prst="rect">
            <a:avLst/>
          </a:prstGeom>
        </p:spPr>
      </p:pic>
      <p:pic>
        <p:nvPicPr>
          <p:cNvPr id="3" name="Image 1" descr="preencoded.png"/>
          <p:cNvPicPr>
            <a:picLocks noChangeAspect="1"/>
          </p:cNvPicPr>
          <p:nvPr/>
        </p:nvPicPr>
        <p:blipFill>
          <a:blip r:embed="rId4"/>
          <a:stretch>
            <a:fillRect/>
          </a:stretch>
        </p:blipFill>
        <p:spPr>
          <a:xfrm>
            <a:off x="0" y="0"/>
            <a:ext cx="14630400" cy="2624328"/>
          </a:xfrm>
          <a:prstGeom prst="rect">
            <a:avLst/>
          </a:prstGeom>
        </p:spPr>
      </p:pic>
      <p:sp>
        <p:nvSpPr>
          <p:cNvPr id="4" name="Text 0"/>
          <p:cNvSpPr/>
          <p:nvPr/>
        </p:nvSpPr>
        <p:spPr>
          <a:xfrm>
            <a:off x="795528" y="4334256"/>
            <a:ext cx="13048488" cy="713232"/>
          </a:xfrm>
          <a:prstGeom prst="rect">
            <a:avLst/>
          </a:prstGeom>
          <a:noFill/>
          <a:ln/>
        </p:spPr>
        <p:txBody>
          <a:bodyPr wrap="none" lIns="0" tIns="0" rIns="0" bIns="0" rtlCol="0" anchor="ctr"/>
          <a:lstStyle/>
          <a:p>
            <a:pPr marL="0" indent="0" algn="l">
              <a:lnSpc>
                <a:spcPts val="5580"/>
              </a:lnSpc>
              <a:buNone/>
            </a:pPr>
            <a:r>
              <a:rPr lang="en-US" sz="4460" dirty="0">
                <a:solidFill>
                  <a:srgbClr val="77D8F2"/>
                </a:solidFill>
                <a:latin typeface="AlibabaPuHuiTi-Alibaba-PuHuiTi" pitchFamily="34" charset="0"/>
                <a:ea typeface="AlibabaPuHuiTi-Alibaba-PuHuiTi" pitchFamily="34" charset="-122"/>
                <a:cs typeface="AlibabaPuHuiTi-Alibaba-PuHuiTi" pitchFamily="34" charset="-120"/>
              </a:rPr>
              <a:t>10. Pricing Model</a:t>
            </a:r>
            <a:endParaRPr lang="en-US" sz="4460" dirty="0"/>
          </a:p>
        </p:txBody>
      </p:sp>
      <p:sp>
        <p:nvSpPr>
          <p:cNvPr id="5" name="Text 1"/>
          <p:cNvSpPr/>
          <p:nvPr/>
        </p:nvSpPr>
        <p:spPr>
          <a:xfrm>
            <a:off x="795528" y="5294376"/>
            <a:ext cx="13048488" cy="685800"/>
          </a:xfrm>
          <a:prstGeom prst="rect">
            <a:avLst/>
          </a:prstGeom>
          <a:noFill/>
          <a:ln/>
        </p:spPr>
        <p:txBody>
          <a:bodyPr wrap="square" lIns="0" tIns="0" rIns="0" bIns="0" rtlCol="0" anchor="ctr"/>
          <a:lstStyle/>
          <a:p>
            <a:pPr marL="0" indent="0" algn="l">
              <a:lnSpc>
                <a:spcPts val="2230"/>
              </a:lnSpc>
              <a:buNone/>
            </a:pPr>
            <a:r>
              <a:rPr lang="en-US" sz="1780" dirty="0">
                <a:solidFill>
                  <a:srgbClr val="DBDBDB"/>
                </a:solidFill>
                <a:latin typeface="思源黑体-思源黑体-Medium" pitchFamily="34" charset="0"/>
                <a:ea typeface="思源黑体-思源黑体-Medium" pitchFamily="34" charset="-122"/>
                <a:cs typeface="思源黑体-思源黑体-Medium" pitchFamily="34" charset="-120"/>
              </a:rPr>
              <a:t>You pay only for what you use, based on the number of requests and execution time (in GB-seconds). The free tier includes 1 million requests plus 400,000 GB-seconds per month, making it cost-effective even for short tasks.</a:t>
            </a:r>
            <a:endParaRPr lang="en-US" sz="178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4630400" cy="8238744"/>
          </a:xfrm>
          <a:prstGeom prst="rect">
            <a:avLst/>
          </a:prstGeom>
        </p:spPr>
      </p:pic>
      <p:pic>
        <p:nvPicPr>
          <p:cNvPr id="3" name="Image 1" descr="preencoded.png"/>
          <p:cNvPicPr>
            <a:picLocks noChangeAspect="1"/>
          </p:cNvPicPr>
          <p:nvPr/>
        </p:nvPicPr>
        <p:blipFill>
          <a:blip r:embed="rId4"/>
          <a:stretch>
            <a:fillRect/>
          </a:stretch>
        </p:blipFill>
        <p:spPr>
          <a:xfrm>
            <a:off x="0" y="0"/>
            <a:ext cx="14630400" cy="2624328"/>
          </a:xfrm>
          <a:prstGeom prst="rect">
            <a:avLst/>
          </a:prstGeom>
        </p:spPr>
      </p:pic>
      <p:pic>
        <p:nvPicPr>
          <p:cNvPr id="4" name="Image 2" descr="preencoded.png"/>
          <p:cNvPicPr>
            <a:picLocks noChangeAspect="1"/>
          </p:cNvPicPr>
          <p:nvPr/>
        </p:nvPicPr>
        <p:blipFill>
          <a:blip r:embed="rId5"/>
          <a:stretch>
            <a:fillRect/>
          </a:stretch>
        </p:blipFill>
        <p:spPr>
          <a:xfrm>
            <a:off x="786384" y="5001768"/>
            <a:ext cx="2459736" cy="1536192"/>
          </a:xfrm>
          <a:prstGeom prst="rect">
            <a:avLst/>
          </a:prstGeom>
        </p:spPr>
      </p:pic>
      <p:pic>
        <p:nvPicPr>
          <p:cNvPr id="5" name="Image 3" descr="preencoded.png"/>
          <p:cNvPicPr>
            <a:picLocks noChangeAspect="1"/>
          </p:cNvPicPr>
          <p:nvPr/>
        </p:nvPicPr>
        <p:blipFill>
          <a:blip r:embed="rId5"/>
          <a:stretch>
            <a:fillRect/>
          </a:stretch>
        </p:blipFill>
        <p:spPr>
          <a:xfrm>
            <a:off x="3438144" y="5001768"/>
            <a:ext cx="2459736" cy="1536192"/>
          </a:xfrm>
          <a:prstGeom prst="rect">
            <a:avLst/>
          </a:prstGeom>
        </p:spPr>
      </p:pic>
      <p:pic>
        <p:nvPicPr>
          <p:cNvPr id="6" name="Image 4" descr="preencoded.png"/>
          <p:cNvPicPr>
            <a:picLocks noChangeAspect="1"/>
          </p:cNvPicPr>
          <p:nvPr/>
        </p:nvPicPr>
        <p:blipFill>
          <a:blip r:embed="rId5"/>
          <a:stretch>
            <a:fillRect/>
          </a:stretch>
        </p:blipFill>
        <p:spPr>
          <a:xfrm>
            <a:off x="6089904" y="5001768"/>
            <a:ext cx="2459736" cy="1536192"/>
          </a:xfrm>
          <a:prstGeom prst="rect">
            <a:avLst/>
          </a:prstGeom>
        </p:spPr>
      </p:pic>
      <p:pic>
        <p:nvPicPr>
          <p:cNvPr id="7" name="Image 5" descr="preencoded.png"/>
          <p:cNvPicPr>
            <a:picLocks noChangeAspect="1"/>
          </p:cNvPicPr>
          <p:nvPr/>
        </p:nvPicPr>
        <p:blipFill>
          <a:blip r:embed="rId5"/>
          <a:stretch>
            <a:fillRect/>
          </a:stretch>
        </p:blipFill>
        <p:spPr>
          <a:xfrm>
            <a:off x="8741664" y="5001768"/>
            <a:ext cx="2459736" cy="1536192"/>
          </a:xfrm>
          <a:prstGeom prst="rect">
            <a:avLst/>
          </a:prstGeom>
        </p:spPr>
      </p:pic>
      <p:pic>
        <p:nvPicPr>
          <p:cNvPr id="8" name="Image 6" descr="preencoded.png"/>
          <p:cNvPicPr>
            <a:picLocks noChangeAspect="1"/>
          </p:cNvPicPr>
          <p:nvPr/>
        </p:nvPicPr>
        <p:blipFill>
          <a:blip r:embed="rId5"/>
          <a:stretch>
            <a:fillRect/>
          </a:stretch>
        </p:blipFill>
        <p:spPr>
          <a:xfrm>
            <a:off x="11402568" y="5001768"/>
            <a:ext cx="2459736" cy="1536192"/>
          </a:xfrm>
          <a:prstGeom prst="rect">
            <a:avLst/>
          </a:prstGeom>
        </p:spPr>
      </p:pic>
      <p:sp>
        <p:nvSpPr>
          <p:cNvPr id="9" name="Text 0"/>
          <p:cNvSpPr/>
          <p:nvPr/>
        </p:nvSpPr>
        <p:spPr>
          <a:xfrm>
            <a:off x="795528" y="4050792"/>
            <a:ext cx="13048488" cy="713232"/>
          </a:xfrm>
          <a:prstGeom prst="rect">
            <a:avLst/>
          </a:prstGeom>
          <a:noFill/>
          <a:ln/>
        </p:spPr>
        <p:txBody>
          <a:bodyPr wrap="none" lIns="0" tIns="0" rIns="0" bIns="0" rtlCol="0" anchor="ctr"/>
          <a:lstStyle/>
          <a:p>
            <a:pPr marL="0" indent="0" algn="l">
              <a:lnSpc>
                <a:spcPts val="5580"/>
              </a:lnSpc>
              <a:buNone/>
            </a:pPr>
            <a:r>
              <a:rPr lang="en-US" sz="4460" dirty="0">
                <a:solidFill>
                  <a:srgbClr val="77D8F2"/>
                </a:solidFill>
                <a:latin typeface="AlibabaPuHuiTi-Alibaba-PuHuiTi" pitchFamily="34" charset="0"/>
                <a:ea typeface="AlibabaPuHuiTi-Alibaba-PuHuiTi" pitchFamily="34" charset="-122"/>
                <a:cs typeface="AlibabaPuHuiTi-Alibaba-PuHuiTi" pitchFamily="34" charset="-120"/>
              </a:rPr>
              <a:t>11. Advantages of AWS Lambda</a:t>
            </a:r>
            <a:endParaRPr lang="en-US" sz="4460" dirty="0"/>
          </a:p>
        </p:txBody>
      </p:sp>
      <p:sp>
        <p:nvSpPr>
          <p:cNvPr id="10" name="Text 1"/>
          <p:cNvSpPr/>
          <p:nvPr/>
        </p:nvSpPr>
        <p:spPr>
          <a:xfrm>
            <a:off x="1042416" y="5257800"/>
            <a:ext cx="1947672" cy="685800"/>
          </a:xfrm>
          <a:prstGeom prst="rect">
            <a:avLst/>
          </a:prstGeom>
          <a:noFill/>
          <a:ln/>
        </p:spPr>
        <p:txBody>
          <a:bodyPr wrap="square" lIns="0" tIns="0" rIns="0" bIns="0" rtlCol="0" anchor="ctr"/>
          <a:lstStyle/>
          <a:p>
            <a:pPr marL="0" indent="0" algn="l">
              <a:lnSpc>
                <a:spcPts val="2230"/>
              </a:lnSpc>
              <a:buNone/>
            </a:pPr>
            <a:r>
              <a:rPr lang="en-US" sz="1780" dirty="0">
                <a:solidFill>
                  <a:srgbClr val="DBDBDB"/>
                </a:solidFill>
                <a:latin typeface="思源黑体-思源黑体-Medium" pitchFamily="34" charset="0"/>
                <a:ea typeface="思源黑体-思源黑体-Medium" pitchFamily="34" charset="-122"/>
                <a:cs typeface="思源黑体-思源黑体-Medium" pitchFamily="34" charset="-120"/>
              </a:rPr>
              <a:t>🚀 No server management.</a:t>
            </a:r>
            <a:endParaRPr lang="en-US" sz="1780" dirty="0"/>
          </a:p>
        </p:txBody>
      </p:sp>
      <p:sp>
        <p:nvSpPr>
          <p:cNvPr id="11" name="Text 2"/>
          <p:cNvSpPr/>
          <p:nvPr/>
        </p:nvSpPr>
        <p:spPr>
          <a:xfrm>
            <a:off x="3694176" y="5257800"/>
            <a:ext cx="1947672" cy="685800"/>
          </a:xfrm>
          <a:prstGeom prst="rect">
            <a:avLst/>
          </a:prstGeom>
          <a:noFill/>
          <a:ln/>
        </p:spPr>
        <p:txBody>
          <a:bodyPr wrap="square" lIns="0" tIns="0" rIns="0" bIns="0" rtlCol="0" anchor="ctr"/>
          <a:lstStyle/>
          <a:p>
            <a:pPr marL="0" indent="0" algn="l">
              <a:lnSpc>
                <a:spcPts val="2230"/>
              </a:lnSpc>
              <a:buNone/>
            </a:pPr>
            <a:r>
              <a:rPr lang="en-US" sz="1780" dirty="0">
                <a:solidFill>
                  <a:srgbClr val="DBDBDB"/>
                </a:solidFill>
                <a:latin typeface="思源黑体-思源黑体-Medium" pitchFamily="34" charset="0"/>
                <a:ea typeface="思源黑体-思源黑体-Medium" pitchFamily="34" charset="-122"/>
                <a:cs typeface="思源黑体-思源黑体-Medium" pitchFamily="34" charset="-120"/>
              </a:rPr>
              <a:t>📈 Automatically scales.</a:t>
            </a:r>
            <a:endParaRPr lang="en-US" sz="1780" dirty="0"/>
          </a:p>
        </p:txBody>
      </p:sp>
      <p:sp>
        <p:nvSpPr>
          <p:cNvPr id="12" name="Text 3"/>
          <p:cNvSpPr/>
          <p:nvPr/>
        </p:nvSpPr>
        <p:spPr>
          <a:xfrm>
            <a:off x="6345936" y="5257800"/>
            <a:ext cx="1947672" cy="347472"/>
          </a:xfrm>
          <a:prstGeom prst="rect">
            <a:avLst/>
          </a:prstGeom>
          <a:noFill/>
          <a:ln/>
        </p:spPr>
        <p:txBody>
          <a:bodyPr wrap="none" lIns="0" tIns="0" rIns="0" bIns="0" rtlCol="0" anchor="ctr"/>
          <a:lstStyle/>
          <a:p>
            <a:pPr marL="0" indent="0" algn="l">
              <a:lnSpc>
                <a:spcPts val="2230"/>
              </a:lnSpc>
              <a:buNone/>
            </a:pPr>
            <a:r>
              <a:rPr lang="en-US" sz="1780" dirty="0">
                <a:solidFill>
                  <a:srgbClr val="DBDBDB"/>
                </a:solidFill>
                <a:latin typeface="思源黑体-思源黑体-Medium" pitchFamily="34" charset="0"/>
                <a:ea typeface="思源黑体-思源黑体-Medium" pitchFamily="34" charset="-122"/>
                <a:cs typeface="思源黑体-思源黑体-Medium" pitchFamily="34" charset="-120"/>
              </a:rPr>
              <a:t>💸 Pay per use.</a:t>
            </a:r>
            <a:endParaRPr lang="en-US" sz="1780" dirty="0"/>
          </a:p>
        </p:txBody>
      </p:sp>
      <p:sp>
        <p:nvSpPr>
          <p:cNvPr id="13" name="Text 4"/>
          <p:cNvSpPr/>
          <p:nvPr/>
        </p:nvSpPr>
        <p:spPr>
          <a:xfrm>
            <a:off x="8997696" y="5257800"/>
            <a:ext cx="1947672" cy="1024128"/>
          </a:xfrm>
          <a:prstGeom prst="rect">
            <a:avLst/>
          </a:prstGeom>
          <a:noFill/>
          <a:ln/>
        </p:spPr>
        <p:txBody>
          <a:bodyPr wrap="square" lIns="0" tIns="0" rIns="0" bIns="0" rtlCol="0" anchor="ctr"/>
          <a:lstStyle/>
          <a:p>
            <a:pPr marL="0" indent="0" algn="l">
              <a:lnSpc>
                <a:spcPts val="2230"/>
              </a:lnSpc>
              <a:buNone/>
            </a:pPr>
            <a:r>
              <a:rPr lang="en-US" sz="1780" dirty="0">
                <a:solidFill>
                  <a:srgbClr val="DBDBDB"/>
                </a:solidFill>
                <a:latin typeface="思源黑体-思源黑体-Medium" pitchFamily="34" charset="0"/>
                <a:ea typeface="思源黑体-思源黑体-Medium" pitchFamily="34" charset="-122"/>
                <a:cs typeface="思源黑体-思源黑体-Medium" pitchFamily="34" charset="-120"/>
              </a:rPr>
              <a:t>🧠 Integrated with the AWS ecosystem.</a:t>
            </a:r>
            <a:endParaRPr lang="en-US" sz="1780" dirty="0"/>
          </a:p>
        </p:txBody>
      </p:sp>
      <p:sp>
        <p:nvSpPr>
          <p:cNvPr id="14" name="Text 5"/>
          <p:cNvSpPr/>
          <p:nvPr/>
        </p:nvSpPr>
        <p:spPr>
          <a:xfrm>
            <a:off x="11658600" y="5257800"/>
            <a:ext cx="1947672" cy="1024128"/>
          </a:xfrm>
          <a:prstGeom prst="rect">
            <a:avLst/>
          </a:prstGeom>
          <a:noFill/>
          <a:ln/>
        </p:spPr>
        <p:txBody>
          <a:bodyPr wrap="square" lIns="0" tIns="0" rIns="0" bIns="0" rtlCol="0" anchor="ctr"/>
          <a:lstStyle/>
          <a:p>
            <a:pPr marL="0" indent="0" algn="l">
              <a:lnSpc>
                <a:spcPts val="2230"/>
              </a:lnSpc>
              <a:buNone/>
            </a:pPr>
            <a:r>
              <a:rPr lang="en-US" sz="1780" dirty="0">
                <a:solidFill>
                  <a:srgbClr val="DBDBDB"/>
                </a:solidFill>
                <a:latin typeface="思源黑体-思源黑体-Medium" pitchFamily="34" charset="0"/>
                <a:ea typeface="思源黑体-思源黑体-Medium" pitchFamily="34" charset="-122"/>
                <a:cs typeface="思源黑体-思源黑体-Medium" pitchFamily="34" charset="-120"/>
              </a:rPr>
              <a:t>🛡️ High availability and fault tolerance.</a:t>
            </a:r>
            <a:endParaRPr lang="en-US" sz="178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4630400" cy="8238744"/>
          </a:xfrm>
          <a:prstGeom prst="rect">
            <a:avLst/>
          </a:prstGeom>
        </p:spPr>
      </p:pic>
      <p:pic>
        <p:nvPicPr>
          <p:cNvPr id="3" name="Image 1" descr="preencoded.png"/>
          <p:cNvPicPr>
            <a:picLocks noChangeAspect="1"/>
          </p:cNvPicPr>
          <p:nvPr/>
        </p:nvPicPr>
        <p:blipFill>
          <a:blip r:embed="rId4"/>
          <a:stretch>
            <a:fillRect/>
          </a:stretch>
        </p:blipFill>
        <p:spPr>
          <a:xfrm>
            <a:off x="9409176" y="0"/>
            <a:ext cx="5230368" cy="8238744"/>
          </a:xfrm>
          <a:prstGeom prst="rect">
            <a:avLst/>
          </a:prstGeom>
        </p:spPr>
      </p:pic>
      <p:pic>
        <p:nvPicPr>
          <p:cNvPr id="4" name="Image 2" descr="preencoded.png"/>
          <p:cNvPicPr>
            <a:picLocks noChangeAspect="1"/>
          </p:cNvPicPr>
          <p:nvPr/>
        </p:nvPicPr>
        <p:blipFill>
          <a:blip r:embed="rId5"/>
          <a:stretch>
            <a:fillRect/>
          </a:stretch>
        </p:blipFill>
        <p:spPr>
          <a:xfrm>
            <a:off x="795528" y="3172968"/>
            <a:ext cx="3922776" cy="1682496"/>
          </a:xfrm>
          <a:prstGeom prst="rect">
            <a:avLst/>
          </a:prstGeom>
        </p:spPr>
      </p:pic>
      <p:pic>
        <p:nvPicPr>
          <p:cNvPr id="5" name="Image 3" descr="preencoded.png"/>
          <p:cNvPicPr>
            <a:picLocks noChangeAspect="1"/>
          </p:cNvPicPr>
          <p:nvPr/>
        </p:nvPicPr>
        <p:blipFill>
          <a:blip r:embed="rId5"/>
          <a:stretch>
            <a:fillRect/>
          </a:stretch>
        </p:blipFill>
        <p:spPr>
          <a:xfrm>
            <a:off x="795528" y="5074920"/>
            <a:ext cx="3922776" cy="1682496"/>
          </a:xfrm>
          <a:prstGeom prst="rect">
            <a:avLst/>
          </a:prstGeom>
        </p:spPr>
      </p:pic>
      <p:pic>
        <p:nvPicPr>
          <p:cNvPr id="6" name="Image 4" descr="preencoded.png"/>
          <p:cNvPicPr>
            <a:picLocks noChangeAspect="1"/>
          </p:cNvPicPr>
          <p:nvPr/>
        </p:nvPicPr>
        <p:blipFill>
          <a:blip r:embed="rId5"/>
          <a:stretch>
            <a:fillRect/>
          </a:stretch>
        </p:blipFill>
        <p:spPr>
          <a:xfrm>
            <a:off x="4946904" y="3172968"/>
            <a:ext cx="3922776" cy="1682496"/>
          </a:xfrm>
          <a:prstGeom prst="rect">
            <a:avLst/>
          </a:prstGeom>
        </p:spPr>
      </p:pic>
      <p:pic>
        <p:nvPicPr>
          <p:cNvPr id="7" name="Image 5" descr="preencoded.png"/>
          <p:cNvPicPr>
            <a:picLocks noChangeAspect="1"/>
          </p:cNvPicPr>
          <p:nvPr/>
        </p:nvPicPr>
        <p:blipFill>
          <a:blip r:embed="rId5"/>
          <a:stretch>
            <a:fillRect/>
          </a:stretch>
        </p:blipFill>
        <p:spPr>
          <a:xfrm>
            <a:off x="4946904" y="5074920"/>
            <a:ext cx="3922776" cy="1682496"/>
          </a:xfrm>
          <a:prstGeom prst="rect">
            <a:avLst/>
          </a:prstGeom>
        </p:spPr>
      </p:pic>
      <p:pic>
        <p:nvPicPr>
          <p:cNvPr id="8" name="Image 6" descr="preencoded.png"/>
          <p:cNvPicPr>
            <a:picLocks noChangeAspect="1"/>
          </p:cNvPicPr>
          <p:nvPr/>
        </p:nvPicPr>
        <p:blipFill>
          <a:blip r:embed="rId6"/>
          <a:stretch>
            <a:fillRect/>
          </a:stretch>
        </p:blipFill>
        <p:spPr>
          <a:xfrm>
            <a:off x="786384" y="3547872"/>
            <a:ext cx="3959352" cy="1307592"/>
          </a:xfrm>
          <a:prstGeom prst="rect">
            <a:avLst/>
          </a:prstGeom>
        </p:spPr>
      </p:pic>
      <p:pic>
        <p:nvPicPr>
          <p:cNvPr id="9" name="Image 7" descr="preencoded.png"/>
          <p:cNvPicPr>
            <a:picLocks noChangeAspect="1"/>
          </p:cNvPicPr>
          <p:nvPr/>
        </p:nvPicPr>
        <p:blipFill>
          <a:blip r:embed="rId6"/>
          <a:stretch>
            <a:fillRect/>
          </a:stretch>
        </p:blipFill>
        <p:spPr>
          <a:xfrm>
            <a:off x="786384" y="5449824"/>
            <a:ext cx="3959352" cy="1307592"/>
          </a:xfrm>
          <a:prstGeom prst="rect">
            <a:avLst/>
          </a:prstGeom>
        </p:spPr>
      </p:pic>
      <p:pic>
        <p:nvPicPr>
          <p:cNvPr id="10" name="Image 8" descr="preencoded.png"/>
          <p:cNvPicPr>
            <a:picLocks noChangeAspect="1"/>
          </p:cNvPicPr>
          <p:nvPr/>
        </p:nvPicPr>
        <p:blipFill>
          <a:blip r:embed="rId6"/>
          <a:stretch>
            <a:fillRect/>
          </a:stretch>
        </p:blipFill>
        <p:spPr>
          <a:xfrm>
            <a:off x="4928616" y="3547872"/>
            <a:ext cx="3959352" cy="1307592"/>
          </a:xfrm>
          <a:prstGeom prst="rect">
            <a:avLst/>
          </a:prstGeom>
        </p:spPr>
      </p:pic>
      <p:pic>
        <p:nvPicPr>
          <p:cNvPr id="11" name="Image 9" descr="preencoded.png"/>
          <p:cNvPicPr>
            <a:picLocks noChangeAspect="1"/>
          </p:cNvPicPr>
          <p:nvPr/>
        </p:nvPicPr>
        <p:blipFill>
          <a:blip r:embed="rId6"/>
          <a:stretch>
            <a:fillRect/>
          </a:stretch>
        </p:blipFill>
        <p:spPr>
          <a:xfrm>
            <a:off x="4928616" y="5449824"/>
            <a:ext cx="3959352" cy="1307592"/>
          </a:xfrm>
          <a:prstGeom prst="rect">
            <a:avLst/>
          </a:prstGeom>
        </p:spPr>
      </p:pic>
      <p:pic>
        <p:nvPicPr>
          <p:cNvPr id="12" name="Image 10" descr="preencoded.png"/>
          <p:cNvPicPr>
            <a:picLocks noChangeAspect="1"/>
          </p:cNvPicPr>
          <p:nvPr/>
        </p:nvPicPr>
        <p:blipFill>
          <a:blip r:embed="rId7"/>
          <a:stretch>
            <a:fillRect/>
          </a:stretch>
        </p:blipFill>
        <p:spPr>
          <a:xfrm>
            <a:off x="786384" y="3438144"/>
            <a:ext cx="3959352" cy="146304"/>
          </a:xfrm>
          <a:prstGeom prst="rect">
            <a:avLst/>
          </a:prstGeom>
        </p:spPr>
      </p:pic>
      <p:pic>
        <p:nvPicPr>
          <p:cNvPr id="13" name="Image 11" descr="preencoded.png"/>
          <p:cNvPicPr>
            <a:picLocks noChangeAspect="1"/>
          </p:cNvPicPr>
          <p:nvPr/>
        </p:nvPicPr>
        <p:blipFill>
          <a:blip r:embed="rId7"/>
          <a:stretch>
            <a:fillRect/>
          </a:stretch>
        </p:blipFill>
        <p:spPr>
          <a:xfrm>
            <a:off x="786384" y="5340096"/>
            <a:ext cx="3959352" cy="146304"/>
          </a:xfrm>
          <a:prstGeom prst="rect">
            <a:avLst/>
          </a:prstGeom>
        </p:spPr>
      </p:pic>
      <p:pic>
        <p:nvPicPr>
          <p:cNvPr id="14" name="Image 12" descr="preencoded.png"/>
          <p:cNvPicPr>
            <a:picLocks noChangeAspect="1"/>
          </p:cNvPicPr>
          <p:nvPr/>
        </p:nvPicPr>
        <p:blipFill>
          <a:blip r:embed="rId7"/>
          <a:stretch>
            <a:fillRect/>
          </a:stretch>
        </p:blipFill>
        <p:spPr>
          <a:xfrm>
            <a:off x="4928616" y="3438144"/>
            <a:ext cx="3959352" cy="146304"/>
          </a:xfrm>
          <a:prstGeom prst="rect">
            <a:avLst/>
          </a:prstGeom>
        </p:spPr>
      </p:pic>
      <p:pic>
        <p:nvPicPr>
          <p:cNvPr id="15" name="Image 13" descr="preencoded.png"/>
          <p:cNvPicPr>
            <a:picLocks noChangeAspect="1"/>
          </p:cNvPicPr>
          <p:nvPr/>
        </p:nvPicPr>
        <p:blipFill>
          <a:blip r:embed="rId7"/>
          <a:stretch>
            <a:fillRect/>
          </a:stretch>
        </p:blipFill>
        <p:spPr>
          <a:xfrm>
            <a:off x="4928616" y="5340096"/>
            <a:ext cx="3959352" cy="146304"/>
          </a:xfrm>
          <a:prstGeom prst="rect">
            <a:avLst/>
          </a:prstGeom>
        </p:spPr>
      </p:pic>
      <p:pic>
        <p:nvPicPr>
          <p:cNvPr id="16" name="Image 14" descr="preencoded.png"/>
          <p:cNvPicPr>
            <a:picLocks noChangeAspect="1"/>
          </p:cNvPicPr>
          <p:nvPr/>
        </p:nvPicPr>
        <p:blipFill>
          <a:blip r:embed="rId8"/>
          <a:stretch>
            <a:fillRect/>
          </a:stretch>
        </p:blipFill>
        <p:spPr>
          <a:xfrm>
            <a:off x="2414016" y="3172968"/>
            <a:ext cx="685800" cy="685800"/>
          </a:xfrm>
          <a:prstGeom prst="rect">
            <a:avLst/>
          </a:prstGeom>
        </p:spPr>
      </p:pic>
      <p:pic>
        <p:nvPicPr>
          <p:cNvPr id="17" name="Image 15" descr="preencoded.png"/>
          <p:cNvPicPr>
            <a:picLocks noChangeAspect="1"/>
          </p:cNvPicPr>
          <p:nvPr/>
        </p:nvPicPr>
        <p:blipFill>
          <a:blip r:embed="rId8"/>
          <a:stretch>
            <a:fillRect/>
          </a:stretch>
        </p:blipFill>
        <p:spPr>
          <a:xfrm>
            <a:off x="2414016" y="5074920"/>
            <a:ext cx="685800" cy="685800"/>
          </a:xfrm>
          <a:prstGeom prst="rect">
            <a:avLst/>
          </a:prstGeom>
        </p:spPr>
      </p:pic>
      <p:pic>
        <p:nvPicPr>
          <p:cNvPr id="18" name="Image 16" descr="preencoded.png"/>
          <p:cNvPicPr>
            <a:picLocks noChangeAspect="1"/>
          </p:cNvPicPr>
          <p:nvPr/>
        </p:nvPicPr>
        <p:blipFill>
          <a:blip r:embed="rId8"/>
          <a:stretch>
            <a:fillRect/>
          </a:stretch>
        </p:blipFill>
        <p:spPr>
          <a:xfrm>
            <a:off x="6565392" y="3172968"/>
            <a:ext cx="685800" cy="685800"/>
          </a:xfrm>
          <a:prstGeom prst="rect">
            <a:avLst/>
          </a:prstGeom>
        </p:spPr>
      </p:pic>
      <p:pic>
        <p:nvPicPr>
          <p:cNvPr id="19" name="Image 17" descr="preencoded.png"/>
          <p:cNvPicPr>
            <a:picLocks noChangeAspect="1"/>
          </p:cNvPicPr>
          <p:nvPr/>
        </p:nvPicPr>
        <p:blipFill>
          <a:blip r:embed="rId8"/>
          <a:stretch>
            <a:fillRect/>
          </a:stretch>
        </p:blipFill>
        <p:spPr>
          <a:xfrm>
            <a:off x="6565392" y="5074920"/>
            <a:ext cx="685800" cy="685800"/>
          </a:xfrm>
          <a:prstGeom prst="rect">
            <a:avLst/>
          </a:prstGeom>
        </p:spPr>
      </p:pic>
      <p:sp>
        <p:nvSpPr>
          <p:cNvPr id="20" name="Text 0"/>
          <p:cNvSpPr/>
          <p:nvPr/>
        </p:nvSpPr>
        <p:spPr>
          <a:xfrm>
            <a:off x="795528" y="1499616"/>
            <a:ext cx="8074152" cy="1417320"/>
          </a:xfrm>
          <a:prstGeom prst="rect">
            <a:avLst/>
          </a:prstGeom>
          <a:noFill/>
          <a:ln/>
        </p:spPr>
        <p:txBody>
          <a:bodyPr wrap="square" lIns="0" tIns="0" rIns="0" bIns="0" rtlCol="0" anchor="ctr"/>
          <a:lstStyle/>
          <a:p>
            <a:pPr marL="0" indent="0" algn="l">
              <a:lnSpc>
                <a:spcPts val="5580"/>
              </a:lnSpc>
              <a:buNone/>
            </a:pPr>
            <a:r>
              <a:rPr lang="en-US" sz="4460" dirty="0">
                <a:solidFill>
                  <a:srgbClr val="77D8F2"/>
                </a:solidFill>
                <a:latin typeface="AlibabaPuHuiTi-Alibaba-PuHuiTi" pitchFamily="34" charset="0"/>
                <a:ea typeface="AlibabaPuHuiTi-Alibaba-PuHuiTi" pitchFamily="34" charset="-122"/>
                <a:cs typeface="AlibabaPuHuiTi-Alibaba-PuHuiTi" pitchFamily="34" charset="-120"/>
              </a:rPr>
              <a:t>12. Limitations of AWS Lambda</a:t>
            </a:r>
            <a:endParaRPr lang="en-US" sz="4460" dirty="0"/>
          </a:p>
        </p:txBody>
      </p:sp>
      <p:sp>
        <p:nvSpPr>
          <p:cNvPr id="21" name="Text 1"/>
          <p:cNvSpPr/>
          <p:nvPr/>
        </p:nvSpPr>
        <p:spPr>
          <a:xfrm>
            <a:off x="1042416" y="3922776"/>
            <a:ext cx="3438144" cy="685800"/>
          </a:xfrm>
          <a:prstGeom prst="rect">
            <a:avLst/>
          </a:prstGeom>
          <a:noFill/>
          <a:ln/>
        </p:spPr>
        <p:txBody>
          <a:bodyPr wrap="square" lIns="0" tIns="0" rIns="0" bIns="0" rtlCol="0" anchor="ctr"/>
          <a:lstStyle/>
          <a:p>
            <a:pPr marL="0" indent="0" algn="l">
              <a:lnSpc>
                <a:spcPts val="2230"/>
              </a:lnSpc>
              <a:buNone/>
            </a:pPr>
            <a:r>
              <a:rPr lang="en-US" sz="1780" dirty="0">
                <a:solidFill>
                  <a:srgbClr val="DBDBDB"/>
                </a:solidFill>
                <a:latin typeface="思源黑体-思源黑体-Medium" pitchFamily="34" charset="0"/>
                <a:ea typeface="思源黑体-思源黑体-Medium" pitchFamily="34" charset="-122"/>
                <a:cs typeface="思源黑体-思源黑体-Medium" pitchFamily="34" charset="-120"/>
              </a:rPr>
              <a:t>Execution time limit: Maximum of 15 minutes per function.</a:t>
            </a:r>
            <a:endParaRPr lang="en-US" sz="1780" dirty="0"/>
          </a:p>
        </p:txBody>
      </p:sp>
      <p:sp>
        <p:nvSpPr>
          <p:cNvPr id="22" name="Text 2"/>
          <p:cNvSpPr/>
          <p:nvPr/>
        </p:nvSpPr>
        <p:spPr>
          <a:xfrm>
            <a:off x="2679192" y="3328416"/>
            <a:ext cx="164592" cy="374904"/>
          </a:xfrm>
          <a:prstGeom prst="rect">
            <a:avLst/>
          </a:prstGeom>
          <a:noFill/>
          <a:ln/>
        </p:spPr>
        <p:txBody>
          <a:bodyPr wrap="none" lIns="0" tIns="0" rIns="0" bIns="0" rtlCol="0" anchor="ctr"/>
          <a:lstStyle/>
          <a:p>
            <a:pPr marL="0" indent="0" algn="l">
              <a:lnSpc>
                <a:spcPts val="2570"/>
              </a:lnSpc>
              <a:buNone/>
            </a:pPr>
            <a:r>
              <a:rPr lang="en-US" sz="2140" dirty="0">
                <a:solidFill>
                  <a:srgbClr val="050505"/>
                </a:solidFill>
                <a:latin typeface="思源黑体-思源黑体-Medium" pitchFamily="34" charset="0"/>
                <a:ea typeface="思源黑体-思源黑体-Medium" pitchFamily="34" charset="-122"/>
                <a:cs typeface="思源黑体-思源黑体-Medium" pitchFamily="34" charset="-120"/>
              </a:rPr>
              <a:t>1</a:t>
            </a:r>
            <a:endParaRPr lang="en-US" sz="2140" dirty="0"/>
          </a:p>
        </p:txBody>
      </p:sp>
      <p:sp>
        <p:nvSpPr>
          <p:cNvPr id="23" name="Text 3"/>
          <p:cNvSpPr/>
          <p:nvPr/>
        </p:nvSpPr>
        <p:spPr>
          <a:xfrm>
            <a:off x="2679192" y="5221224"/>
            <a:ext cx="164592" cy="374904"/>
          </a:xfrm>
          <a:prstGeom prst="rect">
            <a:avLst/>
          </a:prstGeom>
          <a:noFill/>
          <a:ln/>
        </p:spPr>
        <p:txBody>
          <a:bodyPr wrap="none" lIns="0" tIns="0" rIns="0" bIns="0" rtlCol="0" anchor="ctr"/>
          <a:lstStyle/>
          <a:p>
            <a:pPr marL="0" indent="0" algn="l">
              <a:lnSpc>
                <a:spcPts val="2570"/>
              </a:lnSpc>
              <a:buNone/>
            </a:pPr>
            <a:r>
              <a:rPr lang="en-US" sz="2140" dirty="0">
                <a:solidFill>
                  <a:srgbClr val="050505"/>
                </a:solidFill>
                <a:latin typeface="思源黑体-思源黑体-Medium" pitchFamily="34" charset="0"/>
                <a:ea typeface="思源黑体-思源黑体-Medium" pitchFamily="34" charset="-122"/>
                <a:cs typeface="思源黑体-思源黑体-Medium" pitchFamily="34" charset="-120"/>
              </a:rPr>
              <a:t>3</a:t>
            </a:r>
            <a:endParaRPr lang="en-US" sz="2140" dirty="0"/>
          </a:p>
        </p:txBody>
      </p:sp>
      <p:sp>
        <p:nvSpPr>
          <p:cNvPr id="24" name="Text 4"/>
          <p:cNvSpPr/>
          <p:nvPr/>
        </p:nvSpPr>
        <p:spPr>
          <a:xfrm>
            <a:off x="1042416" y="5824728"/>
            <a:ext cx="3438144" cy="685800"/>
          </a:xfrm>
          <a:prstGeom prst="rect">
            <a:avLst/>
          </a:prstGeom>
          <a:noFill/>
          <a:ln/>
        </p:spPr>
        <p:txBody>
          <a:bodyPr wrap="square" lIns="0" tIns="0" rIns="0" bIns="0" rtlCol="0" anchor="ctr"/>
          <a:lstStyle/>
          <a:p>
            <a:pPr marL="0" indent="0" algn="l">
              <a:lnSpc>
                <a:spcPts val="2230"/>
              </a:lnSpc>
              <a:buNone/>
            </a:pPr>
            <a:r>
              <a:rPr lang="en-US" sz="1780" dirty="0">
                <a:solidFill>
                  <a:srgbClr val="DBDBDB"/>
                </a:solidFill>
                <a:latin typeface="思源黑体-思源黑体-Medium" pitchFamily="34" charset="0"/>
                <a:ea typeface="思源黑体-思源黑体-Medium" pitchFamily="34" charset="-122"/>
                <a:cs typeface="思源黑体-思源黑体-Medium" pitchFamily="34" charset="-120"/>
              </a:rPr>
              <a:t>Limited temporary storage: Only 512 MB available.</a:t>
            </a:r>
            <a:endParaRPr lang="en-US" sz="1780" dirty="0"/>
          </a:p>
        </p:txBody>
      </p:sp>
      <p:sp>
        <p:nvSpPr>
          <p:cNvPr id="25" name="Text 5"/>
          <p:cNvSpPr/>
          <p:nvPr/>
        </p:nvSpPr>
        <p:spPr>
          <a:xfrm>
            <a:off x="5184648" y="3922776"/>
            <a:ext cx="3438144" cy="685800"/>
          </a:xfrm>
          <a:prstGeom prst="rect">
            <a:avLst/>
          </a:prstGeom>
          <a:noFill/>
          <a:ln/>
        </p:spPr>
        <p:txBody>
          <a:bodyPr wrap="square" lIns="0" tIns="0" rIns="0" bIns="0" rtlCol="0" anchor="ctr"/>
          <a:lstStyle/>
          <a:p>
            <a:pPr marL="0" indent="0" algn="l">
              <a:lnSpc>
                <a:spcPts val="2230"/>
              </a:lnSpc>
              <a:buNone/>
            </a:pPr>
            <a:r>
              <a:rPr lang="en-US" sz="1780" dirty="0">
                <a:solidFill>
                  <a:srgbClr val="DBDBDB"/>
                </a:solidFill>
                <a:latin typeface="思源黑体-思源黑体-Medium" pitchFamily="34" charset="0"/>
                <a:ea typeface="思源黑体-思源黑体-Medium" pitchFamily="34" charset="-122"/>
                <a:cs typeface="思源黑体-思源黑体-Medium" pitchFamily="34" charset="-120"/>
              </a:rPr>
              <a:t>Cold start delay: The first run may be slower.</a:t>
            </a:r>
            <a:endParaRPr lang="en-US" sz="1780" dirty="0"/>
          </a:p>
        </p:txBody>
      </p:sp>
      <p:sp>
        <p:nvSpPr>
          <p:cNvPr id="26" name="Text 6"/>
          <p:cNvSpPr/>
          <p:nvPr/>
        </p:nvSpPr>
        <p:spPr>
          <a:xfrm>
            <a:off x="6830568" y="3328416"/>
            <a:ext cx="164592" cy="374904"/>
          </a:xfrm>
          <a:prstGeom prst="rect">
            <a:avLst/>
          </a:prstGeom>
          <a:noFill/>
          <a:ln/>
        </p:spPr>
        <p:txBody>
          <a:bodyPr wrap="none" lIns="0" tIns="0" rIns="0" bIns="0" rtlCol="0" anchor="ctr"/>
          <a:lstStyle/>
          <a:p>
            <a:pPr marL="0" indent="0" algn="l">
              <a:lnSpc>
                <a:spcPts val="2570"/>
              </a:lnSpc>
              <a:buNone/>
            </a:pPr>
            <a:r>
              <a:rPr lang="en-US" sz="2140" dirty="0">
                <a:solidFill>
                  <a:srgbClr val="050505"/>
                </a:solidFill>
                <a:latin typeface="思源黑体-思源黑体-Medium" pitchFamily="34" charset="0"/>
                <a:ea typeface="思源黑体-思源黑体-Medium" pitchFamily="34" charset="-122"/>
                <a:cs typeface="思源黑体-思源黑体-Medium" pitchFamily="34" charset="-120"/>
              </a:rPr>
              <a:t>2</a:t>
            </a:r>
            <a:endParaRPr lang="en-US" sz="2140" dirty="0"/>
          </a:p>
        </p:txBody>
      </p:sp>
      <p:sp>
        <p:nvSpPr>
          <p:cNvPr id="27" name="Text 7"/>
          <p:cNvSpPr/>
          <p:nvPr/>
        </p:nvSpPr>
        <p:spPr>
          <a:xfrm>
            <a:off x="5184648" y="5824728"/>
            <a:ext cx="3438144" cy="685800"/>
          </a:xfrm>
          <a:prstGeom prst="rect">
            <a:avLst/>
          </a:prstGeom>
          <a:noFill/>
          <a:ln/>
        </p:spPr>
        <p:txBody>
          <a:bodyPr wrap="square" lIns="0" tIns="0" rIns="0" bIns="0" rtlCol="0" anchor="ctr"/>
          <a:lstStyle/>
          <a:p>
            <a:pPr marL="0" indent="0" algn="l">
              <a:lnSpc>
                <a:spcPts val="2230"/>
              </a:lnSpc>
              <a:buNone/>
            </a:pPr>
            <a:r>
              <a:rPr lang="en-US" sz="1780" dirty="0">
                <a:solidFill>
                  <a:srgbClr val="DBDBDB"/>
                </a:solidFill>
                <a:latin typeface="思源黑体-思源黑体-Medium" pitchFamily="34" charset="0"/>
                <a:ea typeface="思源黑体-思源黑体-Medium" pitchFamily="34" charset="-122"/>
                <a:cs typeface="思源黑体-思源黑体-Medium" pitchFamily="34" charset="-120"/>
              </a:rPr>
              <a:t>Not suitable for long-running tasks.</a:t>
            </a:r>
            <a:endParaRPr lang="en-US" sz="1780" dirty="0"/>
          </a:p>
        </p:txBody>
      </p:sp>
      <p:sp>
        <p:nvSpPr>
          <p:cNvPr id="28" name="Text 8"/>
          <p:cNvSpPr/>
          <p:nvPr/>
        </p:nvSpPr>
        <p:spPr>
          <a:xfrm>
            <a:off x="6830568" y="5221224"/>
            <a:ext cx="164592" cy="374904"/>
          </a:xfrm>
          <a:prstGeom prst="rect">
            <a:avLst/>
          </a:prstGeom>
          <a:noFill/>
          <a:ln/>
        </p:spPr>
        <p:txBody>
          <a:bodyPr wrap="none" lIns="0" tIns="0" rIns="0" bIns="0" rtlCol="0" anchor="ctr"/>
          <a:lstStyle/>
          <a:p>
            <a:pPr marL="0" indent="0" algn="l">
              <a:lnSpc>
                <a:spcPts val="2570"/>
              </a:lnSpc>
              <a:buNone/>
            </a:pPr>
            <a:r>
              <a:rPr lang="en-US" sz="2140" dirty="0">
                <a:solidFill>
                  <a:srgbClr val="050505"/>
                </a:solidFill>
                <a:latin typeface="思源黑体-思源黑体-Medium" pitchFamily="34" charset="0"/>
                <a:ea typeface="思源黑体-思源黑体-Medium" pitchFamily="34" charset="-122"/>
                <a:cs typeface="思源黑体-思源黑体-Medium" pitchFamily="34" charset="-120"/>
              </a:rPr>
              <a:t>4</a:t>
            </a:r>
            <a:endParaRPr lang="en-US" sz="214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4630400" cy="8238744"/>
          </a:xfrm>
          <a:prstGeom prst="rect">
            <a:avLst/>
          </a:prstGeom>
        </p:spPr>
      </p:pic>
      <p:pic>
        <p:nvPicPr>
          <p:cNvPr id="3" name="Image 1" descr="preencoded.png"/>
          <p:cNvPicPr>
            <a:picLocks noChangeAspect="1"/>
          </p:cNvPicPr>
          <p:nvPr/>
        </p:nvPicPr>
        <p:blipFill>
          <a:blip r:embed="rId4"/>
          <a:stretch>
            <a:fillRect/>
          </a:stretch>
        </p:blipFill>
        <p:spPr>
          <a:xfrm>
            <a:off x="9409176" y="0"/>
            <a:ext cx="5230368" cy="8238744"/>
          </a:xfrm>
          <a:prstGeom prst="rect">
            <a:avLst/>
          </a:prstGeom>
        </p:spPr>
      </p:pic>
      <p:sp>
        <p:nvSpPr>
          <p:cNvPr id="4" name="Text 0"/>
          <p:cNvSpPr/>
          <p:nvPr/>
        </p:nvSpPr>
        <p:spPr>
          <a:xfrm>
            <a:off x="795528" y="2121408"/>
            <a:ext cx="8074152" cy="713232"/>
          </a:xfrm>
          <a:prstGeom prst="rect">
            <a:avLst/>
          </a:prstGeom>
          <a:noFill/>
          <a:ln/>
        </p:spPr>
        <p:txBody>
          <a:bodyPr wrap="none" lIns="0" tIns="0" rIns="0" bIns="0" rtlCol="0" anchor="ctr"/>
          <a:lstStyle/>
          <a:p>
            <a:pPr marL="0" indent="0" algn="l">
              <a:lnSpc>
                <a:spcPts val="5580"/>
              </a:lnSpc>
              <a:buNone/>
            </a:pPr>
            <a:r>
              <a:rPr lang="en-US" sz="4460" dirty="0">
                <a:solidFill>
                  <a:srgbClr val="77D8F2"/>
                </a:solidFill>
                <a:latin typeface="AlibabaPuHuiTi-Alibaba-PuHuiTi" pitchFamily="34" charset="0"/>
                <a:ea typeface="AlibabaPuHuiTi-Alibaba-PuHuiTi" pitchFamily="34" charset="-122"/>
                <a:cs typeface="AlibabaPuHuiTi-Alibaba-PuHuiTi" pitchFamily="34" charset="-120"/>
              </a:rPr>
              <a:t>13. Summary &amp; Q&amp;A</a:t>
            </a:r>
            <a:endParaRPr lang="en-US" sz="4460" dirty="0"/>
          </a:p>
        </p:txBody>
      </p:sp>
      <p:sp>
        <p:nvSpPr>
          <p:cNvPr id="5" name="Text 1"/>
          <p:cNvSpPr/>
          <p:nvPr/>
        </p:nvSpPr>
        <p:spPr>
          <a:xfrm>
            <a:off x="795528" y="3090672"/>
            <a:ext cx="8074152" cy="576072"/>
          </a:xfrm>
          <a:prstGeom prst="rect">
            <a:avLst/>
          </a:prstGeom>
          <a:noFill/>
          <a:ln/>
        </p:spPr>
        <p:txBody>
          <a:bodyPr wrap="none" lIns="0" tIns="0" rIns="0" bIns="0" rtlCol="0" anchor="ctr"/>
          <a:lstStyle/>
          <a:p>
            <a:pPr marL="0" indent="0" algn="l">
              <a:lnSpc>
                <a:spcPts val="4460"/>
              </a:lnSpc>
              <a:buNone/>
            </a:pPr>
            <a:r>
              <a:rPr lang="en-US" sz="3570" dirty="0">
                <a:solidFill>
                  <a:srgbClr val="77D8F2"/>
                </a:solidFill>
                <a:latin typeface="AlibabaPuHuiTi-Alibaba-PuHuiTi" pitchFamily="34" charset="0"/>
                <a:ea typeface="AlibabaPuHuiTi-Alibaba-PuHuiTi" pitchFamily="34" charset="-122"/>
                <a:cs typeface="AlibabaPuHuiTi-Alibaba-PuHuiTi" pitchFamily="34" charset="-120"/>
              </a:rPr>
              <a:t>Summary</a:t>
            </a:r>
            <a:endParaRPr lang="en-US" sz="3570" dirty="0"/>
          </a:p>
        </p:txBody>
      </p:sp>
      <p:sp>
        <p:nvSpPr>
          <p:cNvPr id="6" name="Text 2"/>
          <p:cNvSpPr/>
          <p:nvPr/>
        </p:nvSpPr>
        <p:spPr>
          <a:xfrm>
            <a:off x="795528" y="3904488"/>
            <a:ext cx="8074152" cy="1024128"/>
          </a:xfrm>
          <a:prstGeom prst="rect">
            <a:avLst/>
          </a:prstGeom>
          <a:noFill/>
          <a:ln/>
        </p:spPr>
        <p:txBody>
          <a:bodyPr wrap="square" lIns="0" tIns="0" rIns="0" bIns="0" rtlCol="0" anchor="ctr"/>
          <a:lstStyle/>
          <a:p>
            <a:pPr marL="0" indent="0" algn="l">
              <a:lnSpc>
                <a:spcPts val="2230"/>
              </a:lnSpc>
              <a:buNone/>
            </a:pPr>
            <a:r>
              <a:rPr lang="en-US" sz="1780" dirty="0">
                <a:solidFill>
                  <a:srgbClr val="DBDBDB"/>
                </a:solidFill>
                <a:latin typeface="思源黑体-思源黑体-Medium" pitchFamily="34" charset="0"/>
                <a:ea typeface="思源黑体-思源黑体-Medium" pitchFamily="34" charset="-122"/>
                <a:cs typeface="思源黑体-思源黑体-Medium" pitchFamily="34" charset="-120"/>
              </a:rPr>
              <a:t>AWS Lambda is a serverless compute service that runs code in response to events. It is scalable, cost-effective, and event-driven, commonly used for backend logic, data processing, and automation.</a:t>
            </a:r>
            <a:endParaRPr lang="en-US" sz="1780" dirty="0"/>
          </a:p>
        </p:txBody>
      </p:sp>
      <p:sp>
        <p:nvSpPr>
          <p:cNvPr id="7" name="Text 3"/>
          <p:cNvSpPr/>
          <p:nvPr/>
        </p:nvSpPr>
        <p:spPr>
          <a:xfrm>
            <a:off x="795528" y="5184648"/>
            <a:ext cx="8074152" cy="685800"/>
          </a:xfrm>
          <a:prstGeom prst="rect">
            <a:avLst/>
          </a:prstGeom>
          <a:noFill/>
          <a:ln/>
        </p:spPr>
        <p:txBody>
          <a:bodyPr wrap="square" lIns="0" tIns="0" rIns="0" bIns="0" rtlCol="0" anchor="ctr"/>
          <a:lstStyle/>
          <a:p>
            <a:pPr marL="0" indent="0" algn="l">
              <a:lnSpc>
                <a:spcPts val="2230"/>
              </a:lnSpc>
              <a:buNone/>
            </a:pPr>
            <a:r>
              <a:rPr lang="en-US" sz="1780" dirty="0">
                <a:solidFill>
                  <a:srgbClr val="DBDBDB"/>
                </a:solidFill>
                <a:latin typeface="思源黑体-思源黑体-Medium" pitchFamily="34" charset="0"/>
                <a:ea typeface="思源黑体-思源黑体-Medium" pitchFamily="34" charset="-122"/>
                <a:cs typeface="思源黑体-思源黑体-Medium" pitchFamily="34" charset="-120"/>
              </a:rPr>
              <a:t>Thank you!</a:t>
            </a:r>
            <a:endParaRPr lang="en-US" sz="1780" dirty="0"/>
          </a:p>
          <a:p>
            <a:pPr marL="0" indent="0" algn="l">
              <a:lnSpc>
                <a:spcPts val="2230"/>
              </a:lnSpc>
              <a:buNone/>
            </a:pPr>
            <a:r>
              <a:rPr lang="en-US" sz="1780" dirty="0">
                <a:solidFill>
                  <a:srgbClr val="DBDBDB"/>
                </a:solidFill>
                <a:latin typeface="思源黑体-思源黑体-Medium" pitchFamily="34" charset="0"/>
                <a:ea typeface="思源黑体-思源黑体-Medium" pitchFamily="34" charset="-122"/>
                <a:cs typeface="思源黑体-思源黑体-Medium" pitchFamily="34" charset="-120"/>
              </a:rPr>
              <a:t>Questions? 💬</a:t>
            </a:r>
            <a:endParaRPr lang="en-US" sz="178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4630400" cy="8238744"/>
          </a:xfrm>
          <a:prstGeom prst="rect">
            <a:avLst/>
          </a:prstGeom>
        </p:spPr>
      </p:pic>
      <p:pic>
        <p:nvPicPr>
          <p:cNvPr id="3" name="Image 1" descr="preencoded.png"/>
          <p:cNvPicPr>
            <a:picLocks noChangeAspect="1"/>
          </p:cNvPicPr>
          <p:nvPr/>
        </p:nvPicPr>
        <p:blipFill>
          <a:blip r:embed="rId4"/>
          <a:stretch>
            <a:fillRect/>
          </a:stretch>
        </p:blipFill>
        <p:spPr>
          <a:xfrm>
            <a:off x="0" y="0"/>
            <a:ext cx="14630400" cy="8238744"/>
          </a:xfrm>
          <a:prstGeom prst="rect">
            <a:avLst/>
          </a:prstGeom>
        </p:spPr>
      </p:pic>
      <p:sp>
        <p:nvSpPr>
          <p:cNvPr id="4" name="Text 0"/>
          <p:cNvSpPr/>
          <p:nvPr/>
        </p:nvSpPr>
        <p:spPr>
          <a:xfrm>
            <a:off x="795528" y="3502152"/>
            <a:ext cx="13048488" cy="978408"/>
          </a:xfrm>
          <a:prstGeom prst="rect">
            <a:avLst/>
          </a:prstGeom>
          <a:noFill/>
          <a:ln/>
        </p:spPr>
        <p:txBody>
          <a:bodyPr wrap="none" lIns="0" tIns="0" rIns="0" bIns="0" rtlCol="0" anchor="ctr"/>
          <a:lstStyle/>
          <a:p>
            <a:pPr marL="0" indent="0" algn="ctr">
              <a:lnSpc>
                <a:spcPts val="7700"/>
              </a:lnSpc>
              <a:buNone/>
            </a:pPr>
            <a:r>
              <a:rPr lang="en-US" sz="6160" dirty="0">
                <a:solidFill>
                  <a:srgbClr val="77D8F2"/>
                </a:solidFill>
                <a:latin typeface="AlibabaPuHuiTi-Alibaba-PuHuiTi" pitchFamily="34" charset="0"/>
                <a:ea typeface="AlibabaPuHuiTi-Alibaba-PuHuiTi" pitchFamily="34" charset="-122"/>
                <a:cs typeface="AlibabaPuHuiTi-Alibaba-PuHuiTi" pitchFamily="34" charset="-120"/>
              </a:rPr>
              <a:t>Thank You</a:t>
            </a:r>
            <a:endParaRPr lang="en-US" sz="616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839</Words>
  <Application>Microsoft Office PowerPoint</Application>
  <PresentationFormat>Custom</PresentationFormat>
  <Paragraphs>160</Paragraphs>
  <Slides>17</Slides>
  <Notes>17</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17</vt:i4>
      </vt:variant>
    </vt:vector>
  </HeadingPairs>
  <TitlesOfParts>
    <vt:vector size="21" baseType="lpstr">
      <vt:lpstr>AlibabaPuHuiTi-Alibaba-PuHuiTi</vt:lpstr>
      <vt:lpstr>Arial</vt:lpstr>
      <vt:lpstr>思源黑体-思源黑体-Medium</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Mukesh S</cp:lastModifiedBy>
  <cp:revision>2</cp:revision>
  <dcterms:created xsi:type="dcterms:W3CDTF">2025-11-04T16:56:19Z</dcterms:created>
  <dcterms:modified xsi:type="dcterms:W3CDTF">2025-11-04T16:56:51Z</dcterms:modified>
</cp:coreProperties>
</file>