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78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15584"/>
            <a:ext cx="13048488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099048"/>
            <a:ext cx="457200" cy="6400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2456" y="6099048"/>
            <a:ext cx="235000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Author: Gowtham</a:t>
            </a:r>
            <a:endParaRPr lang="en-US" sz="2230" dirty="0"/>
          </a:p>
        </p:txBody>
      </p:sp>
      <p:sp>
        <p:nvSpPr>
          <p:cNvPr id="7" name="Text 1"/>
          <p:cNvSpPr/>
          <p:nvPr/>
        </p:nvSpPr>
        <p:spPr>
          <a:xfrm>
            <a:off x="1362456" y="6492240"/>
            <a:ext cx="23500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70"/>
              </a:lnSpc>
              <a:buNone/>
            </a:pPr>
            <a:endParaRPr lang="en-US" sz="1330" dirty="0"/>
          </a:p>
        </p:txBody>
      </p:sp>
      <p:sp>
        <p:nvSpPr>
          <p:cNvPr id="8" name="Text 2"/>
          <p:cNvSpPr/>
          <p:nvPr/>
        </p:nvSpPr>
        <p:spPr>
          <a:xfrm>
            <a:off x="795528" y="3602736"/>
            <a:ext cx="130484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AWS Web Application Firewall (WAF)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658368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CONTENTS</a:t>
            </a:r>
            <a:endParaRPr lang="en-US" sz="6160" dirty="0"/>
          </a:p>
        </p:txBody>
      </p:sp>
      <p:sp>
        <p:nvSpPr>
          <p:cNvPr id="5" name="Text 1"/>
          <p:cNvSpPr/>
          <p:nvPr/>
        </p:nvSpPr>
        <p:spPr>
          <a:xfrm>
            <a:off x="1024128" y="212140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What is AWS WAF?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1024128" y="3867912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Supported AWS Services</a:t>
            </a:r>
            <a:endParaRPr lang="en-US" sz="2230" dirty="0"/>
          </a:p>
        </p:txBody>
      </p:sp>
      <p:sp>
        <p:nvSpPr>
          <p:cNvPr id="7" name="Text 3"/>
          <p:cNvSpPr/>
          <p:nvPr/>
        </p:nvSpPr>
        <p:spPr>
          <a:xfrm>
            <a:off x="4343400" y="2121408"/>
            <a:ext cx="26426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Why Do We Need a Web Application Firewall?</a:t>
            </a:r>
            <a:endParaRPr lang="en-US" sz="2230" dirty="0"/>
          </a:p>
        </p:txBody>
      </p:sp>
      <p:sp>
        <p:nvSpPr>
          <p:cNvPr id="8" name="Text 4"/>
          <p:cNvSpPr/>
          <p:nvPr/>
        </p:nvSpPr>
        <p:spPr>
          <a:xfrm>
            <a:off x="1024128" y="5257800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Logging and Monitoring</a:t>
            </a:r>
            <a:endParaRPr lang="en-US" sz="2230" dirty="0"/>
          </a:p>
        </p:txBody>
      </p:sp>
      <p:sp>
        <p:nvSpPr>
          <p:cNvPr id="9" name="Text 5"/>
          <p:cNvSpPr/>
          <p:nvPr/>
        </p:nvSpPr>
        <p:spPr>
          <a:xfrm>
            <a:off x="4343400" y="3867912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Rule Types in AWS WAF</a:t>
            </a:r>
            <a:endParaRPr lang="en-US" sz="2230" dirty="0"/>
          </a:p>
        </p:txBody>
      </p:sp>
      <p:sp>
        <p:nvSpPr>
          <p:cNvPr id="10" name="Text 6"/>
          <p:cNvSpPr/>
          <p:nvPr/>
        </p:nvSpPr>
        <p:spPr>
          <a:xfrm>
            <a:off x="1024128" y="664768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Real-World Use Cases</a:t>
            </a:r>
            <a:endParaRPr lang="en-US" sz="2230" dirty="0"/>
          </a:p>
        </p:txBody>
      </p:sp>
      <p:sp>
        <p:nvSpPr>
          <p:cNvPr id="11" name="Text 7"/>
          <p:cNvSpPr/>
          <p:nvPr/>
        </p:nvSpPr>
        <p:spPr>
          <a:xfrm>
            <a:off x="4343400" y="5257800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Automation with AWS WAF</a:t>
            </a:r>
            <a:endParaRPr lang="en-US" sz="2230" dirty="0"/>
          </a:p>
        </p:txBody>
      </p:sp>
      <p:sp>
        <p:nvSpPr>
          <p:cNvPr id="12" name="Text 8"/>
          <p:cNvSpPr/>
          <p:nvPr/>
        </p:nvSpPr>
        <p:spPr>
          <a:xfrm>
            <a:off x="4343400" y="664768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Summary &amp; Q&amp;A</a:t>
            </a:r>
            <a:endParaRPr lang="en-US" sz="2230" dirty="0"/>
          </a:p>
        </p:txBody>
      </p:sp>
      <p:sp>
        <p:nvSpPr>
          <p:cNvPr id="13" name="Text 9"/>
          <p:cNvSpPr/>
          <p:nvPr/>
        </p:nvSpPr>
        <p:spPr>
          <a:xfrm>
            <a:off x="7662672" y="212140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Key Components of AWS WAF</a:t>
            </a:r>
            <a:endParaRPr lang="en-US" sz="2230" dirty="0"/>
          </a:p>
        </p:txBody>
      </p:sp>
      <p:sp>
        <p:nvSpPr>
          <p:cNvPr id="14" name="Text 10"/>
          <p:cNvSpPr/>
          <p:nvPr/>
        </p:nvSpPr>
        <p:spPr>
          <a:xfrm>
            <a:off x="7662672" y="3867912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Example Use Case</a:t>
            </a:r>
            <a:endParaRPr lang="en-US" sz="2230" dirty="0"/>
          </a:p>
        </p:txBody>
      </p:sp>
      <p:sp>
        <p:nvSpPr>
          <p:cNvPr id="15" name="Text 11"/>
          <p:cNvSpPr/>
          <p:nvPr/>
        </p:nvSpPr>
        <p:spPr>
          <a:xfrm>
            <a:off x="7662672" y="5257800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Pricing Overview</a:t>
            </a:r>
            <a:endParaRPr lang="en-US" sz="2230" dirty="0"/>
          </a:p>
        </p:txBody>
      </p:sp>
      <p:sp>
        <p:nvSpPr>
          <p:cNvPr id="16" name="Text 12"/>
          <p:cNvSpPr/>
          <p:nvPr/>
        </p:nvSpPr>
        <p:spPr>
          <a:xfrm>
            <a:off x="10972800" y="2121408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How AWS WAF Works</a:t>
            </a:r>
            <a:endParaRPr lang="en-US" sz="2230" dirty="0"/>
          </a:p>
        </p:txBody>
      </p:sp>
      <p:sp>
        <p:nvSpPr>
          <p:cNvPr id="17" name="Text 13"/>
          <p:cNvSpPr/>
          <p:nvPr/>
        </p:nvSpPr>
        <p:spPr>
          <a:xfrm>
            <a:off x="10972800" y="3867912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with AWS Shield</a:t>
            </a:r>
            <a:endParaRPr lang="en-US" sz="2230" dirty="0"/>
          </a:p>
        </p:txBody>
      </p:sp>
      <p:sp>
        <p:nvSpPr>
          <p:cNvPr id="18" name="Text 14"/>
          <p:cNvSpPr/>
          <p:nvPr/>
        </p:nvSpPr>
        <p:spPr>
          <a:xfrm>
            <a:off x="10972800" y="5257800"/>
            <a:ext cx="2642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Advantages of AWS WAF</a:t>
            </a:r>
            <a:endParaRPr lang="en-US" sz="2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2404872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What is AWS WAF?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3374136"/>
            <a:ext cx="8074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WAF is a web application firewall that helps protect web applications from common web exploits.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4306824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filters, monitors, and blocks HTTP(S) requests based on user-defined rules.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4901184"/>
            <a:ext cx="8074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WAF works with Amazon CloudFront, Application Load Balancer (ALB), and API Gateway.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532888"/>
            <a:ext cx="8101584" cy="62179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273552"/>
            <a:ext cx="8101584" cy="62179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014216"/>
            <a:ext cx="8101584" cy="62179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193792"/>
            <a:ext cx="8101584" cy="62179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943600"/>
            <a:ext cx="8101584" cy="62179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684264"/>
            <a:ext cx="8101584" cy="621792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960120"/>
            <a:ext cx="80741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2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Why Do We Need a Web Application Firewall?</a:t>
            </a:r>
            <a:endParaRPr lang="en-US" sz="3120" dirty="0"/>
          </a:p>
        </p:txBody>
      </p:sp>
      <p:sp>
        <p:nvSpPr>
          <p:cNvPr id="11" name="Text 1"/>
          <p:cNvSpPr/>
          <p:nvPr/>
        </p:nvSpPr>
        <p:spPr>
          <a:xfrm>
            <a:off x="795528" y="2130552"/>
            <a:ext cx="807415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Web applications face threats like:</a:t>
            </a:r>
            <a:endParaRPr lang="en-US" sz="1250" dirty="0"/>
          </a:p>
        </p:txBody>
      </p:sp>
      <p:sp>
        <p:nvSpPr>
          <p:cNvPr id="12" name="Text 2"/>
          <p:cNvSpPr/>
          <p:nvPr/>
        </p:nvSpPr>
        <p:spPr>
          <a:xfrm>
            <a:off x="969264" y="2715768"/>
            <a:ext cx="77266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SQL Injection</a:t>
            </a:r>
            <a:endParaRPr lang="en-US" sz="1250" dirty="0"/>
          </a:p>
        </p:txBody>
      </p:sp>
      <p:sp>
        <p:nvSpPr>
          <p:cNvPr id="13" name="Text 3"/>
          <p:cNvSpPr/>
          <p:nvPr/>
        </p:nvSpPr>
        <p:spPr>
          <a:xfrm>
            <a:off x="969264" y="3465576"/>
            <a:ext cx="77266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Cross-Site Scripting (XSS)</a:t>
            </a:r>
            <a:endParaRPr lang="en-US" sz="1250" dirty="0"/>
          </a:p>
        </p:txBody>
      </p:sp>
      <p:sp>
        <p:nvSpPr>
          <p:cNvPr id="14" name="Text 4"/>
          <p:cNvSpPr/>
          <p:nvPr/>
        </p:nvSpPr>
        <p:spPr>
          <a:xfrm>
            <a:off x="969264" y="4206240"/>
            <a:ext cx="77266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Distributed Denial of Service (DDoS)</a:t>
            </a:r>
            <a:endParaRPr lang="en-US" sz="1250" dirty="0"/>
          </a:p>
        </p:txBody>
      </p:sp>
      <p:sp>
        <p:nvSpPr>
          <p:cNvPr id="15" name="Text 5"/>
          <p:cNvSpPr/>
          <p:nvPr/>
        </p:nvSpPr>
        <p:spPr>
          <a:xfrm>
            <a:off x="795528" y="4791456"/>
            <a:ext cx="807415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WAF helps:</a:t>
            </a:r>
            <a:endParaRPr lang="en-US" sz="1250" dirty="0"/>
          </a:p>
        </p:txBody>
      </p:sp>
      <p:sp>
        <p:nvSpPr>
          <p:cNvPr id="16" name="Text 6"/>
          <p:cNvSpPr/>
          <p:nvPr/>
        </p:nvSpPr>
        <p:spPr>
          <a:xfrm>
            <a:off x="969264" y="5385816"/>
            <a:ext cx="77266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Block malicious traffic</a:t>
            </a:r>
            <a:endParaRPr lang="en-US" sz="1250" dirty="0"/>
          </a:p>
        </p:txBody>
      </p:sp>
      <p:sp>
        <p:nvSpPr>
          <p:cNvPr id="17" name="Text 7"/>
          <p:cNvSpPr/>
          <p:nvPr/>
        </p:nvSpPr>
        <p:spPr>
          <a:xfrm>
            <a:off x="969264" y="6126480"/>
            <a:ext cx="77266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Allow legitimate requests</a:t>
            </a:r>
            <a:endParaRPr lang="en-US" sz="1250" dirty="0"/>
          </a:p>
        </p:txBody>
      </p:sp>
      <p:sp>
        <p:nvSpPr>
          <p:cNvPr id="18" name="Text 8"/>
          <p:cNvSpPr/>
          <p:nvPr/>
        </p:nvSpPr>
        <p:spPr>
          <a:xfrm>
            <a:off x="969264" y="6876288"/>
            <a:ext cx="77266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Reduce downtime and data breaches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822192"/>
            <a:ext cx="6473952" cy="17556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715000"/>
            <a:ext cx="6473952" cy="17556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3822192"/>
            <a:ext cx="6473952" cy="17556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5715000"/>
            <a:ext cx="6473952" cy="175564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700016"/>
            <a:ext cx="6071616" cy="67665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6592824"/>
            <a:ext cx="6071616" cy="67665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4700016"/>
            <a:ext cx="6071616" cy="67665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6592824"/>
            <a:ext cx="6071616" cy="67665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4005072"/>
            <a:ext cx="548640" cy="5486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5897880"/>
            <a:ext cx="548640" cy="54864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4005072"/>
            <a:ext cx="548640" cy="5486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5897880"/>
            <a:ext cx="548640" cy="54864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95528" y="3108960"/>
            <a:ext cx="13048488" cy="539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3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Key Components of AWS WAF</a:t>
            </a:r>
            <a:endParaRPr lang="en-US" sz="3340" dirty="0"/>
          </a:p>
        </p:txBody>
      </p:sp>
      <p:sp>
        <p:nvSpPr>
          <p:cNvPr id="17" name="Text 1"/>
          <p:cNvSpPr/>
          <p:nvPr/>
        </p:nvSpPr>
        <p:spPr>
          <a:xfrm>
            <a:off x="1170432" y="4114800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8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987552" y="4700016"/>
            <a:ext cx="60716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67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Web ACL (Access Control List)</a:t>
            </a:r>
            <a:endParaRPr lang="en-US" sz="1670" dirty="0"/>
          </a:p>
        </p:txBody>
      </p:sp>
      <p:sp>
        <p:nvSpPr>
          <p:cNvPr id="19" name="Text 3"/>
          <p:cNvSpPr/>
          <p:nvPr/>
        </p:nvSpPr>
        <p:spPr>
          <a:xfrm>
            <a:off x="987552" y="5120640"/>
            <a:ext cx="60716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Defines security rules for filtering traffic.</a:t>
            </a:r>
            <a:endParaRPr lang="en-US" sz="1330" dirty="0"/>
          </a:p>
        </p:txBody>
      </p:sp>
      <p:sp>
        <p:nvSpPr>
          <p:cNvPr id="20" name="Text 4"/>
          <p:cNvSpPr/>
          <p:nvPr/>
        </p:nvSpPr>
        <p:spPr>
          <a:xfrm>
            <a:off x="1170432" y="6016752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8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5"/>
          <p:cNvSpPr/>
          <p:nvPr/>
        </p:nvSpPr>
        <p:spPr>
          <a:xfrm>
            <a:off x="987552" y="6592824"/>
            <a:ext cx="60716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67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Rule Groups</a:t>
            </a:r>
            <a:endParaRPr lang="en-US" sz="1670" dirty="0"/>
          </a:p>
        </p:txBody>
      </p:sp>
      <p:sp>
        <p:nvSpPr>
          <p:cNvPr id="22" name="Text 6"/>
          <p:cNvSpPr/>
          <p:nvPr/>
        </p:nvSpPr>
        <p:spPr>
          <a:xfrm>
            <a:off x="987552" y="7013448"/>
            <a:ext cx="60716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 collection of reusable rules.</a:t>
            </a:r>
            <a:endParaRPr lang="en-US" sz="1330" dirty="0"/>
          </a:p>
        </p:txBody>
      </p:sp>
      <p:sp>
        <p:nvSpPr>
          <p:cNvPr id="23" name="Text 7"/>
          <p:cNvSpPr/>
          <p:nvPr/>
        </p:nvSpPr>
        <p:spPr>
          <a:xfrm>
            <a:off x="7781544" y="4114800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8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8"/>
          <p:cNvSpPr/>
          <p:nvPr/>
        </p:nvSpPr>
        <p:spPr>
          <a:xfrm>
            <a:off x="7589520" y="4700016"/>
            <a:ext cx="60716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67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Rules</a:t>
            </a:r>
            <a:endParaRPr lang="en-US" sz="1670" dirty="0"/>
          </a:p>
        </p:txBody>
      </p:sp>
      <p:sp>
        <p:nvSpPr>
          <p:cNvPr id="25" name="Text 9"/>
          <p:cNvSpPr/>
          <p:nvPr/>
        </p:nvSpPr>
        <p:spPr>
          <a:xfrm>
            <a:off x="7589520" y="5120640"/>
            <a:ext cx="60716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Each rule specifies a condition (e.g., block SQL injection).</a:t>
            </a:r>
            <a:endParaRPr lang="en-US" sz="1330" dirty="0"/>
          </a:p>
        </p:txBody>
      </p:sp>
      <p:sp>
        <p:nvSpPr>
          <p:cNvPr id="26" name="Text 10"/>
          <p:cNvSpPr/>
          <p:nvPr/>
        </p:nvSpPr>
        <p:spPr>
          <a:xfrm>
            <a:off x="7781544" y="6016752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8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11"/>
          <p:cNvSpPr/>
          <p:nvPr/>
        </p:nvSpPr>
        <p:spPr>
          <a:xfrm>
            <a:off x="7589520" y="6592824"/>
            <a:ext cx="60716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670" dirty="0">
                <a:solidFill>
                  <a:srgbClr val="2E2E2E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Conditions</a:t>
            </a:r>
            <a:endParaRPr lang="en-US" sz="1670" dirty="0"/>
          </a:p>
        </p:txBody>
      </p:sp>
      <p:sp>
        <p:nvSpPr>
          <p:cNvPr id="28" name="Text 12"/>
          <p:cNvSpPr/>
          <p:nvPr/>
        </p:nvSpPr>
        <p:spPr>
          <a:xfrm>
            <a:off x="7589520" y="7013448"/>
            <a:ext cx="60716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Define criteria like IP address, headers, or query strings.</a:t>
            </a:r>
            <a:endParaRPr lang="en-US" sz="13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014216"/>
            <a:ext cx="8101584" cy="8595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065776"/>
            <a:ext cx="8101584" cy="85953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117336"/>
            <a:ext cx="8101584" cy="85953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95528" y="1280160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How AWS WAF Works</a:t>
            </a:r>
            <a:endParaRPr lang="en-US" sz="4460" dirty="0"/>
          </a:p>
        </p:txBody>
      </p:sp>
      <p:sp>
        <p:nvSpPr>
          <p:cNvPr id="8" name="Text 1"/>
          <p:cNvSpPr/>
          <p:nvPr/>
        </p:nvSpPr>
        <p:spPr>
          <a:xfrm>
            <a:off x="795528" y="2249424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Incoming web requests go through AWS WAF.</a:t>
            </a:r>
            <a:endParaRPr lang="en-US" sz="1780" dirty="0"/>
          </a:p>
        </p:txBody>
      </p:sp>
      <p:sp>
        <p:nvSpPr>
          <p:cNvPr id="9" name="Text 2"/>
          <p:cNvSpPr/>
          <p:nvPr/>
        </p:nvSpPr>
        <p:spPr>
          <a:xfrm>
            <a:off x="795528" y="2843784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WAF evaluates requests based on Web ACL rules.</a:t>
            </a:r>
            <a:endParaRPr lang="en-US" sz="1780" dirty="0"/>
          </a:p>
        </p:txBody>
      </p:sp>
      <p:sp>
        <p:nvSpPr>
          <p:cNvPr id="10" name="Text 3"/>
          <p:cNvSpPr/>
          <p:nvPr/>
        </p:nvSpPr>
        <p:spPr>
          <a:xfrm>
            <a:off x="795528" y="3438144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Based on conditions, WAF decides to:</a:t>
            </a:r>
            <a:endParaRPr lang="en-US" sz="1780" dirty="0"/>
          </a:p>
        </p:txBody>
      </p:sp>
      <p:sp>
        <p:nvSpPr>
          <p:cNvPr id="11" name="Text 4"/>
          <p:cNvSpPr/>
          <p:nvPr/>
        </p:nvSpPr>
        <p:spPr>
          <a:xfrm>
            <a:off x="1042416" y="4279392"/>
            <a:ext cx="75895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Allow</a:t>
            </a:r>
            <a:endParaRPr lang="en-US" sz="1780" dirty="0"/>
          </a:p>
        </p:txBody>
      </p:sp>
      <p:sp>
        <p:nvSpPr>
          <p:cNvPr id="12" name="Text 5"/>
          <p:cNvSpPr/>
          <p:nvPr/>
        </p:nvSpPr>
        <p:spPr>
          <a:xfrm>
            <a:off x="1042416" y="5321808"/>
            <a:ext cx="75895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Block</a:t>
            </a:r>
            <a:endParaRPr lang="en-US" sz="1780" dirty="0"/>
          </a:p>
        </p:txBody>
      </p:sp>
      <p:sp>
        <p:nvSpPr>
          <p:cNvPr id="13" name="Text 6"/>
          <p:cNvSpPr/>
          <p:nvPr/>
        </p:nvSpPr>
        <p:spPr>
          <a:xfrm>
            <a:off x="1042416" y="6373368"/>
            <a:ext cx="75895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Count</a:t>
            </a:r>
            <a:endParaRPr lang="en-US" sz="1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325112"/>
            <a:ext cx="6455664" cy="8778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349240"/>
            <a:ext cx="6455664" cy="87782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6373368"/>
            <a:ext cx="6455664" cy="87782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4325112"/>
            <a:ext cx="6455664" cy="87782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5349240"/>
            <a:ext cx="6455664" cy="87782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572000"/>
            <a:ext cx="6483096" cy="64922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596128"/>
            <a:ext cx="6483096" cy="64922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6620256"/>
            <a:ext cx="6483096" cy="64922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4572000"/>
            <a:ext cx="6483096" cy="64922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5596128"/>
            <a:ext cx="6483096" cy="64922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498848"/>
            <a:ext cx="6483096" cy="10972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522976"/>
            <a:ext cx="6483096" cy="10972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6547104"/>
            <a:ext cx="6483096" cy="10972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08" y="4498848"/>
            <a:ext cx="6483096" cy="10972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08" y="5522976"/>
            <a:ext cx="6483096" cy="10972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904" y="4325112"/>
            <a:ext cx="448056" cy="448056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904" y="5349240"/>
            <a:ext cx="448056" cy="448056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904" y="6373368"/>
            <a:ext cx="448056" cy="448056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6728" y="4325112"/>
            <a:ext cx="448056" cy="448056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6728" y="5349240"/>
            <a:ext cx="448056" cy="448056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795528" y="3310128"/>
            <a:ext cx="1304848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620"/>
              </a:lnSpc>
              <a:buNone/>
            </a:pPr>
            <a:r>
              <a:rPr lang="en-US" sz="290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Supported AWS Services</a:t>
            </a:r>
            <a:endParaRPr lang="en-US" sz="2900" dirty="0"/>
          </a:p>
        </p:txBody>
      </p:sp>
      <p:sp>
        <p:nvSpPr>
          <p:cNvPr id="25" name="Text 1"/>
          <p:cNvSpPr/>
          <p:nvPr/>
        </p:nvSpPr>
        <p:spPr>
          <a:xfrm>
            <a:off x="795528" y="3941064"/>
            <a:ext cx="130484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WAF can protect:</a:t>
            </a:r>
            <a:endParaRPr lang="en-US" sz="1160" dirty="0"/>
          </a:p>
        </p:txBody>
      </p:sp>
      <p:sp>
        <p:nvSpPr>
          <p:cNvPr id="26" name="Text 2"/>
          <p:cNvSpPr/>
          <p:nvPr/>
        </p:nvSpPr>
        <p:spPr>
          <a:xfrm>
            <a:off x="960120" y="4818888"/>
            <a:ext cx="61264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CloudFront (Content Delivery Network)</a:t>
            </a:r>
            <a:endParaRPr lang="en-US" sz="1160" dirty="0"/>
          </a:p>
        </p:txBody>
      </p:sp>
      <p:sp>
        <p:nvSpPr>
          <p:cNvPr id="27" name="Text 3"/>
          <p:cNvSpPr/>
          <p:nvPr/>
        </p:nvSpPr>
        <p:spPr>
          <a:xfrm>
            <a:off x="960120" y="5843016"/>
            <a:ext cx="61264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API Gateway</a:t>
            </a:r>
            <a:endParaRPr lang="en-US" sz="1160" dirty="0"/>
          </a:p>
        </p:txBody>
      </p:sp>
      <p:sp>
        <p:nvSpPr>
          <p:cNvPr id="28" name="Text 4"/>
          <p:cNvSpPr/>
          <p:nvPr/>
        </p:nvSpPr>
        <p:spPr>
          <a:xfrm>
            <a:off x="3968496" y="4425696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9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90" dirty="0"/>
          </a:p>
        </p:txBody>
      </p:sp>
      <p:sp>
        <p:nvSpPr>
          <p:cNvPr id="29" name="Text 5"/>
          <p:cNvSpPr/>
          <p:nvPr/>
        </p:nvSpPr>
        <p:spPr>
          <a:xfrm>
            <a:off x="3968496" y="5449824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9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90" dirty="0"/>
          </a:p>
        </p:txBody>
      </p:sp>
      <p:sp>
        <p:nvSpPr>
          <p:cNvPr id="30" name="Text 6"/>
          <p:cNvSpPr/>
          <p:nvPr/>
        </p:nvSpPr>
        <p:spPr>
          <a:xfrm>
            <a:off x="960120" y="6867144"/>
            <a:ext cx="61264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Cognito (for authentication endpoints)</a:t>
            </a:r>
            <a:endParaRPr lang="en-US" sz="1160" dirty="0"/>
          </a:p>
        </p:txBody>
      </p:sp>
      <p:sp>
        <p:nvSpPr>
          <p:cNvPr id="31" name="Text 7"/>
          <p:cNvSpPr/>
          <p:nvPr/>
        </p:nvSpPr>
        <p:spPr>
          <a:xfrm>
            <a:off x="3968496" y="647395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9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1390" dirty="0"/>
          </a:p>
        </p:txBody>
      </p:sp>
      <p:sp>
        <p:nvSpPr>
          <p:cNvPr id="32" name="Text 8"/>
          <p:cNvSpPr/>
          <p:nvPr/>
        </p:nvSpPr>
        <p:spPr>
          <a:xfrm>
            <a:off x="7552944" y="4818888"/>
            <a:ext cx="61264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Application Load Balancer (ALB)</a:t>
            </a:r>
            <a:endParaRPr lang="en-US" sz="1160" dirty="0"/>
          </a:p>
        </p:txBody>
      </p:sp>
      <p:sp>
        <p:nvSpPr>
          <p:cNvPr id="33" name="Text 9"/>
          <p:cNvSpPr/>
          <p:nvPr/>
        </p:nvSpPr>
        <p:spPr>
          <a:xfrm>
            <a:off x="7552944" y="5843016"/>
            <a:ext cx="61264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AppSync</a:t>
            </a:r>
            <a:endParaRPr lang="en-US" sz="1160" dirty="0"/>
          </a:p>
        </p:txBody>
      </p:sp>
      <p:sp>
        <p:nvSpPr>
          <p:cNvPr id="34" name="Text 10"/>
          <p:cNvSpPr/>
          <p:nvPr/>
        </p:nvSpPr>
        <p:spPr>
          <a:xfrm>
            <a:off x="10570464" y="4425696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9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90" dirty="0"/>
          </a:p>
        </p:txBody>
      </p:sp>
      <p:sp>
        <p:nvSpPr>
          <p:cNvPr id="35" name="Text 11"/>
          <p:cNvSpPr/>
          <p:nvPr/>
        </p:nvSpPr>
        <p:spPr>
          <a:xfrm>
            <a:off x="10570464" y="5449824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9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3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754880"/>
            <a:ext cx="4114800" cy="202996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4754880"/>
            <a:ext cx="4114800" cy="202996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4754880"/>
            <a:ext cx="4114800" cy="202996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754880"/>
            <a:ext cx="146304" cy="202996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2936" y="4754880"/>
            <a:ext cx="146304" cy="202996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2" y="4754880"/>
            <a:ext cx="146304" cy="202996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3803904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Rule Types in AWS WAF</a:t>
            </a:r>
            <a:endParaRPr lang="en-US" sz="4460" dirty="0"/>
          </a:p>
        </p:txBody>
      </p:sp>
      <p:sp>
        <p:nvSpPr>
          <p:cNvPr id="11" name="Text 1"/>
          <p:cNvSpPr/>
          <p:nvPr/>
        </p:nvSpPr>
        <p:spPr>
          <a:xfrm>
            <a:off x="1133856" y="5010912"/>
            <a:ext cx="3621024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Managed Rules</a:t>
            </a:r>
            <a:endParaRPr lang="en-US" sz="2230" dirty="0"/>
          </a:p>
        </p:txBody>
      </p:sp>
      <p:sp>
        <p:nvSpPr>
          <p:cNvPr id="12" name="Text 2"/>
          <p:cNvSpPr/>
          <p:nvPr/>
        </p:nvSpPr>
        <p:spPr>
          <a:xfrm>
            <a:off x="1133856" y="5504688"/>
            <a:ext cx="3621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Pre-configured rules by AWS or partners (e.g., AWS Managed Rules for OWASP Top 10).</a:t>
            </a:r>
            <a:endParaRPr lang="en-US" sz="1780" dirty="0"/>
          </a:p>
        </p:txBody>
      </p:sp>
      <p:sp>
        <p:nvSpPr>
          <p:cNvPr id="13" name="Text 3"/>
          <p:cNvSpPr/>
          <p:nvPr/>
        </p:nvSpPr>
        <p:spPr>
          <a:xfrm>
            <a:off x="5559552" y="5010912"/>
            <a:ext cx="3621024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Custom Rules</a:t>
            </a:r>
            <a:endParaRPr lang="en-US" sz="2230" dirty="0"/>
          </a:p>
        </p:txBody>
      </p:sp>
      <p:sp>
        <p:nvSpPr>
          <p:cNvPr id="14" name="Text 4"/>
          <p:cNvSpPr/>
          <p:nvPr/>
        </p:nvSpPr>
        <p:spPr>
          <a:xfrm>
            <a:off x="5559552" y="5504688"/>
            <a:ext cx="362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User-defined rules for specific conditions (e.g., block IP range).</a:t>
            </a:r>
            <a:endParaRPr lang="en-US" sz="1780" dirty="0"/>
          </a:p>
        </p:txBody>
      </p:sp>
      <p:sp>
        <p:nvSpPr>
          <p:cNvPr id="15" name="Text 5"/>
          <p:cNvSpPr/>
          <p:nvPr/>
        </p:nvSpPr>
        <p:spPr>
          <a:xfrm>
            <a:off x="9985248" y="5010912"/>
            <a:ext cx="3621024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Rate-Based Rules</a:t>
            </a:r>
            <a:endParaRPr lang="en-US" sz="2230" dirty="0"/>
          </a:p>
        </p:txBody>
      </p:sp>
      <p:sp>
        <p:nvSpPr>
          <p:cNvPr id="16" name="Text 6"/>
          <p:cNvSpPr/>
          <p:nvPr/>
        </p:nvSpPr>
        <p:spPr>
          <a:xfrm>
            <a:off x="9985248" y="5504688"/>
            <a:ext cx="362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Automatically blocks IPs sending too many requests per second.</a:t>
            </a:r>
            <a:endParaRPr lang="en-US" sz="1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871216"/>
            <a:ext cx="7223760" cy="136245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407408"/>
            <a:ext cx="7223760" cy="136245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5943600"/>
            <a:ext cx="7223760" cy="136245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3493008"/>
            <a:ext cx="7168896" cy="72237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5029200"/>
            <a:ext cx="7168896" cy="72237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6565392"/>
            <a:ext cx="7168896" cy="72237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2862072"/>
            <a:ext cx="7223760" cy="64922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4398264"/>
            <a:ext cx="7223760" cy="64922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5934456"/>
            <a:ext cx="7223760" cy="649224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647688" y="950976"/>
            <a:ext cx="719632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020"/>
              </a:lnSpc>
              <a:buNone/>
            </a:pPr>
            <a:r>
              <a:rPr lang="en-US" sz="401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Example Use Case</a:t>
            </a:r>
            <a:endParaRPr lang="en-US" sz="4010" dirty="0"/>
          </a:p>
        </p:txBody>
      </p:sp>
      <p:sp>
        <p:nvSpPr>
          <p:cNvPr id="14" name="Text 1"/>
          <p:cNvSpPr/>
          <p:nvPr/>
        </p:nvSpPr>
        <p:spPr>
          <a:xfrm>
            <a:off x="6647688" y="1819656"/>
            <a:ext cx="71963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Protect a website hosted on Application Load Balancer.</a:t>
            </a:r>
            <a:endParaRPr lang="en-US" sz="1600" dirty="0"/>
          </a:p>
        </p:txBody>
      </p:sp>
      <p:sp>
        <p:nvSpPr>
          <p:cNvPr id="15" name="Text 2"/>
          <p:cNvSpPr/>
          <p:nvPr/>
        </p:nvSpPr>
        <p:spPr>
          <a:xfrm>
            <a:off x="6647688" y="2350008"/>
            <a:ext cx="71963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WAF blocks:</a:t>
            </a:r>
            <a:endParaRPr lang="en-US" sz="1600" dirty="0"/>
          </a:p>
        </p:txBody>
      </p:sp>
      <p:sp>
        <p:nvSpPr>
          <p:cNvPr id="16" name="Text 3"/>
          <p:cNvSpPr/>
          <p:nvPr/>
        </p:nvSpPr>
        <p:spPr>
          <a:xfrm>
            <a:off x="6867144" y="3694176"/>
            <a:ext cx="67574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SQL injection attempts</a:t>
            </a:r>
            <a:endParaRPr lang="en-US" sz="1600" dirty="0"/>
          </a:p>
        </p:txBody>
      </p:sp>
      <p:sp>
        <p:nvSpPr>
          <p:cNvPr id="17" name="Text 4"/>
          <p:cNvSpPr/>
          <p:nvPr/>
        </p:nvSpPr>
        <p:spPr>
          <a:xfrm>
            <a:off x="6867144" y="5230368"/>
            <a:ext cx="67574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Suspicious IP addresses</a:t>
            </a:r>
            <a:endParaRPr lang="en-US" sz="1600" dirty="0"/>
          </a:p>
        </p:txBody>
      </p:sp>
      <p:sp>
        <p:nvSpPr>
          <p:cNvPr id="18" name="Text 5"/>
          <p:cNvSpPr/>
          <p:nvPr/>
        </p:nvSpPr>
        <p:spPr>
          <a:xfrm>
            <a:off x="6867144" y="6766560"/>
            <a:ext cx="67574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Bots and scrapers</a:t>
            </a:r>
            <a:endParaRPr lang="en-US" sz="1600" dirty="0"/>
          </a:p>
        </p:txBody>
      </p:sp>
      <p:sp>
        <p:nvSpPr>
          <p:cNvPr id="19" name="Text 6"/>
          <p:cNvSpPr/>
          <p:nvPr/>
        </p:nvSpPr>
        <p:spPr>
          <a:xfrm>
            <a:off x="10158984" y="2971800"/>
            <a:ext cx="18288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90"/>
              </a:lnSpc>
              <a:buNone/>
            </a:pPr>
            <a:r>
              <a:rPr lang="en-US" sz="241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410" dirty="0"/>
          </a:p>
        </p:txBody>
      </p:sp>
      <p:sp>
        <p:nvSpPr>
          <p:cNvPr id="20" name="Text 7"/>
          <p:cNvSpPr/>
          <p:nvPr/>
        </p:nvSpPr>
        <p:spPr>
          <a:xfrm>
            <a:off x="10158984" y="4507992"/>
            <a:ext cx="18288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90"/>
              </a:lnSpc>
              <a:buNone/>
            </a:pPr>
            <a:r>
              <a:rPr lang="en-US" sz="241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410" dirty="0"/>
          </a:p>
        </p:txBody>
      </p:sp>
      <p:sp>
        <p:nvSpPr>
          <p:cNvPr id="21" name="Text 8"/>
          <p:cNvSpPr/>
          <p:nvPr/>
        </p:nvSpPr>
        <p:spPr>
          <a:xfrm>
            <a:off x="10158984" y="6035040"/>
            <a:ext cx="18288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90"/>
              </a:lnSpc>
              <a:buNone/>
            </a:pPr>
            <a:r>
              <a:rPr lang="en-US" sz="241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4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2743200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with AWS Shield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3712464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Shield provides DDoS protection at the network and transport layers.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4306824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WAF adds application-layer protection.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4901184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Combined, they provide complete web security.</a:t>
            </a:r>
            <a:endParaRPr lang="en-US" sz="1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513832"/>
            <a:ext cx="4197096" cy="8412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5513832"/>
            <a:ext cx="4197096" cy="8412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5513832"/>
            <a:ext cx="4197096" cy="8412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5596128"/>
            <a:ext cx="3465576" cy="84124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5596128"/>
            <a:ext cx="3465576" cy="84124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5596128"/>
            <a:ext cx="3465576" cy="84124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504688"/>
            <a:ext cx="548640" cy="5486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936" y="5504688"/>
            <a:ext cx="548640" cy="54864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8632" y="5504688"/>
            <a:ext cx="548640" cy="54864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95528" y="3364992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Logging and Monitoring</a:t>
            </a:r>
            <a:endParaRPr lang="en-US" sz="4460" dirty="0"/>
          </a:p>
        </p:txBody>
      </p:sp>
      <p:sp>
        <p:nvSpPr>
          <p:cNvPr id="14" name="Text 1"/>
          <p:cNvSpPr/>
          <p:nvPr/>
        </p:nvSpPr>
        <p:spPr>
          <a:xfrm>
            <a:off x="795528" y="432511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WAF logs every request evaluated.</a:t>
            </a:r>
            <a:endParaRPr lang="en-US" sz="1780" dirty="0"/>
          </a:p>
        </p:txBody>
      </p:sp>
      <p:sp>
        <p:nvSpPr>
          <p:cNvPr id="15" name="Text 2"/>
          <p:cNvSpPr/>
          <p:nvPr/>
        </p:nvSpPr>
        <p:spPr>
          <a:xfrm>
            <a:off x="795528" y="491947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Integration with:</a:t>
            </a:r>
            <a:endParaRPr lang="en-US" sz="1780" dirty="0"/>
          </a:p>
        </p:txBody>
      </p:sp>
      <p:sp>
        <p:nvSpPr>
          <p:cNvPr id="16" name="Text 3"/>
          <p:cNvSpPr/>
          <p:nvPr/>
        </p:nvSpPr>
        <p:spPr>
          <a:xfrm>
            <a:off x="960120" y="5541264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17" name="Text 4"/>
          <p:cNvSpPr/>
          <p:nvPr/>
        </p:nvSpPr>
        <p:spPr>
          <a:xfrm>
            <a:off x="1536192" y="5596128"/>
            <a:ext cx="346557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CloudWatch for metrics</a:t>
            </a:r>
            <a:endParaRPr lang="en-US" sz="1780" dirty="0"/>
          </a:p>
        </p:txBody>
      </p:sp>
      <p:sp>
        <p:nvSpPr>
          <p:cNvPr id="18" name="Text 5"/>
          <p:cNvSpPr/>
          <p:nvPr/>
        </p:nvSpPr>
        <p:spPr>
          <a:xfrm>
            <a:off x="795528" y="661111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This enables real-time traffic analysis.</a:t>
            </a:r>
            <a:endParaRPr lang="en-US" sz="1780" dirty="0"/>
          </a:p>
        </p:txBody>
      </p:sp>
      <p:sp>
        <p:nvSpPr>
          <p:cNvPr id="19" name="Text 6"/>
          <p:cNvSpPr/>
          <p:nvPr/>
        </p:nvSpPr>
        <p:spPr>
          <a:xfrm>
            <a:off x="5376672" y="5541264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  <p:sp>
        <p:nvSpPr>
          <p:cNvPr id="20" name="Text 7"/>
          <p:cNvSpPr/>
          <p:nvPr/>
        </p:nvSpPr>
        <p:spPr>
          <a:xfrm>
            <a:off x="5961888" y="5596128"/>
            <a:ext cx="346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Kinesis Firehose for log streaming</a:t>
            </a:r>
            <a:endParaRPr lang="en-US" sz="1780" dirty="0"/>
          </a:p>
        </p:txBody>
      </p:sp>
      <p:sp>
        <p:nvSpPr>
          <p:cNvPr id="21" name="Text 8"/>
          <p:cNvSpPr/>
          <p:nvPr/>
        </p:nvSpPr>
        <p:spPr>
          <a:xfrm>
            <a:off x="9802368" y="5541264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670" dirty="0"/>
          </a:p>
        </p:txBody>
      </p:sp>
      <p:sp>
        <p:nvSpPr>
          <p:cNvPr id="22" name="Text 9"/>
          <p:cNvSpPr/>
          <p:nvPr/>
        </p:nvSpPr>
        <p:spPr>
          <a:xfrm>
            <a:off x="10378440" y="5596128"/>
            <a:ext cx="346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CloudWatch Dashboards for visualization</a:t>
            </a:r>
            <a:endParaRPr lang="en-US" sz="1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038344"/>
            <a:ext cx="6446520" cy="11978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5038344"/>
            <a:ext cx="6446520" cy="119786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95528" y="3493008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Automation with AWS WAF</a:t>
            </a:r>
            <a:endParaRPr lang="en-US" sz="4460" dirty="0"/>
          </a:p>
        </p:txBody>
      </p:sp>
      <p:sp>
        <p:nvSpPr>
          <p:cNvPr id="7" name="Text 1"/>
          <p:cNvSpPr/>
          <p:nvPr/>
        </p:nvSpPr>
        <p:spPr>
          <a:xfrm>
            <a:off x="795528" y="446227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Automate rule creation using:</a:t>
            </a:r>
            <a:endParaRPr lang="en-US" sz="1780" dirty="0"/>
          </a:p>
        </p:txBody>
      </p:sp>
      <p:sp>
        <p:nvSpPr>
          <p:cNvPr id="8" name="Text 2"/>
          <p:cNvSpPr/>
          <p:nvPr/>
        </p:nvSpPr>
        <p:spPr>
          <a:xfrm>
            <a:off x="1042416" y="5294376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Lambda for custom responses</a:t>
            </a:r>
            <a:endParaRPr lang="en-US" sz="1780" dirty="0"/>
          </a:p>
        </p:txBody>
      </p:sp>
      <p:sp>
        <p:nvSpPr>
          <p:cNvPr id="9" name="Text 3"/>
          <p:cNvSpPr/>
          <p:nvPr/>
        </p:nvSpPr>
        <p:spPr>
          <a:xfrm>
            <a:off x="795528" y="647395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supports Terraform and CloudFormation for Infrastructure as Code (IaC).</a:t>
            </a:r>
            <a:endParaRPr lang="en-US" sz="1780" dirty="0"/>
          </a:p>
        </p:txBody>
      </p:sp>
      <p:sp>
        <p:nvSpPr>
          <p:cNvPr id="10" name="Text 4"/>
          <p:cNvSpPr/>
          <p:nvPr/>
        </p:nvSpPr>
        <p:spPr>
          <a:xfrm>
            <a:off x="7671816" y="5294376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Firewall Manager for centralized rule management across accounts</a:t>
            </a:r>
            <a:endParaRPr lang="en-US" sz="1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8605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8605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1472184"/>
            <a:ext cx="8101584" cy="9966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560320"/>
            <a:ext cx="8101584" cy="9966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648456"/>
            <a:ext cx="8101584" cy="9966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084064"/>
            <a:ext cx="8101584" cy="99669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172200"/>
            <a:ext cx="8101584" cy="99669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7260336"/>
            <a:ext cx="8101584" cy="99669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2121408"/>
            <a:ext cx="7790688" cy="19202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3209544"/>
            <a:ext cx="7790688" cy="19202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306824"/>
            <a:ext cx="7790688" cy="19202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733288"/>
            <a:ext cx="7790688" cy="19202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6821424"/>
            <a:ext cx="7790688" cy="19202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7918704"/>
            <a:ext cx="7790688" cy="19202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1609344"/>
            <a:ext cx="411480" cy="41148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2697480"/>
            <a:ext cx="411480" cy="41148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3785616"/>
            <a:ext cx="411480" cy="41148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5221224"/>
            <a:ext cx="411480" cy="41148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6309360"/>
            <a:ext cx="411480" cy="41148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7397496"/>
            <a:ext cx="411480" cy="41148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95528" y="630936"/>
            <a:ext cx="807415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45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Pricing Overview</a:t>
            </a:r>
            <a:endParaRPr lang="en-US" sz="2450" dirty="0"/>
          </a:p>
        </p:txBody>
      </p:sp>
      <p:sp>
        <p:nvSpPr>
          <p:cNvPr id="23" name="Text 1"/>
          <p:cNvSpPr/>
          <p:nvPr/>
        </p:nvSpPr>
        <p:spPr>
          <a:xfrm>
            <a:off x="795528" y="1161288"/>
            <a:ext cx="807415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Pay only for what you use:</a:t>
            </a:r>
            <a:endParaRPr lang="en-US" sz="980" dirty="0"/>
          </a:p>
        </p:txBody>
      </p:sp>
      <p:sp>
        <p:nvSpPr>
          <p:cNvPr id="24" name="Text 2"/>
          <p:cNvSpPr/>
          <p:nvPr/>
        </p:nvSpPr>
        <p:spPr>
          <a:xfrm>
            <a:off x="1078992" y="1691640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25" name="Text 3"/>
          <p:cNvSpPr/>
          <p:nvPr/>
        </p:nvSpPr>
        <p:spPr>
          <a:xfrm>
            <a:off x="941832" y="2121408"/>
            <a:ext cx="77906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Number of Web ACLs</a:t>
            </a:r>
            <a:endParaRPr lang="en-US" sz="980" dirty="0"/>
          </a:p>
        </p:txBody>
      </p:sp>
      <p:sp>
        <p:nvSpPr>
          <p:cNvPr id="26" name="Text 4"/>
          <p:cNvSpPr/>
          <p:nvPr/>
        </p:nvSpPr>
        <p:spPr>
          <a:xfrm>
            <a:off x="1078992" y="2779776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27" name="Text 5"/>
          <p:cNvSpPr/>
          <p:nvPr/>
        </p:nvSpPr>
        <p:spPr>
          <a:xfrm>
            <a:off x="941832" y="3209544"/>
            <a:ext cx="77906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Number of Rules per ACL</a:t>
            </a:r>
            <a:endParaRPr lang="en-US" sz="980" dirty="0"/>
          </a:p>
        </p:txBody>
      </p:sp>
      <p:sp>
        <p:nvSpPr>
          <p:cNvPr id="28" name="Text 6"/>
          <p:cNvSpPr/>
          <p:nvPr/>
        </p:nvSpPr>
        <p:spPr>
          <a:xfrm>
            <a:off x="1078992" y="3867912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29" name="Text 7"/>
          <p:cNvSpPr/>
          <p:nvPr/>
        </p:nvSpPr>
        <p:spPr>
          <a:xfrm>
            <a:off x="941832" y="4306824"/>
            <a:ext cx="77906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Requests processed by WAF</a:t>
            </a:r>
            <a:endParaRPr lang="en-US" sz="980" dirty="0"/>
          </a:p>
        </p:txBody>
      </p:sp>
      <p:sp>
        <p:nvSpPr>
          <p:cNvPr id="30" name="Text 8"/>
          <p:cNvSpPr/>
          <p:nvPr/>
        </p:nvSpPr>
        <p:spPr>
          <a:xfrm>
            <a:off x="795528" y="4773168"/>
            <a:ext cx="807415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Example:</a:t>
            </a:r>
            <a:endParaRPr lang="en-US" sz="980" dirty="0"/>
          </a:p>
        </p:txBody>
      </p:sp>
      <p:sp>
        <p:nvSpPr>
          <p:cNvPr id="31" name="Text 9"/>
          <p:cNvSpPr/>
          <p:nvPr/>
        </p:nvSpPr>
        <p:spPr>
          <a:xfrm>
            <a:off x="1078992" y="5303520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32" name="Text 10"/>
          <p:cNvSpPr/>
          <p:nvPr/>
        </p:nvSpPr>
        <p:spPr>
          <a:xfrm>
            <a:off x="941832" y="5733288"/>
            <a:ext cx="77906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$5 per Web ACL per month</a:t>
            </a:r>
            <a:endParaRPr lang="en-US" sz="980" dirty="0"/>
          </a:p>
        </p:txBody>
      </p:sp>
      <p:sp>
        <p:nvSpPr>
          <p:cNvPr id="33" name="Text 11"/>
          <p:cNvSpPr/>
          <p:nvPr/>
        </p:nvSpPr>
        <p:spPr>
          <a:xfrm>
            <a:off x="1078992" y="6391656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34" name="Text 12"/>
          <p:cNvSpPr/>
          <p:nvPr/>
        </p:nvSpPr>
        <p:spPr>
          <a:xfrm>
            <a:off x="941832" y="6821424"/>
            <a:ext cx="77906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$1 per rule per month</a:t>
            </a:r>
            <a:endParaRPr lang="en-US" sz="980" dirty="0"/>
          </a:p>
        </p:txBody>
      </p:sp>
      <p:sp>
        <p:nvSpPr>
          <p:cNvPr id="35" name="Text 13"/>
          <p:cNvSpPr/>
          <p:nvPr/>
        </p:nvSpPr>
        <p:spPr>
          <a:xfrm>
            <a:off x="1078992" y="7479792"/>
            <a:ext cx="10058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36" name="Text 14"/>
          <p:cNvSpPr/>
          <p:nvPr/>
        </p:nvSpPr>
        <p:spPr>
          <a:xfrm>
            <a:off x="941832" y="7918704"/>
            <a:ext cx="77906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$0.60 per million requests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493008"/>
            <a:ext cx="2276856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5568696"/>
            <a:ext cx="3520440" cy="85953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3493008"/>
            <a:ext cx="2276856" cy="18745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1864" y="5568696"/>
            <a:ext cx="3520440" cy="85953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6304" y="3493008"/>
            <a:ext cx="2276856" cy="187452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647688" y="1837944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Advantages of AWS WAF</a:t>
            </a:r>
            <a:endParaRPr lang="en-US" sz="4460" dirty="0"/>
          </a:p>
        </p:txBody>
      </p:sp>
      <p:sp>
        <p:nvSpPr>
          <p:cNvPr id="10" name="Text 1"/>
          <p:cNvSpPr/>
          <p:nvPr/>
        </p:nvSpPr>
        <p:spPr>
          <a:xfrm>
            <a:off x="6894576" y="3749040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🛡️ Protects against common web exploits (OWASP Top 10)</a:t>
            </a:r>
            <a:endParaRPr lang="en-US" sz="1780" dirty="0"/>
          </a:p>
        </p:txBody>
      </p:sp>
      <p:sp>
        <p:nvSpPr>
          <p:cNvPr id="11" name="Text 2"/>
          <p:cNvSpPr/>
          <p:nvPr/>
        </p:nvSpPr>
        <p:spPr>
          <a:xfrm>
            <a:off x="6894576" y="5824728"/>
            <a:ext cx="299923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🔄 Customizable rule sets</a:t>
            </a:r>
            <a:endParaRPr lang="en-US" sz="1780" dirty="0"/>
          </a:p>
        </p:txBody>
      </p:sp>
      <p:sp>
        <p:nvSpPr>
          <p:cNvPr id="12" name="Text 3"/>
          <p:cNvSpPr/>
          <p:nvPr/>
        </p:nvSpPr>
        <p:spPr>
          <a:xfrm>
            <a:off x="9363456" y="3749040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⚙️ Fully managed and easy to deploy</a:t>
            </a:r>
            <a:endParaRPr lang="en-US" sz="1780" dirty="0"/>
          </a:p>
        </p:txBody>
      </p:sp>
      <p:sp>
        <p:nvSpPr>
          <p:cNvPr id="13" name="Text 4"/>
          <p:cNvSpPr/>
          <p:nvPr/>
        </p:nvSpPr>
        <p:spPr>
          <a:xfrm>
            <a:off x="10597896" y="5824728"/>
            <a:ext cx="299923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💰 Pay-as-you-go pricing</a:t>
            </a:r>
            <a:endParaRPr lang="en-US" sz="1780" dirty="0"/>
          </a:p>
        </p:txBody>
      </p:sp>
      <p:sp>
        <p:nvSpPr>
          <p:cNvPr id="14" name="Text 5"/>
          <p:cNvSpPr/>
          <p:nvPr/>
        </p:nvSpPr>
        <p:spPr>
          <a:xfrm>
            <a:off x="11832336" y="3749040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📈 Scales automatically with application traffic</a:t>
            </a:r>
            <a:endParaRPr lang="en-US" sz="1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139696"/>
            <a:ext cx="2249424" cy="23591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718304"/>
            <a:ext cx="2249424" cy="235915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2139696"/>
            <a:ext cx="2249424" cy="23591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4718304"/>
            <a:ext cx="2249424" cy="235915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4592" y="2139696"/>
            <a:ext cx="2249424" cy="235915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514600"/>
            <a:ext cx="2276856" cy="199339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5093208"/>
            <a:ext cx="2276856" cy="19933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2514600"/>
            <a:ext cx="2276856" cy="199339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5093208"/>
            <a:ext cx="2276856" cy="199339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6304" y="2514600"/>
            <a:ext cx="2276856" cy="199339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2404872"/>
            <a:ext cx="2276856" cy="14630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4983480"/>
            <a:ext cx="2276856" cy="14630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2404872"/>
            <a:ext cx="2276856" cy="14630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4983480"/>
            <a:ext cx="2276856" cy="14630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76304" y="2404872"/>
            <a:ext cx="2276856" cy="14630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4072" y="2139696"/>
            <a:ext cx="685800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4072" y="4718304"/>
            <a:ext cx="685800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2952" y="2139696"/>
            <a:ext cx="685800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2952" y="4718304"/>
            <a:ext cx="685800" cy="685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80976" y="2139696"/>
            <a:ext cx="685800" cy="685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647688" y="1170432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Real-World Use Cases</a:t>
            </a:r>
            <a:endParaRPr lang="en-US" sz="4460" dirty="0"/>
          </a:p>
        </p:txBody>
      </p:sp>
      <p:sp>
        <p:nvSpPr>
          <p:cNvPr id="25" name="Text 1"/>
          <p:cNvSpPr/>
          <p:nvPr/>
        </p:nvSpPr>
        <p:spPr>
          <a:xfrm>
            <a:off x="6894576" y="2889504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Protecting e-commerce websites from bot attacks</a:t>
            </a:r>
            <a:endParaRPr lang="en-US" sz="1780" dirty="0"/>
          </a:p>
        </p:txBody>
      </p:sp>
      <p:sp>
        <p:nvSpPr>
          <p:cNvPr id="26" name="Text 2"/>
          <p:cNvSpPr/>
          <p:nvPr/>
        </p:nvSpPr>
        <p:spPr>
          <a:xfrm>
            <a:off x="7699248" y="228600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140" dirty="0"/>
          </a:p>
        </p:txBody>
      </p:sp>
      <p:sp>
        <p:nvSpPr>
          <p:cNvPr id="27" name="Text 3"/>
          <p:cNvSpPr/>
          <p:nvPr/>
        </p:nvSpPr>
        <p:spPr>
          <a:xfrm>
            <a:off x="6894576" y="5468112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Securing web apps hosted on CloudFront or ALB</a:t>
            </a:r>
            <a:endParaRPr lang="en-US" sz="1780" dirty="0"/>
          </a:p>
        </p:txBody>
      </p:sp>
      <p:sp>
        <p:nvSpPr>
          <p:cNvPr id="28" name="Text 4"/>
          <p:cNvSpPr/>
          <p:nvPr/>
        </p:nvSpPr>
        <p:spPr>
          <a:xfrm>
            <a:off x="7699248" y="4873752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140" dirty="0"/>
          </a:p>
        </p:txBody>
      </p:sp>
      <p:sp>
        <p:nvSpPr>
          <p:cNvPr id="29" name="Text 5"/>
          <p:cNvSpPr/>
          <p:nvPr/>
        </p:nvSpPr>
        <p:spPr>
          <a:xfrm>
            <a:off x="9363456" y="2889504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Preventing SQL injection and XSS on public APIs</a:t>
            </a:r>
            <a:endParaRPr lang="en-US" sz="1780" dirty="0"/>
          </a:p>
        </p:txBody>
      </p:sp>
      <p:sp>
        <p:nvSpPr>
          <p:cNvPr id="30" name="Text 6"/>
          <p:cNvSpPr/>
          <p:nvPr/>
        </p:nvSpPr>
        <p:spPr>
          <a:xfrm>
            <a:off x="10168128" y="228600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140" dirty="0"/>
          </a:p>
        </p:txBody>
      </p:sp>
      <p:sp>
        <p:nvSpPr>
          <p:cNvPr id="31" name="Text 7"/>
          <p:cNvSpPr/>
          <p:nvPr/>
        </p:nvSpPr>
        <p:spPr>
          <a:xfrm>
            <a:off x="9363456" y="5468112"/>
            <a:ext cx="1764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Meeting compliance and audit requirements</a:t>
            </a:r>
            <a:endParaRPr lang="en-US" sz="1780" dirty="0"/>
          </a:p>
        </p:txBody>
      </p:sp>
      <p:sp>
        <p:nvSpPr>
          <p:cNvPr id="32" name="Text 8"/>
          <p:cNvSpPr/>
          <p:nvPr/>
        </p:nvSpPr>
        <p:spPr>
          <a:xfrm>
            <a:off x="10168128" y="4873752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140" dirty="0"/>
          </a:p>
        </p:txBody>
      </p:sp>
      <p:sp>
        <p:nvSpPr>
          <p:cNvPr id="33" name="Text 9"/>
          <p:cNvSpPr/>
          <p:nvPr/>
        </p:nvSpPr>
        <p:spPr>
          <a:xfrm>
            <a:off x="11832336" y="2889504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Rate-limiting brute-force login attempts</a:t>
            </a:r>
            <a:endParaRPr lang="en-US" sz="1780" dirty="0"/>
          </a:p>
        </p:txBody>
      </p:sp>
      <p:sp>
        <p:nvSpPr>
          <p:cNvPr id="34" name="Text 10"/>
          <p:cNvSpPr/>
          <p:nvPr/>
        </p:nvSpPr>
        <p:spPr>
          <a:xfrm>
            <a:off x="12637008" y="228600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145536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Summary &amp; Q&amp;A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4105656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Summary: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4700016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WAF is a powerful, managed web application firewall service.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5294376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protects web applications from common attacks.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795528" y="5888736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Works with CloudFront, ALB, API Gateway, and integrates with AWS Shield for enhanced protection.</a:t>
            </a:r>
            <a:endParaRPr lang="en-US" sz="1780" dirty="0"/>
          </a:p>
        </p:txBody>
      </p:sp>
      <p:sp>
        <p:nvSpPr>
          <p:cNvPr id="9" name="Text 5"/>
          <p:cNvSpPr/>
          <p:nvPr/>
        </p:nvSpPr>
        <p:spPr>
          <a:xfrm>
            <a:off x="795528" y="6483096"/>
            <a:ext cx="1304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Thank You!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Questions? 💬</a:t>
            </a:r>
            <a:endParaRPr lang="en-US" sz="1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Custom</PresentationFormat>
  <Paragraphs>154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AlibabaPuHuiTi-Alibaba-PuHuiTi</vt:lpstr>
      <vt:lpstr>Arial</vt:lpstr>
      <vt:lpstr>思源黑体-思源黑体-Medium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Mukesh S</cp:lastModifiedBy>
  <cp:revision>2</cp:revision>
  <dcterms:created xsi:type="dcterms:W3CDTF">2025-11-04T17:18:10Z</dcterms:created>
  <dcterms:modified xsi:type="dcterms:W3CDTF">2025-11-04T17:19:31Z</dcterms:modified>
</cp:coreProperties>
</file>